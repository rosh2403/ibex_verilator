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2e8a873-b5a7-b4b4-5af7-35181dcdbb7d}">
          <p14:sldIdLst>
            <p14:sldId id="256"/>
            <p14:sldId id="257"/>
            <p14:sldId id="258"/>
          </p14:sldIdLst>
        </p14:section>
        <p14:section name="Architecture" id="{4469b891-e30f-b6e0-bb5f-b42a31adac0b}">
          <p14:sldIdLst>
            <p14:sldId id="259"/>
            <p14:sldId id="260"/>
            <p14:sldId id="261"/>
            <p14:sldId id="262"/>
          </p14:sldIdLst>
        </p14:section>
        <p14:section name="How it was built" id="{d0f745f6-129a-1098-4362-19dfa8ce8fbe}">
          <p14:sldIdLst>
            <p14:sldId id="263"/>
            <p14:sldId id="264"/>
            <p14:sldId id="265"/>
            <p14:sldId id="266"/>
            <p14:sldId id="267"/>
            <p14:sldId id="268"/>
          </p14:sldIdLst>
        </p14:section>
        <p14:section name="Validation" id="{79ce74ef-b047-e417-b088-cc53674d26b4}">
          <p14:sldIdLst>
            <p14:sldId id="269"/>
            <p14:sldId id="270"/>
            <p14:sldId id="271"/>
            <p14:sldId id="272"/>
            <p14:sldId id="273"/>
            <p14:sldId id="274"/>
          </p14:sldIdLst>
        </p14:section>
        <p14:section name="Lessons and next steps" id="{2baabb28-3226-6d28-db63-11fb993061cd}">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Time per run</c:v>
                </c:pt>
              </c:strCache>
            </c:strRef>
          </c:tx>
          <c:spPr>
            <a:solidFill>
              <a:srgbClr val="5E7068"/>
            </a:solidFill>
            <a:effectLst/>
          </c:spPr>
          <c:invertIfNegative val="0"/>
          <c:dLbls>
            <c:numFmt formatCode="0.000&quot; s&quot;" sourceLinked="0"/>
            <c:txPr>
              <a:bodyPr/>
              <a:lstStyle/>
              <a:p>
                <a:pPr>
                  <a:defRPr b="0" i="0" strike="noStrike" sz="1200" u="none">
                    <a:solidFill>
                      <a:srgbClr val="16231E"/>
                    </a:solidFill>
                    <a:latin typeface="+mn-lt"/>
                  </a:defRPr>
                </a:pPr>
              </a:p>
            </c:txPr>
            <c:showLegendKey val="0"/>
            <c:showVal val="1"/>
            <c:showCatName val="0"/>
            <c:showSerName val="0"/>
            <c:showPercent val="0"/>
            <c:showBubbleSize val="0"/>
            <c:showLeaderLines val="0"/>
          </c:dLbls>
          <c:dPt>
            <c:idx val="0"/>
            <c:invertIfNegative val="0"/>
            <c:bubble3D val="0"/>
            <c:spPr>
              <a:solidFill>
                <a:srgbClr val="5E7068"/>
              </a:solidFill>
              <a:effectLst/>
            </c:spPr>
          </c:dPt>
          <c:dPt>
            <c:idx val="1"/>
            <c:invertIfNegative val="0"/>
            <c:bubble3D val="0"/>
            <c:spPr>
              <a:solidFill>
                <a:srgbClr val="1E7A5B"/>
              </a:solidFill>
              <a:effectLst/>
            </c:spPr>
          </c:dPt>
          <c:dPt>
            <c:idx val="2"/>
            <c:invertIfNegative val="0"/>
            <c:bubble3D val="0"/>
            <c:spPr>
              <a:solidFill>
                <a:srgbClr val="C77A2E"/>
              </a:solidFill>
              <a:effectLst/>
            </c:spPr>
          </c:dPt>
          <c:cat>
            <c:multiLvlStrRef>
              <c:f>Sheet1!$A$2:$A$4</c:f>
              <c:multiLvlStrCache>
                <c:ptCount val="3"/>
                <c:lvl>
                  <c:pt idx="0">
                    <c:v>No plugin</c:v>
                  </c:pt>
                  <c:pt idx="1">
                    <c:v>Direct (in QEMU)</c:v>
                  </c:pt>
                  <c:pt idx="2">
                    <c:v>Daemon NPU</c:v>
                  </c:pt>
                </c:lvl>
              </c:multiLvlStrCache>
            </c:multiLvlStrRef>
          </c:cat>
          <c:val>
            <c:numRef>
              <c:f>Sheet1!$B$2:$B$4</c:f>
              <c:numCache>
                <c:formatCode>General</c:formatCode>
                <c:ptCount val="3"/>
                <c:pt idx="0">
                  <c:v>2.034</c:v>
                </c:pt>
                <c:pt idx="1">
                  <c:v>2.075</c:v>
                </c:pt>
                <c:pt idx="2">
                  <c:v>2.119</c:v>
                </c:pt>
              </c:numCache>
            </c:numRef>
          </c:val>
        </c:ser>
        <c:dLbls>
          <c:numFmt formatCode="0.000&quot; s&quot;" sourceLinked="0"/>
          <c:txPr>
            <a:bodyPr/>
            <a:lstStyle/>
            <a:p>
              <a:pPr>
                <a:defRPr b="0" i="0" strike="noStrike" sz="1200" u="none">
                  <a:solidFill>
                    <a:srgbClr val="16231E"/>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31E"/>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DDE7E2"/>
              </a:solidFill>
              <a:prstDash val="solid"/>
              <a:round/>
            </a:ln>
          </c:spPr>
        </c:majorGridlines>
        <c:title>
          <c:tx>
            <c:rich>
              <a:bodyPr/>
              <a:lstStyle/>
              <a:p>
                <a:pPr>
                  <a:defRPr sz="1100" b="0" i="0" u="none" strike="noStrike">
                    <a:solidFill>
                      <a:srgbClr val="5E7068"/>
                    </a:solidFill>
                    <a:latin typeface="+mn-lt"/>
                  </a:defRPr>
                </a:pPr>
                <a:r>
                  <a:rPr sz="1100" b="0" i="0" u="none" strike="noStrike">
                    <a:solidFill>
                      <a:srgbClr val="5E7068"/>
                    </a:solidFill>
                    <a:latin typeface="+mn-lt"/>
                  </a:rPr>
                  <a:t>seconds per run</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7068"/>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Direct (in QEMU)</c:v>
                </c:pt>
              </c:strCache>
            </c:strRef>
          </c:tx>
          <c:spPr>
            <a:solidFill>
              <a:srgbClr val="1E7A5B"/>
            </a:solidFill>
            <a:effectLst/>
          </c:spPr>
          <c:invertIfNegative val="0"/>
          <c:dLbls>
            <c:numFmt formatCode="0.0" sourceLinked="0"/>
            <c:txPr>
              <a:bodyPr/>
              <a:lstStyle/>
              <a:p>
                <a:pPr>
                  <a:defRPr b="0" i="0" strike="noStrike" sz="1100" u="none">
                    <a:solidFill>
                      <a:srgbClr val="16231E"/>
                    </a:solidFill>
                    <a:latin typeface="+mn-lt"/>
                  </a:defRPr>
                </a:pPr>
              </a:p>
            </c:txPr>
            <c:showLegendKey val="0"/>
            <c:showVal val="1"/>
            <c:showCatName val="0"/>
            <c:showSerName val="0"/>
            <c:showPercent val="0"/>
            <c:showBubbleSize val="0"/>
            <c:showLeaderLines val="0"/>
          </c:dLbls>
          <c:cat>
            <c:multiLvlStrRef>
              <c:f>Sheet1!$A$2:$A$5</c:f>
              <c:multiLvlStrCache>
                <c:ptCount val="4"/>
                <c:lvl>
                  <c:pt idx="0">
                    <c:v>4×4</c:v>
                  </c:pt>
                  <c:pt idx="1">
                    <c:v>8×8</c:v>
                  </c:pt>
                  <c:pt idx="2">
                    <c:v>16×16</c:v>
                  </c:pt>
                  <c:pt idx="3">
                    <c:v>32×32</c:v>
                  </c:pt>
                </c:lvl>
              </c:multiLvlStrCache>
            </c:multiLvlStrRef>
          </c:cat>
          <c:val>
            <c:numRef>
              <c:f>Sheet1!$B$2:$B$5</c:f>
              <c:numCache>
                <c:formatCode>General</c:formatCode>
                <c:ptCount val="4"/>
                <c:pt idx="0">
                  <c:v>3</c:v>
                </c:pt>
                <c:pt idx="1">
                  <c:v>3</c:v>
                </c:pt>
                <c:pt idx="2">
                  <c:v>3.5</c:v>
                </c:pt>
                <c:pt idx="3">
                  <c:v>6.3</c:v>
                </c:pt>
              </c:numCache>
            </c:numRef>
          </c:val>
        </c:ser>
        <c:ser>
          <c:idx val="1"/>
          <c:order val="1"/>
          <c:tx>
            <c:strRef>
              <c:f>Sheet1!$C$1</c:f>
              <c:strCache>
                <c:ptCount val="1"/>
                <c:pt idx="0">
                  <c:v>Daemon NPU</c:v>
                </c:pt>
              </c:strCache>
            </c:strRef>
          </c:tx>
          <c:spPr>
            <a:solidFill>
              <a:srgbClr val="C77A2E"/>
            </a:solidFill>
            <a:effectLst/>
          </c:spPr>
          <c:invertIfNegative val="0"/>
          <c:dLbls>
            <c:numFmt formatCode="0.0" sourceLinked="0"/>
            <c:txPr>
              <a:bodyPr/>
              <a:lstStyle/>
              <a:p>
                <a:pPr>
                  <a:defRPr b="0" i="0" strike="noStrike" sz="1100" u="none">
                    <a:solidFill>
                      <a:srgbClr val="16231E"/>
                    </a:solidFill>
                    <a:latin typeface="+mn-lt"/>
                  </a:defRPr>
                </a:pPr>
              </a:p>
            </c:txPr>
            <c:showLegendKey val="0"/>
            <c:showVal val="1"/>
            <c:showCatName val="0"/>
            <c:showSerName val="0"/>
            <c:showPercent val="0"/>
            <c:showBubbleSize val="0"/>
            <c:showLeaderLines val="0"/>
          </c:dLbls>
          <c:cat>
            <c:multiLvlStrRef>
              <c:f>Sheet1!$A$2:$A$5</c:f>
              <c:multiLvlStrCache>
                <c:ptCount val="4"/>
                <c:lvl>
                  <c:pt idx="0">
                    <c:v>4×4</c:v>
                  </c:pt>
                  <c:pt idx="1">
                    <c:v>8×8</c:v>
                  </c:pt>
                  <c:pt idx="2">
                    <c:v>16×16</c:v>
                  </c:pt>
                  <c:pt idx="3">
                    <c:v>32×32</c:v>
                  </c:pt>
                </c:lvl>
              </c:multiLvlStrCache>
            </c:multiLvlStrRef>
          </c:cat>
          <c:val>
            <c:numRef>
              <c:f>Sheet1!$C$2:$C$5</c:f>
              <c:numCache>
                <c:formatCode>General</c:formatCode>
                <c:ptCount val="4"/>
                <c:pt idx="0">
                  <c:v>14.1</c:v>
                </c:pt>
                <c:pt idx="1">
                  <c:v>14.2</c:v>
                </c:pt>
                <c:pt idx="2">
                  <c:v>16</c:v>
                </c:pt>
                <c:pt idx="3">
                  <c:v>27</c:v>
                </c:pt>
              </c:numCache>
            </c:numRef>
          </c:val>
        </c:ser>
        <c:dLbls>
          <c:numFmt formatCode="0.0" sourceLinked="0"/>
          <c:txPr>
            <a:bodyPr/>
            <a:lstStyle/>
            <a:p>
              <a:pPr>
                <a:defRPr b="0" i="0" strike="noStrike" sz="1100" u="none">
                  <a:solidFill>
                    <a:srgbClr val="16231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31E"/>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DDE7E2"/>
              </a:solidFill>
              <a:prstDash val="solid"/>
              <a:round/>
            </a:ln>
          </c:spPr>
        </c:majorGridlines>
        <c:title>
          <c:tx>
            <c:rich>
              <a:bodyPr/>
              <a:lstStyle/>
              <a:p>
                <a:pPr>
                  <a:defRPr sz="1100" b="0" i="0" u="none" strike="noStrike">
                    <a:solidFill>
                      <a:srgbClr val="5E7068"/>
                    </a:solidFill>
                    <a:latin typeface="+mn-lt"/>
                  </a:defRPr>
                </a:pPr>
                <a:r>
                  <a:rPr sz="1100" b="0" i="0" u="none" strike="noStrike">
                    <a:solidFill>
                      <a:srgbClr val="5E7068"/>
                    </a:solidFill>
                    <a:latin typeface="+mn-lt"/>
                  </a:rPr>
                  <a:t>µs per request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7068"/>
                </a:solidFill>
                <a:latin typeface="+mn-lt"/>
              </a:defRPr>
            </a:pPr>
            <a:endParaRPr lang="en-US"/>
          </a:p>
        </c:txPr>
        <c:crossAx val="2094734554"/>
        <c:crosses val="autoZero"/>
        <c:crossBetween val="between"/>
        <c:majorUnit val="10"/>
      </c:valAx>
      <c:spPr>
        <a:noFill/>
        <a:ln>
          <a:noFill/>
        </a:ln>
        <a:effectLst/>
      </c:spPr>
    </c:plotArea>
    <c:legend>
      <c:legendPos val="t"/>
      <c:overlay val="0"/>
      <c:txPr>
        <a:bodyPr/>
        <a:lstStyle/>
        <a:p>
          <a:pPr>
            <a:defRPr sz="1200">
              <a:solidFill>
                <a:srgbClr val="16231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what we built and how. The virtual platform (VP) is QEMU's ibexdemo machine running Ibex RISC-V firmware with TCG, QEMU's fast instruction translator. The NPU is a matrix-multiply accelerator that runs as a separate host process, matmul_daemon. A QEMU TCG plugin connects the two over a Unix socket. Sections: architecture, how each piece was built, how it was validated (GDB, performance, tests, two platforms), and lessons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carry the whole project. First, the accelerator (we call it the NPU) is its own operating-system process, so it can be developed, replaced, restarted, or shared without touching QEMU. Second, the connection is a QEMU TCG plugin: QEMU loads it with -plugin, and it uses only the public plugin API, so QEMU's source is unchanged; the only requirement is QEMU built with --enable-plugins. Third, the guest waits at the doorbell until the result is in memory, so every run is deterministic; and every failure (no daemon, a crashed daemon, a slow daemon, a bad request) becomes an error code the firmware can read rather than a hang. The right column: zero QEMU patches, 22 automated tests including a real GDB session, and identical results on macOS and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grew in steps. October 16: QEMU emulated the CPU and forwarded GPIO accesses to a Verilator RTL model. October 22: the whole Ibex SoC moved into Verilator, with QEMU only stepping it and acting as the UART console; the same day a mode with QEMU's CPU plus RTL GPIO, UART and timer was added. October 23: the first TCG plugin appeared, but it computed the matrix multiply inside the QEMU process. This work, October 28, moved the matrix multiply into its own daemon process and made the plugin a thin client. The old in-QEMU approach lives on as a 'direct' build of the same plugin, compiled with -DMATMUL_PLUGIN_DIRECT, used only as the performance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the structure: which processes exist, how they talk, and the two interfaces (contracts) that keep the pieces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QEMU process. Its vCPU thread runs the Ibex firmware through TCG. The plugin lives inside the same process and runs on that vCPU thread whenever the firmware stores to the doorbell address. Right: the daemon process. Its main thread waits in poll() for new connections and starts one thread per connected VP; each client thread reads requests, validates them, computes C = A × B, and replies. Between them is a Unix stream socket, /tmp/ibex-matmul-accel.sock by default, created owner-only so other users on the machine can't send it work. The request carries n, A and B; the reply carries C plus the multiply-accumulate count and how long the math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components and two contracts between them. The firmware and the plugin agree on the guest mailbox, defined in tcg_plugin/matmul_accel.h: seven 32-bit words in guest RAM. The plugin and the daemon agree on the wire protocol, defined in include/matmul_daemon_protocol.h: a 16-byte header followed by a payload. Because the contracts are separate, the firmware knows nothing about sockets, and the daemon only ever sees matrices, never guest addresses. That separation is what makes the daemon replaceable, for example by an RTL model of an NPU, without changing the firmware or the plugin. Sizes: firmware 157 lines, plugin 510, daemon 680; the GEMM kernel itself is a 26-line shared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step by step. 1: the firmware writes the matrix size N and the addresses of A, B and C into the mailbox, clears STATUS, and stores 1 to KICK at 0x0011C014. 2: that store triggers the plugin's memory callback on the vCPU thread; the plugin reads the mailbox and copies A and B out of guest memory. 3: it sends a GEMM message with n, A and B. 4: a daemon client thread validates the request and computes C = A × B. 5: it replies with GEMM_DONE carrying C and timing. 6: the plugin writes C into guest memory, then ERRCODE and STATUS. 7: only now does the firmware execute its next instruction, which reads STATUS = DONE. Because steps 2-6 happen inside the store, the result is always ready and the run is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walks through each piece in the order a request touches it: the guest mailbox, the plugin, the wire protocol, the daemon, and the scripts that build and run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firmware talks to the NPU through seven 32-bit words at 0x0011C000, in ordinary guest RAM just below the stack. The firmware writes N and the three matrix addresses, sets STATUS to 0, then stores anything to KICK. The plugin answers by setting STATUS to 1 (done) or 2 (error), with ERRCODE saying why: 1 for a bad N, 2 if guest memory couldn't be read or written, 3 if the daemon is unreachable or didn't answer within the timeout, 4 if the daemon rejected the request. Why RAM instead of a proper MMIO device? A QEMU plugin can observe execution and memory accesses, but it can't add devices to the machine; a device would need a QEMU patch. The trade-off: without the plugin loaded, the writes just land in RAM, so the firmware polls STATUS a bounded number of times and reports 'no response' rather than hanging. The firmware also checks at startup that its own data ends below the mailbox.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plugin finds the doorbell. When QEMU translates a block of guest code, it calls the plugin's vcpu_tb_trans(), which registers a store-only memory callback on every instruction. At run time vcpu_mem_cb() runs for every guest store and returns immediately unless the address is KICK. On the doorbell, handle_kick() reads the mailbox and the A and B matrices from guest memory, sends one request with transact(), and writes C, ERRCODE and STATUS back. Robustness rules: the plugin connects and says HELLO when it loads, and refuses to load if no daemon answers, so problems show up before the guest starts. Every send and every reply wait is bounded by timeout_ms (default 5000 ms). The socket is non-blocking, because a 32x32 request is bigger than macOS's 8 KiB socket buffer and macOS ignores MSG_DONTWAIT on Unix stream sockets. SIGPIPE is suppressed so a dead daemon returns an error instead of killing QEMU. After a transport failure it reconnects once and resends, which is safe because a GEMM has no side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starts with the same 16-byte header: a magic number (the bytes 'IMMD'), a protocol version (1), a message type, a sequence number that the reply echoes, and the payload length. Then come len payload bytes. All fields are little-endian, and _Static_assert checks pin every struct's size so a compiler or padding change can't silently break the format. Five message types: HELLO and HELLO_ACK at connect time (the daemon reports its PID, the largest N it accepts, and how many GEMMs it has served), GEMM and GEMM_DONE for the work itself, and ERROR. Errors come in two kinds: if the request is well-formed but wrong (bad N, unknown type) the daemon replies ERROR and keeps the connection; if the framing is wrong (bad magic, version or length) it replies ERROR and closes, because the next byte can't be trusted to start a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daemon behaves like a proper Unix service. 1, Detach: with --daemon it forks, calls setsid, and forks again; the original process waits on a pipe and exits successfully only when the grandchild reports that the socket is listening, so whoever started it can connect immediately. 2, Claim the socket: if something already answers on the path it refuses to start; if the file is a stale socket left by a crash it replaces it; if the path is a regular file it refuses rather than delete it. The socket is created with umask 077, so only your user can connect. 3, Signal ready: only after binding does it send its output to the log file and write the pidfile; that way startup errors still reach your terminal. 4, Serve: the main thread polls the listening socket and a wake-up pipe, and each connection gets its own thread; a mutex protects only the shared counters. 5, Stop cleanly: SIGTERM, SIGINT or SIGHUP write a byte to the wake-up pipe; the main loop exits and removes the socket and pidfile, but only if the socket's inode and the pidfile's PID still belong to this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files make it easy to build and run. build_matmul_plugin.sh checks whether QEMU was configured with plugin support; if not, it re-runs QEMU's configure through config.status with --enable-plugins added, which keeps every other option. It then runs an incremental QEMU build (a no-op when up to date) and make. The Makefile builds the daemon, both plugin variants, and the firmware; because RISC-V toolchains differ by age, it test-compiles once to see whether GCC wants the newer rv32imc_zicsr_zifencei name or plain rv32imc. matmul_daemon.sh manages the background daemon; stop asks the daemon for its own PID over the socket, so a stale pidfile can never make it signal an unrelated process. run_matmul_plugin.sh is the one-command demo: it reuses a running daemon or starts one, runs QEMU with a watchdog, prints the daemon's log for the run, and stops the daemon only if it started it. Options: --gdb, KEEP_DAEMON=1, QEMU_TIMEOUT, IBEX_MATMUL_SOCKET.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shows the evidence: a real GDB session, measured performance against the direct (in-QEMU) build, the automated tests, and identical results on macOS and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QEMU's built-in GDB server is independent of TCG plugins, so debugging works exactly as without the NPU. run_matmul_plugin.sh --gdb starts QEMU paused with -gdb tcp::1234 -S and turns off the launcher's 60-second watchdog. In a second terminal you attach riscv32-unknown-elf-gdb (or gdb-multiarch) to build/matmul_accel.elf. The session on the right is abridged from a real run: break in kick(), check STATUS is 0, run kick() to its return with finish, which sends the request through the daemon, and STATUS is now 1 and the first results are in C. Single-stepping one instruction over the doorbell store shows the same thing: the whole round trip completes inside that store. While the VP sits at a breakpoint, the daemon simply waits. An automated test drives this exact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does attaching the NPU slow down the rest of the guest, its computation and its I/O? The benchmark firmware runs about two seconds of software matrix math and UART printing without ever ringing the doorbell. Without a plugin it takes 2.034 s; with the direct plugin 2.075 s; with the daemon plugin 2.119 s. Both plugins cost 2-4% because both watch every guest store; the order between the two plugins flips from run to run, so they are the same within noise. The daemon adds nothing to ordinary guest execution. Reproduce with python3 ibex-vp-cosim/scripts/bench_npu.py.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request, the direct build is faster: 3.0 to 6.3 µs against 14.1 to 27.0 µs for the daemon, so the daemon adds 11 to 21 µs per request. The math is the same in both (one shared kernel). The extra time is the round trip: the request crosses into another process and back, which costs two context switches and copying A, B and C (up to 12 KiB at 32x32). Because the VP waits for each request, nothing hides that cost. So a daemon is not a speed win for synchronous small GEMMs. It pays off when the NPU model is heavy or separate (for example a Verilator RTL NPU), when several VPs share one NPU, or when an NPU crash must not take down QEMU. To beat the direct build on speed, requests would need to be asynchronous, so the guest keeps running while the NPU computes on another core. That mode is not implemented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python3 ibex-vp-cosim/scripts/test_matmul_daemon.py runs 22 tests in about five seconds, each on its own temporary socket so it never disturbs a running demo daemon. Lifecycle (5): detaching, the pidfile, owner-only socket permissions, SIGTERM cleanup, refusing a second daemon, replacing a stale socket, never deleting a regular file. Protocol (6): GEMM results for N = 1 to 64 against a Python reference with full-range int32 values and wrap-around, requests sent a few bytes at a time, every error code, and which errors keep or close the connection. Parallel (1): six clients at once. End to end (3): the firmware passes through the daemon; QEMU refuses to start without a daemon; the firmware fails cleanly without the plugin. Recovery (2): the daemon restarted while QEMU is paused, and a fake daemon that never answers. Baseline (2): the direct build gives the same checksums, and the timing summary works. GDB (1): a scripted debugging session. Scripts (2): the launcher and the control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code was built and run on two very different machines. The Mac is Apple Silicon (arm64) with Clang as the host compiler and the xPack RISC-V GCC 15, which needs the newer rv32imc_zicsr_zifencei ISA name. The Linux laptop is x86-64 with GCC as the host compiler and an older RISC-V GCC that only understands plain rv32imc; the Makefile's toolchain probe picked the right name automatically after the first Linux build failed. On both, the four result checksums printed by the firmware are identical, which shows the NPU results are bit-exact across hosts and compilers. The math uses unsigned 32-bit arithmetic on purpose, so overflow wraps exactly like the RV32 guest's own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last section covers the problems we hit and how they were fixed, the commands to run everything, the current limits, and the natural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problems shaped the final design. 1: QEMU on the Mac had been built without plugin support; we re-ran its configure through config.status with --enable-plugins, so every existing option and machine was kept. 2: the most important one: a test with a fake daemon that never answers made QEMU freeze. A 32x32 request is about 8 KB, which fills macOS's Unix socket buffer, and send() blocked forever because the timeout only covered the reply. A stack sample showed the vCPU stuck in sendto, and a small probe program proved macOS ignores MSG_DONTWAIT on Unix stream sockets. Fix: an O_NONBLOCK socket with every send under the same deadline. 3: the first stop command trusted the pidfile, which could name a reused PID; it now asks the daemon. 4: the Linux laptop's older RISC-V GCC rejected the 'zifencei' ISA name; the Makefile now probes the toolchain. 5: macOS's CLOCK_MONOTONIC only has microsecond resolution, so timings showed 0 ns; we switched to CLOCK_UPTIME_RAW. 6: the expectation that a daemon would be faster than the direct implementation didn't hold up; we built a fair baseline, measured, and documented the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from the repository folder; in every new terminal, cd into it and source env.sh. The one-command demo builds what changed, starts a daemon if none is running, runs the VP, prints the daemon's log for the run, and stops the daemon it started; it ends with 'Result: PASS'. To see the NPU as a separate service, run matmul_daemon.sh foreground in one terminal and the demo as often as you like in another; the daemon's request total keeps growing. For debugging, run the demo with --gdb and attach GDB from a second terminal. The test suite takes about five seconds; the benchmark about a minute. Setup from an empty machine is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limits: the NPU is a functional model, so results are exact but no accelerator timing is modeled and guest time doesn't advance for NPU work. Requests are synchronous, which is what keeps runs deterministic but also why the daemon can't beat the direct build on speed. The plugin passes guest addresses straight to QEMU's memory API, which is right for this M-mode firmware with no MMU; firmware that enables address translation would need the plugin to translate first. The Unix socket limits it to one machine. Next steps, roughly in order of value: asynchronous requests so the guest computes while the NPU works on another core, which is where a daemon can actually win on speed; a Verilator RTL NPU behind the same wire protocol, the strongest reason for the process split; building the daemon's kernel with -O3 on Linux, where GCC at -O2 likely doesn't vectorize it; and shared memory or TCP for large matrices or a remote NPU.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remember. The NPU runs as its own process and a TCG plugin connects it to QEMU, so QEMU's source never changed. The guest waits at the doorbell, so every run is deterministic and the results are bit-exact on every platform. Guest I/O performance and GDB debugging are unchanged by the NPU; the price of the process split is 11 to 21 µs per request. And every claim here is backed by the 22 automated tests and by runs on both macOS and Linux. For details: the README for setup and use, docs/MATMUL_DAEMON.md for the protocol, and docs/MATMUL_DEEP_DIVE.md for a code walkthrough with line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5669280" cy="15087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468880"/>
            <a:ext cx="5486400" cy="96012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743200" cy="868680"/>
          </a:xfrm>
          <a:prstGeom prst="rect">
            <a:avLst/>
          </a:prstGeom>
          <a:noFill/>
          <a:ln/>
        </p:spPr>
        <p:txBody>
          <a:bodyPr wrap="square" rtlCol="0"/>
          <a:lstStyle>
            <a:lvl1pPr indent="0" marL="0">
              <a:buNone/>
              <a:defRPr lang="en-US" sz="4800" b="1" dirty="0">
                <a:solidFill>
                  <a:schemeClr val="accent1"/>
                </a:solidFill>
              </a:defRPr>
            </a:lvl1pPr>
          </a:lstStyle>
          <a:p>
            <a:pPr indent="0" marL="0">
              <a:buNone/>
            </a:pPr>
            <a:endParaRPr lang="en-US" sz="4800" dirty="0"/>
          </a:p>
        </p:txBody>
      </p:sp>
      <p:sp>
        <p:nvSpPr>
          <p:cNvPr id="3" name="Text 0"/>
          <p:cNvSpPr/>
          <p:nvPr>
            <p:ph idx="101" type="title" hasCustomPrompt="1"/>
          </p:nvPr>
        </p:nvSpPr>
        <p:spPr>
          <a:xfrm>
            <a:off x="548640" y="2011680"/>
            <a:ext cx="585216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2880360"/>
            <a:ext cx="5852160" cy="64008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Ibex VP · daemon-based NPU</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3"/>
                </a:solidFill>
              </a:rPr>
              <a:t>Ibex VP · daemon-based NPU</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4.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5669280" cy="1508760"/>
          </a:xfrm>
          <a:prstGeom prst="rect">
            <a:avLst/>
          </a:prstGeom>
          <a:noFill/>
          <a:ln/>
        </p:spPr>
        <p:txBody>
          <a:bodyPr wrap="square" lIns="0" tIns="0" rIns="0" bIns="0" rtlCol="0" anchor="b"/>
          <a:lstStyle/>
          <a:p>
            <a:pPr algn="l" indent="0" marL="0">
              <a:buNone/>
            </a:pPr>
            <a:r>
              <a:rPr lang="en-US" sz="3600" b="1" dirty="0">
                <a:solidFill>
                  <a:schemeClr val="bg1"/>
                </a:solidFill>
              </a:rPr>
              <a:t>Ibex VP with a</a:t>
            </a:r>
            <a:endParaRPr lang="en-US" sz="3600" dirty="0"/>
          </a:p>
          <a:p>
            <a:pPr algn="l" indent="0" marL="0">
              <a:buNone/>
            </a:pPr>
            <a:r>
              <a:rPr lang="en-US" sz="3600" b="1" dirty="0">
                <a:solidFill>
                  <a:schemeClr val="bg1"/>
                </a:solidFill>
              </a:rPr>
              <a:t>Daemon-Based NPU</a:t>
            </a:r>
            <a:endParaRPr lang="en-US" sz="3600" dirty="0"/>
          </a:p>
        </p:txBody>
      </p:sp>
      <p:sp>
        <p:nvSpPr>
          <p:cNvPr id="3" name="Text 0"/>
          <p:cNvSpPr/>
          <p:nvPr>
            <p:ph idx="101" type="body" hasCustomPrompt="1"/>
          </p:nvPr>
        </p:nvSpPr>
        <p:spPr>
          <a:xfrm>
            <a:off x="548640" y="2468880"/>
            <a:ext cx="5486400" cy="960120"/>
          </a:xfrm>
          <a:prstGeom prst="rect">
            <a:avLst/>
          </a:prstGeom>
          <a:noFill/>
          <a:ln/>
        </p:spPr>
        <p:txBody>
          <a:bodyPr wrap="square" lIns="0" tIns="0" rIns="0" bIns="0" rtlCol="0" anchor="t"/>
          <a:lstStyle/>
          <a:p>
            <a:pPr indent="0" marL="0">
              <a:buNone/>
            </a:pPr>
            <a:r>
              <a:rPr lang="en-US" sz="1600" dirty="0">
                <a:solidFill>
                  <a:schemeClr val="accent3"/>
                </a:solidFill>
              </a:rPr>
              <a:t>How a QEMU TCG plugin connects an Ibex virtual platform to a matrix-multiply accelerator running in its own process</a:t>
            </a:r>
            <a:endParaRPr lang="en-US" sz="1600" dirty="0"/>
          </a:p>
        </p:txBody>
      </p:sp>
      <p:sp>
        <p:nvSpPr>
          <p:cNvPr id="4" name="text-1"/>
          <p:cNvSpPr txBox="1"/>
          <p:nvPr/>
        </p:nvSpPr>
        <p:spPr>
          <a:xfrm>
            <a:off x="548640" y="4251960"/>
            <a:ext cx="5486400" cy="274320"/>
          </a:xfrm>
          <a:prstGeom prst="rect">
            <a:avLst/>
          </a:prstGeom>
          <a:noFill/>
          <a:ln/>
        </p:spPr>
        <p:txBody>
          <a:bodyPr wrap="square" lIns="0" tIns="0" rIns="0" bIns="0" rtlCol="0" anchor="t"/>
          <a:lstStyle/>
          <a:p>
            <a:pPr indent="0" marL="0">
              <a:buNone/>
            </a:pPr>
            <a:r>
              <a:rPr lang="en-US" sz="1200" dirty="0">
                <a:solidFill>
                  <a:schemeClr val="accent3"/>
                </a:solidFill>
              </a:rPr>
              <a:t>Branch ibex-matmul-daemon  ·  October 2026</a:t>
            </a:r>
            <a:endParaRPr lang="en-US" sz="1200" dirty="0"/>
          </a:p>
        </p:txBody>
      </p:sp>
      <p:sp>
        <p:nvSpPr>
          <p:cNvPr id="5" name="card-2"/>
          <p:cNvSpPr/>
          <p:nvPr/>
        </p:nvSpPr>
        <p:spPr>
          <a:xfrm>
            <a:off x="6583680" y="1325880"/>
            <a:ext cx="2103120" cy="777240"/>
          </a:xfrm>
          <a:prstGeom prst="roundRect">
            <a:avLst>
              <a:gd name="adj" fmla="val 9412"/>
            </a:avLst>
          </a:prstGeom>
          <a:solidFill>
            <a:schemeClr val="accent2"/>
          </a:solidFill>
          <a:ln/>
        </p:spPr>
      </p:sp>
      <p:sp>
        <p:nvSpPr>
          <p:cNvPr id="6" name="text-3"/>
          <p:cNvSpPr txBox="1"/>
          <p:nvPr/>
        </p:nvSpPr>
        <p:spPr>
          <a:xfrm>
            <a:off x="6766560" y="1417320"/>
            <a:ext cx="1737360" cy="594360"/>
          </a:xfrm>
          <a:prstGeom prst="rect">
            <a:avLst/>
          </a:prstGeom>
          <a:noFill/>
          <a:ln/>
        </p:spPr>
        <p:txBody>
          <a:bodyPr wrap="square" lIns="0" tIns="0" rIns="0" bIns="0" rtlCol="0" anchor="ctr"/>
          <a:lstStyle/>
          <a:p>
            <a:pPr indent="0" marL="0">
              <a:buNone/>
            </a:pPr>
            <a:r>
              <a:rPr lang="en-US" sz="1800" b="1" dirty="0">
                <a:solidFill>
                  <a:schemeClr val="bg1"/>
                </a:solidFill>
              </a:rPr>
              <a:t>VP</a:t>
            </a:r>
            <a:endParaRPr lang="en-US" sz="1400" dirty="0"/>
          </a:p>
          <a:p>
            <a:pPr indent="0" marL="0">
              <a:buNone/>
            </a:pPr>
            <a:r>
              <a:rPr lang="en-US" sz="1200" dirty="0">
                <a:solidFill>
                  <a:schemeClr val="bg1"/>
                </a:solidFill>
              </a:rPr>
              <a:t>QEMU + TCG plugin</a:t>
            </a:r>
            <a:endParaRPr lang="en-US" sz="1400" dirty="0"/>
          </a:p>
        </p:txBody>
      </p:sp>
      <p:sp>
        <p:nvSpPr>
          <p:cNvPr id="7" name="arrow-4"/>
          <p:cNvSpPr/>
          <p:nvPr/>
        </p:nvSpPr>
        <p:spPr>
          <a:xfrm>
            <a:off x="7635240" y="2148840"/>
            <a:ext cx="0" cy="731520"/>
          </a:xfrm>
          <a:prstGeom prst="line">
            <a:avLst/>
          </a:prstGeom>
          <a:noFill/>
          <a:ln w="25400">
            <a:solidFill>
              <a:schemeClr val="accent3"/>
            </a:solidFill>
            <a:prstDash val="solid"/>
            <a:headEnd type="triangle"/>
            <a:tailEnd type="triangle"/>
          </a:ln>
        </p:spPr>
      </p:sp>
      <p:sp>
        <p:nvSpPr>
          <p:cNvPr id="8" name="text-5"/>
          <p:cNvSpPr txBox="1"/>
          <p:nvPr/>
        </p:nvSpPr>
        <p:spPr>
          <a:xfrm>
            <a:off x="7772400" y="2377440"/>
            <a:ext cx="914400" cy="274320"/>
          </a:xfrm>
          <a:prstGeom prst="rect">
            <a:avLst/>
          </a:prstGeom>
          <a:noFill/>
          <a:ln/>
        </p:spPr>
        <p:txBody>
          <a:bodyPr wrap="square" lIns="0" tIns="0" rIns="0" bIns="0" rtlCol="0" anchor="t"/>
          <a:lstStyle/>
          <a:p>
            <a:pPr indent="0" marL="0">
              <a:buNone/>
            </a:pPr>
            <a:r>
              <a:rPr lang="en-US" sz="1100" dirty="0">
                <a:solidFill>
                  <a:schemeClr val="accent3"/>
                </a:solidFill>
              </a:rPr>
              <a:t>Unix socket</a:t>
            </a:r>
            <a:endParaRPr lang="en-US" sz="1100" dirty="0"/>
          </a:p>
        </p:txBody>
      </p:sp>
      <p:sp>
        <p:nvSpPr>
          <p:cNvPr id="9" name="card-6"/>
          <p:cNvSpPr/>
          <p:nvPr/>
        </p:nvSpPr>
        <p:spPr>
          <a:xfrm>
            <a:off x="6583680" y="2926080"/>
            <a:ext cx="2103120" cy="777240"/>
          </a:xfrm>
          <a:prstGeom prst="roundRect">
            <a:avLst>
              <a:gd name="adj" fmla="val 9412"/>
            </a:avLst>
          </a:prstGeom>
          <a:solidFill>
            <a:schemeClr val="accent1"/>
          </a:solidFill>
          <a:ln/>
        </p:spPr>
      </p:sp>
      <p:sp>
        <p:nvSpPr>
          <p:cNvPr id="10" name="text-7"/>
          <p:cNvSpPr txBox="1"/>
          <p:nvPr/>
        </p:nvSpPr>
        <p:spPr>
          <a:xfrm>
            <a:off x="6766560" y="3017520"/>
            <a:ext cx="1737360" cy="594360"/>
          </a:xfrm>
          <a:prstGeom prst="rect">
            <a:avLst/>
          </a:prstGeom>
          <a:noFill/>
          <a:ln/>
        </p:spPr>
        <p:txBody>
          <a:bodyPr wrap="square" lIns="0" tIns="0" rIns="0" bIns="0" rtlCol="0" anchor="ctr"/>
          <a:lstStyle/>
          <a:p>
            <a:pPr indent="0" marL="0">
              <a:buNone/>
            </a:pPr>
            <a:r>
              <a:rPr lang="en-US" sz="1800" b="1" dirty="0">
                <a:solidFill>
                  <a:schemeClr val="bg1"/>
                </a:solidFill>
              </a:rPr>
              <a:t>NPU</a:t>
            </a:r>
            <a:endParaRPr lang="en-US" sz="1400" dirty="0"/>
          </a:p>
          <a:p>
            <a:pPr indent="0" marL="0">
              <a:buNone/>
            </a:pPr>
            <a:r>
              <a:rPr lang="en-US" sz="1200" dirty="0">
                <a:solidFill>
                  <a:schemeClr val="bg1"/>
                </a:solidFill>
              </a:rPr>
              <a:t>matmul_daemon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What we built</a:t>
            </a:r>
            <a:endParaRPr lang="en-US" sz="3000" dirty="0"/>
          </a:p>
        </p:txBody>
      </p:sp>
      <p:sp>
        <p:nvSpPr>
          <p:cNvPr id="3" name="card-8"/>
          <p:cNvSpPr/>
          <p:nvPr/>
        </p:nvSpPr>
        <p:spPr>
          <a:xfrm>
            <a:off x="457200" y="1097280"/>
            <a:ext cx="5074920" cy="1005840"/>
          </a:xfrm>
          <a:prstGeom prst="roundRect">
            <a:avLst>
              <a:gd name="adj" fmla="val 7273"/>
            </a:avLst>
          </a:prstGeom>
          <a:solidFill>
            <a:schemeClr val="bg2"/>
          </a:solidFill>
          <a:ln/>
        </p:spPr>
      </p:sp>
      <p:sp>
        <p:nvSpPr>
          <p:cNvPr id="4" name="icon-circle-9"/>
          <p:cNvSpPr/>
          <p:nvPr/>
        </p:nvSpPr>
        <p:spPr>
          <a:xfrm>
            <a:off x="640080" y="1344168"/>
            <a:ext cx="512064" cy="512064"/>
          </a:xfrm>
          <a:prstGeom prst="ellipse">
            <a:avLst/>
          </a:prstGeom>
          <a:solidFill>
            <a:schemeClr val="accent1"/>
          </a:solidFill>
          <a:ln/>
        </p:spPr>
      </p:sp>
      <p:pic>
        <p:nvPicPr>
          <p:cNvPr id="5" name="icon-10" descr="Server icon">    </p:cNvPr>
          <p:cNvPicPr>
            <a:picLocks noChangeAspect="1"/>
          </p:cNvPicPr>
          <p:nvPr/>
        </p:nvPicPr>
        <p:blipFill>
          <a:blip r:embed="rId1"/>
          <a:stretch>
            <a:fillRect/>
          </a:stretch>
        </p:blipFill>
        <p:spPr>
          <a:xfrm>
            <a:off x="768096" y="1472184"/>
            <a:ext cx="256032" cy="256032"/>
          </a:xfrm>
          <a:prstGeom prst="rect">
            <a:avLst/>
          </a:prstGeom>
        </p:spPr>
      </p:pic>
      <p:sp>
        <p:nvSpPr>
          <p:cNvPr id="6" name="text-11"/>
          <p:cNvSpPr txBox="1"/>
          <p:nvPr/>
        </p:nvSpPr>
        <p:spPr>
          <a:xfrm>
            <a:off x="1325880" y="1225296"/>
            <a:ext cx="4069080" cy="310896"/>
          </a:xfrm>
          <a:prstGeom prst="rect">
            <a:avLst/>
          </a:prstGeom>
          <a:noFill/>
          <a:ln/>
        </p:spPr>
        <p:txBody>
          <a:bodyPr wrap="square" lIns="0" tIns="0" rIns="0" bIns="0" rtlCol="0" anchor="t"/>
          <a:lstStyle/>
          <a:p>
            <a:pPr indent="0" marL="0">
              <a:buNone/>
            </a:pPr>
            <a:r>
              <a:rPr lang="en-US" sz="1600" b="1" dirty="0">
                <a:solidFill>
                  <a:schemeClr val="tx2"/>
                </a:solidFill>
              </a:rPr>
              <a:t>A separate NPU process</a:t>
            </a:r>
            <a:endParaRPr lang="en-US" sz="1600" dirty="0"/>
          </a:p>
        </p:txBody>
      </p:sp>
      <p:sp>
        <p:nvSpPr>
          <p:cNvPr id="7" name="text-12"/>
          <p:cNvSpPr txBox="1"/>
          <p:nvPr/>
        </p:nvSpPr>
        <p:spPr>
          <a:xfrm>
            <a:off x="1325880" y="1554480"/>
            <a:ext cx="4069080" cy="475488"/>
          </a:xfrm>
          <a:prstGeom prst="rect">
            <a:avLst/>
          </a:prstGeom>
          <a:noFill/>
          <a:ln/>
        </p:spPr>
        <p:txBody>
          <a:bodyPr wrap="square" lIns="0" tIns="0" rIns="0" bIns="0" rtlCol="0" anchor="t"/>
          <a:lstStyle/>
          <a:p>
            <a:pPr indent="0" marL="0">
              <a:buNone/>
            </a:pPr>
            <a:r>
              <a:rPr lang="en-US" sz="1400" dirty="0">
                <a:solidFill>
                  <a:schemeClr val="tx1"/>
                </a:solidFill>
              </a:rPr>
              <a:t>matmul_daemon computes C = A × B for any number of VPs over a Unix socket.</a:t>
            </a:r>
            <a:endParaRPr lang="en-US" sz="1400" dirty="0"/>
          </a:p>
        </p:txBody>
      </p:sp>
      <p:sp>
        <p:nvSpPr>
          <p:cNvPr id="8" name="card-13"/>
          <p:cNvSpPr/>
          <p:nvPr/>
        </p:nvSpPr>
        <p:spPr>
          <a:xfrm>
            <a:off x="5715000" y="1097280"/>
            <a:ext cx="2971800" cy="1005840"/>
          </a:xfrm>
          <a:prstGeom prst="roundRect">
            <a:avLst>
              <a:gd name="adj" fmla="val 7273"/>
            </a:avLst>
          </a:prstGeom>
          <a:solidFill>
            <a:schemeClr val="tx2"/>
          </a:solidFill>
          <a:ln/>
        </p:spPr>
      </p:sp>
      <p:sp>
        <p:nvSpPr>
          <p:cNvPr id="9" name="text-14"/>
          <p:cNvSpPr txBox="1"/>
          <p:nvPr/>
        </p:nvSpPr>
        <p:spPr>
          <a:xfrm>
            <a:off x="5852160" y="1097280"/>
            <a:ext cx="914400" cy="1005840"/>
          </a:xfrm>
          <a:prstGeom prst="rect">
            <a:avLst/>
          </a:prstGeom>
          <a:noFill/>
          <a:ln/>
        </p:spPr>
        <p:txBody>
          <a:bodyPr wrap="square" lIns="0" tIns="0" rIns="0" bIns="0" rtlCol="0" anchor="ctr"/>
          <a:lstStyle/>
          <a:p>
            <a:pPr indent="0" marL="0">
              <a:buNone/>
            </a:pPr>
            <a:r>
              <a:rPr lang="en-US" sz="3600" b="1" dirty="0">
                <a:solidFill>
                  <a:schemeClr val="accent1"/>
                </a:solidFill>
              </a:rPr>
              <a:t>0</a:t>
            </a:r>
            <a:endParaRPr lang="en-US" sz="3600" dirty="0"/>
          </a:p>
        </p:txBody>
      </p:sp>
      <p:sp>
        <p:nvSpPr>
          <p:cNvPr id="10" name="text-15"/>
          <p:cNvSpPr txBox="1"/>
          <p:nvPr/>
        </p:nvSpPr>
        <p:spPr>
          <a:xfrm>
            <a:off x="6675120" y="1234440"/>
            <a:ext cx="1874520" cy="731520"/>
          </a:xfrm>
          <a:prstGeom prst="rect">
            <a:avLst/>
          </a:prstGeom>
          <a:noFill/>
          <a:ln/>
        </p:spPr>
        <p:txBody>
          <a:bodyPr wrap="square" lIns="0" tIns="0" rIns="0" bIns="0" rtlCol="0" anchor="ctr"/>
          <a:lstStyle/>
          <a:p>
            <a:pPr indent="0" marL="0">
              <a:buNone/>
            </a:pPr>
            <a:r>
              <a:rPr lang="en-US" sz="1400" dirty="0">
                <a:solidFill>
                  <a:schemeClr val="bg1"/>
                </a:solidFill>
              </a:rPr>
              <a:t>QEMU source patches</a:t>
            </a:r>
            <a:endParaRPr lang="en-US" sz="1400" dirty="0"/>
          </a:p>
        </p:txBody>
      </p:sp>
      <p:sp>
        <p:nvSpPr>
          <p:cNvPr id="11" name="card-16"/>
          <p:cNvSpPr/>
          <p:nvPr/>
        </p:nvSpPr>
        <p:spPr>
          <a:xfrm>
            <a:off x="457200" y="2194560"/>
            <a:ext cx="5074920" cy="1005840"/>
          </a:xfrm>
          <a:prstGeom prst="roundRect">
            <a:avLst>
              <a:gd name="adj" fmla="val 7273"/>
            </a:avLst>
          </a:prstGeom>
          <a:solidFill>
            <a:schemeClr val="bg2"/>
          </a:solidFill>
          <a:ln/>
        </p:spPr>
      </p:sp>
      <p:sp>
        <p:nvSpPr>
          <p:cNvPr id="12" name="icon-circle-17"/>
          <p:cNvSpPr/>
          <p:nvPr/>
        </p:nvSpPr>
        <p:spPr>
          <a:xfrm>
            <a:off x="640080" y="2441448"/>
            <a:ext cx="512064" cy="512064"/>
          </a:xfrm>
          <a:prstGeom prst="ellipse">
            <a:avLst/>
          </a:prstGeom>
          <a:solidFill>
            <a:schemeClr val="accent1"/>
          </a:solidFill>
          <a:ln/>
        </p:spPr>
      </p:sp>
      <p:pic>
        <p:nvPicPr>
          <p:cNvPr id="13" name="icon-18" descr="Plug icon">    </p:cNvPr>
          <p:cNvPicPr>
            <a:picLocks noChangeAspect="1"/>
          </p:cNvPicPr>
          <p:nvPr/>
        </p:nvPicPr>
        <p:blipFill>
          <a:blip r:embed="rId2"/>
          <a:stretch>
            <a:fillRect/>
          </a:stretch>
        </p:blipFill>
        <p:spPr>
          <a:xfrm>
            <a:off x="768096" y="2569464"/>
            <a:ext cx="256032" cy="256032"/>
          </a:xfrm>
          <a:prstGeom prst="rect">
            <a:avLst/>
          </a:prstGeom>
        </p:spPr>
      </p:pic>
      <p:sp>
        <p:nvSpPr>
          <p:cNvPr id="14" name="text-19"/>
          <p:cNvSpPr txBox="1"/>
          <p:nvPr/>
        </p:nvSpPr>
        <p:spPr>
          <a:xfrm>
            <a:off x="1325880" y="2322576"/>
            <a:ext cx="4069080" cy="310896"/>
          </a:xfrm>
          <a:prstGeom prst="rect">
            <a:avLst/>
          </a:prstGeom>
          <a:noFill/>
          <a:ln/>
        </p:spPr>
        <p:txBody>
          <a:bodyPr wrap="square" lIns="0" tIns="0" rIns="0" bIns="0" rtlCol="0" anchor="t"/>
          <a:lstStyle/>
          <a:p>
            <a:pPr indent="0" marL="0">
              <a:buNone/>
            </a:pPr>
            <a:r>
              <a:rPr lang="en-US" sz="1600" b="1" dirty="0">
                <a:solidFill>
                  <a:schemeClr val="tx2"/>
                </a:solidFill>
              </a:rPr>
              <a:t>Connected by a QEMU TCG plugin</a:t>
            </a:r>
            <a:endParaRPr lang="en-US" sz="1600" dirty="0"/>
          </a:p>
        </p:txBody>
      </p:sp>
      <p:sp>
        <p:nvSpPr>
          <p:cNvPr id="15" name="text-20"/>
          <p:cNvSpPr txBox="1"/>
          <p:nvPr/>
        </p:nvSpPr>
        <p:spPr>
          <a:xfrm>
            <a:off x="1325880" y="2651760"/>
            <a:ext cx="4069080" cy="475488"/>
          </a:xfrm>
          <a:prstGeom prst="rect">
            <a:avLst/>
          </a:prstGeom>
          <a:noFill/>
          <a:ln/>
        </p:spPr>
        <p:txBody>
          <a:bodyPr wrap="square" lIns="0" tIns="0" rIns="0" bIns="0" rtlCol="0" anchor="t"/>
          <a:lstStyle/>
          <a:p>
            <a:pPr indent="0" marL="0">
              <a:buNone/>
            </a:pPr>
            <a:r>
              <a:rPr lang="en-US" sz="1400" dirty="0">
                <a:solidFill>
                  <a:schemeClr val="tx1"/>
                </a:solidFill>
              </a:rPr>
              <a:t>The plugin turns the doorbell write into a socket request. No QEMU source changes.</a:t>
            </a:r>
            <a:endParaRPr lang="en-US" sz="1400" dirty="0"/>
          </a:p>
        </p:txBody>
      </p:sp>
      <p:sp>
        <p:nvSpPr>
          <p:cNvPr id="16" name="card-21"/>
          <p:cNvSpPr/>
          <p:nvPr/>
        </p:nvSpPr>
        <p:spPr>
          <a:xfrm>
            <a:off x="5715000" y="2194560"/>
            <a:ext cx="2971800" cy="1005840"/>
          </a:xfrm>
          <a:prstGeom prst="roundRect">
            <a:avLst>
              <a:gd name="adj" fmla="val 7273"/>
            </a:avLst>
          </a:prstGeom>
          <a:solidFill>
            <a:schemeClr val="tx2"/>
          </a:solidFill>
          <a:ln/>
        </p:spPr>
      </p:sp>
      <p:sp>
        <p:nvSpPr>
          <p:cNvPr id="17" name="text-22"/>
          <p:cNvSpPr txBox="1"/>
          <p:nvPr/>
        </p:nvSpPr>
        <p:spPr>
          <a:xfrm>
            <a:off x="5852160" y="2194560"/>
            <a:ext cx="914400" cy="1005840"/>
          </a:xfrm>
          <a:prstGeom prst="rect">
            <a:avLst/>
          </a:prstGeom>
          <a:noFill/>
          <a:ln/>
        </p:spPr>
        <p:txBody>
          <a:bodyPr wrap="square" lIns="0" tIns="0" rIns="0" bIns="0" rtlCol="0" anchor="ctr"/>
          <a:lstStyle/>
          <a:p>
            <a:pPr indent="0" marL="0">
              <a:buNone/>
            </a:pPr>
            <a:r>
              <a:rPr lang="en-US" sz="3600" b="1" dirty="0">
                <a:solidFill>
                  <a:schemeClr val="accent1"/>
                </a:solidFill>
              </a:rPr>
              <a:t>22</a:t>
            </a:r>
            <a:endParaRPr lang="en-US" sz="3600" dirty="0"/>
          </a:p>
        </p:txBody>
      </p:sp>
      <p:sp>
        <p:nvSpPr>
          <p:cNvPr id="18" name="text-23"/>
          <p:cNvSpPr txBox="1"/>
          <p:nvPr/>
        </p:nvSpPr>
        <p:spPr>
          <a:xfrm>
            <a:off x="6675120" y="2331720"/>
            <a:ext cx="1874520" cy="731520"/>
          </a:xfrm>
          <a:prstGeom prst="rect">
            <a:avLst/>
          </a:prstGeom>
          <a:noFill/>
          <a:ln/>
        </p:spPr>
        <p:txBody>
          <a:bodyPr wrap="square" lIns="0" tIns="0" rIns="0" bIns="0" rtlCol="0" anchor="ctr"/>
          <a:lstStyle/>
          <a:p>
            <a:pPr indent="0" marL="0">
              <a:buNone/>
            </a:pPr>
            <a:r>
              <a:rPr lang="en-US" sz="1400" dirty="0">
                <a:solidFill>
                  <a:schemeClr val="bg1"/>
                </a:solidFill>
              </a:rPr>
              <a:t>automated tests, GDB included</a:t>
            </a:r>
            <a:endParaRPr lang="en-US" sz="1400" dirty="0"/>
          </a:p>
        </p:txBody>
      </p:sp>
      <p:sp>
        <p:nvSpPr>
          <p:cNvPr id="19" name="card-24"/>
          <p:cNvSpPr/>
          <p:nvPr/>
        </p:nvSpPr>
        <p:spPr>
          <a:xfrm>
            <a:off x="457200" y="3291840"/>
            <a:ext cx="5074920" cy="1005840"/>
          </a:xfrm>
          <a:prstGeom prst="roundRect">
            <a:avLst>
              <a:gd name="adj" fmla="val 7273"/>
            </a:avLst>
          </a:prstGeom>
          <a:solidFill>
            <a:schemeClr val="bg2"/>
          </a:solidFill>
          <a:ln/>
        </p:spPr>
      </p:sp>
      <p:sp>
        <p:nvSpPr>
          <p:cNvPr id="20" name="icon-circle-25"/>
          <p:cNvSpPr/>
          <p:nvPr/>
        </p:nvSpPr>
        <p:spPr>
          <a:xfrm>
            <a:off x="640080" y="3538728"/>
            <a:ext cx="512064" cy="512064"/>
          </a:xfrm>
          <a:prstGeom prst="ellipse">
            <a:avLst/>
          </a:prstGeom>
          <a:solidFill>
            <a:schemeClr val="accent1"/>
          </a:solidFill>
          <a:ln/>
        </p:spPr>
      </p:sp>
      <p:pic>
        <p:nvPicPr>
          <p:cNvPr id="21" name="icon-26" descr="CheckCircle icon">    </p:cNvPr>
          <p:cNvPicPr>
            <a:picLocks noChangeAspect="1"/>
          </p:cNvPicPr>
          <p:nvPr/>
        </p:nvPicPr>
        <p:blipFill>
          <a:blip r:embed="rId3"/>
          <a:stretch>
            <a:fillRect/>
          </a:stretch>
        </p:blipFill>
        <p:spPr>
          <a:xfrm>
            <a:off x="768096" y="3666744"/>
            <a:ext cx="256032" cy="256032"/>
          </a:xfrm>
          <a:prstGeom prst="rect">
            <a:avLst/>
          </a:prstGeom>
        </p:spPr>
      </p:pic>
      <p:sp>
        <p:nvSpPr>
          <p:cNvPr id="22" name="text-27"/>
          <p:cNvSpPr txBox="1"/>
          <p:nvPr/>
        </p:nvSpPr>
        <p:spPr>
          <a:xfrm>
            <a:off x="1325880" y="3419856"/>
            <a:ext cx="4069080" cy="310896"/>
          </a:xfrm>
          <a:prstGeom prst="rect">
            <a:avLst/>
          </a:prstGeom>
          <a:noFill/>
          <a:ln/>
        </p:spPr>
        <p:txBody>
          <a:bodyPr wrap="square" lIns="0" tIns="0" rIns="0" bIns="0" rtlCol="0" anchor="t"/>
          <a:lstStyle/>
          <a:p>
            <a:pPr indent="0" marL="0">
              <a:buNone/>
            </a:pPr>
            <a:r>
              <a:rPr lang="en-US" sz="1600" b="1" dirty="0">
                <a:solidFill>
                  <a:schemeClr val="tx2"/>
                </a:solidFill>
              </a:rPr>
              <a:t>Deterministic and tested</a:t>
            </a:r>
            <a:endParaRPr lang="en-US" sz="1600" dirty="0"/>
          </a:p>
        </p:txBody>
      </p:sp>
      <p:sp>
        <p:nvSpPr>
          <p:cNvPr id="23" name="text-28"/>
          <p:cNvSpPr txBox="1"/>
          <p:nvPr/>
        </p:nvSpPr>
        <p:spPr>
          <a:xfrm>
            <a:off x="1325880" y="3749040"/>
            <a:ext cx="4069080" cy="475488"/>
          </a:xfrm>
          <a:prstGeom prst="rect">
            <a:avLst/>
          </a:prstGeom>
          <a:noFill/>
          <a:ln/>
        </p:spPr>
        <p:txBody>
          <a:bodyPr wrap="square" lIns="0" tIns="0" rIns="0" bIns="0" rtlCol="0" anchor="t"/>
          <a:lstStyle/>
          <a:p>
            <a:pPr indent="0" marL="0">
              <a:buNone/>
            </a:pPr>
            <a:r>
              <a:rPr lang="en-US" sz="1400" dirty="0">
                <a:solidFill>
                  <a:schemeClr val="tx1"/>
                </a:solidFill>
              </a:rPr>
              <a:t>The guest waits for every result; failures become error codes, never hangs.</a:t>
            </a:r>
            <a:endParaRPr lang="en-US" sz="1400" dirty="0"/>
          </a:p>
        </p:txBody>
      </p:sp>
      <p:sp>
        <p:nvSpPr>
          <p:cNvPr id="24" name="card-29"/>
          <p:cNvSpPr/>
          <p:nvPr/>
        </p:nvSpPr>
        <p:spPr>
          <a:xfrm>
            <a:off x="5715000" y="3291840"/>
            <a:ext cx="2971800" cy="1005840"/>
          </a:xfrm>
          <a:prstGeom prst="roundRect">
            <a:avLst>
              <a:gd name="adj" fmla="val 7273"/>
            </a:avLst>
          </a:prstGeom>
          <a:solidFill>
            <a:schemeClr val="tx2"/>
          </a:solidFill>
          <a:ln/>
        </p:spPr>
      </p:sp>
      <p:sp>
        <p:nvSpPr>
          <p:cNvPr id="25" name="text-30"/>
          <p:cNvSpPr txBox="1"/>
          <p:nvPr/>
        </p:nvSpPr>
        <p:spPr>
          <a:xfrm>
            <a:off x="5852160" y="3291840"/>
            <a:ext cx="914400" cy="1005840"/>
          </a:xfrm>
          <a:prstGeom prst="rect">
            <a:avLst/>
          </a:prstGeom>
          <a:noFill/>
          <a:ln/>
        </p:spPr>
        <p:txBody>
          <a:bodyPr wrap="square" lIns="0" tIns="0" rIns="0" bIns="0" rtlCol="0" anchor="ctr"/>
          <a:lstStyle/>
          <a:p>
            <a:pPr indent="0" marL="0">
              <a:buNone/>
            </a:pPr>
            <a:r>
              <a:rPr lang="en-US" sz="3600" b="1" dirty="0">
                <a:solidFill>
                  <a:schemeClr val="accent1"/>
                </a:solidFill>
              </a:rPr>
              <a:t>2</a:t>
            </a:r>
            <a:endParaRPr lang="en-US" sz="3600" dirty="0"/>
          </a:p>
        </p:txBody>
      </p:sp>
      <p:sp>
        <p:nvSpPr>
          <p:cNvPr id="26" name="text-31"/>
          <p:cNvSpPr txBox="1"/>
          <p:nvPr/>
        </p:nvSpPr>
        <p:spPr>
          <a:xfrm>
            <a:off x="6675120" y="3429000"/>
            <a:ext cx="1874520" cy="731520"/>
          </a:xfrm>
          <a:prstGeom prst="rect">
            <a:avLst/>
          </a:prstGeom>
          <a:noFill/>
          <a:ln/>
        </p:spPr>
        <p:txBody>
          <a:bodyPr wrap="square" lIns="0" tIns="0" rIns="0" bIns="0" rtlCol="0" anchor="ctr"/>
          <a:lstStyle/>
          <a:p>
            <a:pPr indent="0" marL="0">
              <a:buNone/>
            </a:pPr>
            <a:r>
              <a:rPr lang="en-US" sz="1400" dirty="0">
                <a:solidFill>
                  <a:schemeClr val="bg1"/>
                </a:solidFill>
              </a:rPr>
              <a:t>platforms, identical results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Where we started</a:t>
            </a:r>
            <a:endParaRPr lang="en-US" sz="3000" dirty="0"/>
          </a:p>
        </p:txBody>
      </p:sp>
      <p:sp>
        <p:nvSpPr>
          <p:cNvPr id="3" name="card-32"/>
          <p:cNvSpPr/>
          <p:nvPr/>
        </p:nvSpPr>
        <p:spPr>
          <a:xfrm>
            <a:off x="7086600" y="1051560"/>
            <a:ext cx="1554480" cy="2743200"/>
          </a:xfrm>
          <a:prstGeom prst="roundRect">
            <a:avLst>
              <a:gd name="adj" fmla="val 4706"/>
            </a:avLst>
          </a:prstGeom>
          <a:solidFill>
            <a:schemeClr val="bg2"/>
          </a:solidFill>
          <a:ln/>
        </p:spPr>
      </p:sp>
      <p:sp>
        <p:nvSpPr>
          <p:cNvPr id="4" name="arrow-33"/>
          <p:cNvSpPr/>
          <p:nvPr/>
        </p:nvSpPr>
        <p:spPr>
          <a:xfrm>
            <a:off x="1280160" y="1828800"/>
            <a:ext cx="6583680" cy="0"/>
          </a:xfrm>
          <a:prstGeom prst="line">
            <a:avLst/>
          </a:prstGeom>
          <a:noFill/>
          <a:ln w="15875">
            <a:solidFill>
              <a:schemeClr val="accent5"/>
            </a:solidFill>
            <a:prstDash val="solid"/>
          </a:ln>
        </p:spPr>
      </p:sp>
      <p:sp>
        <p:nvSpPr>
          <p:cNvPr id="5" name="text-34"/>
          <p:cNvSpPr txBox="1"/>
          <p:nvPr/>
        </p:nvSpPr>
        <p:spPr>
          <a:xfrm>
            <a:off x="502920" y="1143000"/>
            <a:ext cx="1554480" cy="274320"/>
          </a:xfrm>
          <a:prstGeom prst="rect">
            <a:avLst/>
          </a:prstGeom>
          <a:noFill/>
          <a:ln/>
        </p:spPr>
        <p:txBody>
          <a:bodyPr wrap="square" lIns="0" tIns="0" rIns="0" bIns="0" rtlCol="0" anchor="t"/>
          <a:lstStyle/>
          <a:p>
            <a:pPr algn="ctr" indent="0" marL="0">
              <a:buNone/>
            </a:pPr>
            <a:r>
              <a:rPr lang="en-US" sz="1200" dirty="0">
                <a:solidFill>
                  <a:schemeClr val="accent5"/>
                </a:solidFill>
              </a:rPr>
              <a:t>Oct 16</a:t>
            </a:r>
            <a:endParaRPr lang="en-US" sz="1200" dirty="0"/>
          </a:p>
        </p:txBody>
      </p:sp>
      <p:sp>
        <p:nvSpPr>
          <p:cNvPr id="6" name="icon-circle-35"/>
          <p:cNvSpPr/>
          <p:nvPr/>
        </p:nvSpPr>
        <p:spPr>
          <a:xfrm>
            <a:off x="1005840" y="1554480"/>
            <a:ext cx="548640" cy="548640"/>
          </a:xfrm>
          <a:prstGeom prst="ellipse">
            <a:avLst/>
          </a:prstGeom>
          <a:solidFill>
            <a:schemeClr val="tx2"/>
          </a:solidFill>
          <a:ln/>
        </p:spPr>
      </p:sp>
      <p:pic>
        <p:nvPicPr>
          <p:cNvPr id="7" name="icon-36" descr="Plug icon">    </p:cNvPr>
          <p:cNvPicPr>
            <a:picLocks noChangeAspect="1"/>
          </p:cNvPicPr>
          <p:nvPr/>
        </p:nvPicPr>
        <p:blipFill>
          <a:blip r:embed="rId1"/>
          <a:stretch>
            <a:fillRect/>
          </a:stretch>
        </p:blipFill>
        <p:spPr>
          <a:xfrm>
            <a:off x="1143000" y="1691640"/>
            <a:ext cx="274320" cy="274320"/>
          </a:xfrm>
          <a:prstGeom prst="rect">
            <a:avLst/>
          </a:prstGeom>
        </p:spPr>
      </p:pic>
      <p:sp>
        <p:nvSpPr>
          <p:cNvPr id="8" name="text-37"/>
          <p:cNvSpPr txBox="1"/>
          <p:nvPr/>
        </p:nvSpPr>
        <p:spPr>
          <a:xfrm>
            <a:off x="502920" y="2240280"/>
            <a:ext cx="1554480" cy="256032"/>
          </a:xfrm>
          <a:prstGeom prst="rect">
            <a:avLst/>
          </a:prstGeom>
          <a:noFill/>
          <a:ln/>
        </p:spPr>
        <p:txBody>
          <a:bodyPr wrap="square" lIns="0" tIns="0" rIns="0" bIns="0" rtlCol="0" anchor="t"/>
          <a:lstStyle/>
          <a:p>
            <a:pPr algn="ctr" indent="0" marL="0">
              <a:buNone/>
            </a:pPr>
            <a:r>
              <a:rPr lang="en-US" sz="1100" dirty="0">
                <a:solidFill>
                  <a:schemeClr val="accent5"/>
                </a:solidFill>
                <a:latin typeface="Courier New" pitchFamily="34" charset="0"/>
                <a:ea typeface="Courier New" pitchFamily="34" charset="-122"/>
                <a:cs typeface="Courier New" pitchFamily="34" charset="-120"/>
              </a:rPr>
              <a:t>e4307ca</a:t>
            </a:r>
            <a:endParaRPr lang="en-US" sz="1100" dirty="0"/>
          </a:p>
        </p:txBody>
      </p:sp>
      <p:sp>
        <p:nvSpPr>
          <p:cNvPr id="9" name="text-38"/>
          <p:cNvSpPr txBox="1"/>
          <p:nvPr/>
        </p:nvSpPr>
        <p:spPr>
          <a:xfrm>
            <a:off x="502920" y="2542032"/>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QEMU runs the CPU; GPIO in Verilator</a:t>
            </a:r>
            <a:endParaRPr lang="en-US" sz="1400" dirty="0"/>
          </a:p>
        </p:txBody>
      </p:sp>
      <p:sp>
        <p:nvSpPr>
          <p:cNvPr id="10" name="text-39"/>
          <p:cNvSpPr txBox="1"/>
          <p:nvPr/>
        </p:nvSpPr>
        <p:spPr>
          <a:xfrm>
            <a:off x="2148840" y="1143000"/>
            <a:ext cx="1554480" cy="274320"/>
          </a:xfrm>
          <a:prstGeom prst="rect">
            <a:avLst/>
          </a:prstGeom>
          <a:noFill/>
          <a:ln/>
        </p:spPr>
        <p:txBody>
          <a:bodyPr wrap="square" lIns="0" tIns="0" rIns="0" bIns="0" rtlCol="0" anchor="t"/>
          <a:lstStyle/>
          <a:p>
            <a:pPr algn="ctr" indent="0" marL="0">
              <a:buNone/>
            </a:pPr>
            <a:r>
              <a:rPr lang="en-US" sz="1200" dirty="0">
                <a:solidFill>
                  <a:schemeClr val="accent5"/>
                </a:solidFill>
              </a:rPr>
              <a:t>Oct 22</a:t>
            </a:r>
            <a:endParaRPr lang="en-US" sz="1200" dirty="0"/>
          </a:p>
        </p:txBody>
      </p:sp>
      <p:sp>
        <p:nvSpPr>
          <p:cNvPr id="11" name="icon-circle-40"/>
          <p:cNvSpPr/>
          <p:nvPr/>
        </p:nvSpPr>
        <p:spPr>
          <a:xfrm>
            <a:off x="2651760" y="1554480"/>
            <a:ext cx="548640" cy="548640"/>
          </a:xfrm>
          <a:prstGeom prst="ellipse">
            <a:avLst/>
          </a:prstGeom>
          <a:solidFill>
            <a:schemeClr val="tx2"/>
          </a:solidFill>
          <a:ln/>
        </p:spPr>
      </p:sp>
      <p:pic>
        <p:nvPicPr>
          <p:cNvPr id="12" name="icon-41" descr="Microchip icon">    </p:cNvPr>
          <p:cNvPicPr>
            <a:picLocks noChangeAspect="1"/>
          </p:cNvPicPr>
          <p:nvPr/>
        </p:nvPicPr>
        <p:blipFill>
          <a:blip r:embed="rId2"/>
          <a:stretch>
            <a:fillRect/>
          </a:stretch>
        </p:blipFill>
        <p:spPr>
          <a:xfrm>
            <a:off x="2788920" y="1691640"/>
            <a:ext cx="274320" cy="274320"/>
          </a:xfrm>
          <a:prstGeom prst="rect">
            <a:avLst/>
          </a:prstGeom>
        </p:spPr>
      </p:pic>
      <p:sp>
        <p:nvSpPr>
          <p:cNvPr id="13" name="text-42"/>
          <p:cNvSpPr txBox="1"/>
          <p:nvPr/>
        </p:nvSpPr>
        <p:spPr>
          <a:xfrm>
            <a:off x="2148840" y="2240280"/>
            <a:ext cx="1554480" cy="256032"/>
          </a:xfrm>
          <a:prstGeom prst="rect">
            <a:avLst/>
          </a:prstGeom>
          <a:noFill/>
          <a:ln/>
        </p:spPr>
        <p:txBody>
          <a:bodyPr wrap="square" lIns="0" tIns="0" rIns="0" bIns="0" rtlCol="0" anchor="t"/>
          <a:lstStyle/>
          <a:p>
            <a:pPr algn="ctr" indent="0" marL="0">
              <a:buNone/>
            </a:pPr>
            <a:r>
              <a:rPr lang="en-US" sz="1100" dirty="0">
                <a:solidFill>
                  <a:schemeClr val="accent5"/>
                </a:solidFill>
                <a:latin typeface="Courier New" pitchFamily="34" charset="0"/>
                <a:ea typeface="Courier New" pitchFamily="34" charset="-122"/>
                <a:cs typeface="Courier New" pitchFamily="34" charset="-120"/>
              </a:rPr>
              <a:t>a3ac4c1</a:t>
            </a:r>
            <a:endParaRPr lang="en-US" sz="1100" dirty="0"/>
          </a:p>
        </p:txBody>
      </p:sp>
      <p:sp>
        <p:nvSpPr>
          <p:cNvPr id="14" name="text-43"/>
          <p:cNvSpPr txBox="1"/>
          <p:nvPr/>
        </p:nvSpPr>
        <p:spPr>
          <a:xfrm>
            <a:off x="2148840" y="2542032"/>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Whole SoC in Verilator; QEMU is the console</a:t>
            </a:r>
            <a:endParaRPr lang="en-US" sz="1400" dirty="0"/>
          </a:p>
        </p:txBody>
      </p:sp>
      <p:sp>
        <p:nvSpPr>
          <p:cNvPr id="15" name="text-44"/>
          <p:cNvSpPr txBox="1"/>
          <p:nvPr/>
        </p:nvSpPr>
        <p:spPr>
          <a:xfrm>
            <a:off x="3794760" y="1143000"/>
            <a:ext cx="1554480" cy="274320"/>
          </a:xfrm>
          <a:prstGeom prst="rect">
            <a:avLst/>
          </a:prstGeom>
          <a:noFill/>
          <a:ln/>
        </p:spPr>
        <p:txBody>
          <a:bodyPr wrap="square" lIns="0" tIns="0" rIns="0" bIns="0" rtlCol="0" anchor="t"/>
          <a:lstStyle/>
          <a:p>
            <a:pPr algn="ctr" indent="0" marL="0">
              <a:buNone/>
            </a:pPr>
            <a:r>
              <a:rPr lang="en-US" sz="1200" dirty="0">
                <a:solidFill>
                  <a:schemeClr val="accent5"/>
                </a:solidFill>
              </a:rPr>
              <a:t>Oct 22</a:t>
            </a:r>
            <a:endParaRPr lang="en-US" sz="1200" dirty="0"/>
          </a:p>
        </p:txBody>
      </p:sp>
      <p:sp>
        <p:nvSpPr>
          <p:cNvPr id="16" name="icon-circle-45"/>
          <p:cNvSpPr/>
          <p:nvPr/>
        </p:nvSpPr>
        <p:spPr>
          <a:xfrm>
            <a:off x="4297680" y="1554480"/>
            <a:ext cx="548640" cy="548640"/>
          </a:xfrm>
          <a:prstGeom prst="ellipse">
            <a:avLst/>
          </a:prstGeom>
          <a:solidFill>
            <a:schemeClr val="tx2"/>
          </a:solidFill>
          <a:ln/>
        </p:spPr>
      </p:sp>
      <p:pic>
        <p:nvPicPr>
          <p:cNvPr id="17" name="icon-46" descr="LayerGroup icon">    </p:cNvPr>
          <p:cNvPicPr>
            <a:picLocks noChangeAspect="1"/>
          </p:cNvPicPr>
          <p:nvPr/>
        </p:nvPicPr>
        <p:blipFill>
          <a:blip r:embed="rId3"/>
          <a:stretch>
            <a:fillRect/>
          </a:stretch>
        </p:blipFill>
        <p:spPr>
          <a:xfrm>
            <a:off x="4434840" y="1691640"/>
            <a:ext cx="274320" cy="274320"/>
          </a:xfrm>
          <a:prstGeom prst="rect">
            <a:avLst/>
          </a:prstGeom>
        </p:spPr>
      </p:pic>
      <p:sp>
        <p:nvSpPr>
          <p:cNvPr id="18" name="text-47"/>
          <p:cNvSpPr txBox="1"/>
          <p:nvPr/>
        </p:nvSpPr>
        <p:spPr>
          <a:xfrm>
            <a:off x="3794760" y="2240280"/>
            <a:ext cx="1554480" cy="256032"/>
          </a:xfrm>
          <a:prstGeom prst="rect">
            <a:avLst/>
          </a:prstGeom>
          <a:noFill/>
          <a:ln/>
        </p:spPr>
        <p:txBody>
          <a:bodyPr wrap="square" lIns="0" tIns="0" rIns="0" bIns="0" rtlCol="0" anchor="t"/>
          <a:lstStyle/>
          <a:p>
            <a:pPr algn="ctr" indent="0" marL="0">
              <a:buNone/>
            </a:pPr>
            <a:r>
              <a:rPr lang="en-US" sz="1100" dirty="0">
                <a:solidFill>
                  <a:schemeClr val="accent5"/>
                </a:solidFill>
                <a:latin typeface="Courier New" pitchFamily="34" charset="0"/>
                <a:ea typeface="Courier New" pitchFamily="34" charset="-122"/>
                <a:cs typeface="Courier New" pitchFamily="34" charset="-120"/>
              </a:rPr>
              <a:t>f938bb0</a:t>
            </a:r>
            <a:endParaRPr lang="en-US" sz="1100" dirty="0"/>
          </a:p>
        </p:txBody>
      </p:sp>
      <p:sp>
        <p:nvSpPr>
          <p:cNvPr id="19" name="text-48"/>
          <p:cNvSpPr txBox="1"/>
          <p:nvPr/>
        </p:nvSpPr>
        <p:spPr>
          <a:xfrm>
            <a:off x="3794760" y="2542032"/>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QEMU CPU with RTL GPIO, UART, timer</a:t>
            </a:r>
            <a:endParaRPr lang="en-US" sz="1400" dirty="0"/>
          </a:p>
        </p:txBody>
      </p:sp>
      <p:sp>
        <p:nvSpPr>
          <p:cNvPr id="20" name="text-49"/>
          <p:cNvSpPr txBox="1"/>
          <p:nvPr/>
        </p:nvSpPr>
        <p:spPr>
          <a:xfrm>
            <a:off x="5440680" y="1143000"/>
            <a:ext cx="1554480" cy="274320"/>
          </a:xfrm>
          <a:prstGeom prst="rect">
            <a:avLst/>
          </a:prstGeom>
          <a:noFill/>
          <a:ln/>
        </p:spPr>
        <p:txBody>
          <a:bodyPr wrap="square" lIns="0" tIns="0" rIns="0" bIns="0" rtlCol="0" anchor="t"/>
          <a:lstStyle/>
          <a:p>
            <a:pPr algn="ctr" indent="0" marL="0">
              <a:buNone/>
            </a:pPr>
            <a:r>
              <a:rPr lang="en-US" sz="1200" dirty="0">
                <a:solidFill>
                  <a:schemeClr val="accent5"/>
                </a:solidFill>
              </a:rPr>
              <a:t>Oct 23</a:t>
            </a:r>
            <a:endParaRPr lang="en-US" sz="1200" dirty="0"/>
          </a:p>
        </p:txBody>
      </p:sp>
      <p:sp>
        <p:nvSpPr>
          <p:cNvPr id="21" name="icon-circle-50"/>
          <p:cNvSpPr/>
          <p:nvPr/>
        </p:nvSpPr>
        <p:spPr>
          <a:xfrm>
            <a:off x="5943600" y="1554480"/>
            <a:ext cx="548640" cy="548640"/>
          </a:xfrm>
          <a:prstGeom prst="ellipse">
            <a:avLst/>
          </a:prstGeom>
          <a:solidFill>
            <a:schemeClr val="tx2"/>
          </a:solidFill>
          <a:ln/>
        </p:spPr>
      </p:sp>
      <p:pic>
        <p:nvPicPr>
          <p:cNvPr id="22" name="icon-51" descr="Plug icon">    </p:cNvPr>
          <p:cNvPicPr>
            <a:picLocks noChangeAspect="1"/>
          </p:cNvPicPr>
          <p:nvPr/>
        </p:nvPicPr>
        <p:blipFill>
          <a:blip r:embed="rId4"/>
          <a:stretch>
            <a:fillRect/>
          </a:stretch>
        </p:blipFill>
        <p:spPr>
          <a:xfrm>
            <a:off x="6080760" y="1691640"/>
            <a:ext cx="274320" cy="274320"/>
          </a:xfrm>
          <a:prstGeom prst="rect">
            <a:avLst/>
          </a:prstGeom>
        </p:spPr>
      </p:pic>
      <p:sp>
        <p:nvSpPr>
          <p:cNvPr id="23" name="text-52"/>
          <p:cNvSpPr txBox="1"/>
          <p:nvPr/>
        </p:nvSpPr>
        <p:spPr>
          <a:xfrm>
            <a:off x="5440680" y="2240280"/>
            <a:ext cx="1554480" cy="256032"/>
          </a:xfrm>
          <a:prstGeom prst="rect">
            <a:avLst/>
          </a:prstGeom>
          <a:noFill/>
          <a:ln/>
        </p:spPr>
        <p:txBody>
          <a:bodyPr wrap="square" lIns="0" tIns="0" rIns="0" bIns="0" rtlCol="0" anchor="t"/>
          <a:lstStyle/>
          <a:p>
            <a:pPr algn="ctr" indent="0" marL="0">
              <a:buNone/>
            </a:pPr>
            <a:r>
              <a:rPr lang="en-US" sz="1100" dirty="0">
                <a:solidFill>
                  <a:schemeClr val="accent5"/>
                </a:solidFill>
                <a:latin typeface="Courier New" pitchFamily="34" charset="0"/>
                <a:ea typeface="Courier New" pitchFamily="34" charset="-122"/>
                <a:cs typeface="Courier New" pitchFamily="34" charset="-120"/>
              </a:rPr>
              <a:t>9de0957</a:t>
            </a:r>
            <a:endParaRPr lang="en-US" sz="1100" dirty="0"/>
          </a:p>
        </p:txBody>
      </p:sp>
      <p:sp>
        <p:nvSpPr>
          <p:cNvPr id="24" name="text-53"/>
          <p:cNvSpPr txBox="1"/>
          <p:nvPr/>
        </p:nvSpPr>
        <p:spPr>
          <a:xfrm>
            <a:off x="5440680" y="2542032"/>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Plugin computes the GEMM inside QEMU</a:t>
            </a:r>
            <a:endParaRPr lang="en-US" sz="1400" dirty="0"/>
          </a:p>
        </p:txBody>
      </p:sp>
      <p:sp>
        <p:nvSpPr>
          <p:cNvPr id="25" name="text-54"/>
          <p:cNvSpPr txBox="1"/>
          <p:nvPr/>
        </p:nvSpPr>
        <p:spPr>
          <a:xfrm>
            <a:off x="7086600" y="1143000"/>
            <a:ext cx="1554480" cy="274320"/>
          </a:xfrm>
          <a:prstGeom prst="rect">
            <a:avLst/>
          </a:prstGeom>
          <a:noFill/>
          <a:ln/>
        </p:spPr>
        <p:txBody>
          <a:bodyPr wrap="square" lIns="0" tIns="0" rIns="0" bIns="0" rtlCol="0" anchor="t"/>
          <a:lstStyle/>
          <a:p>
            <a:pPr algn="ctr" indent="0" marL="0">
              <a:buNone/>
            </a:pPr>
            <a:r>
              <a:rPr lang="en-US" sz="1200" dirty="0">
                <a:solidFill>
                  <a:schemeClr val="accent5"/>
                </a:solidFill>
              </a:rPr>
              <a:t>Oct 28</a:t>
            </a:r>
            <a:endParaRPr lang="en-US" sz="1200" dirty="0"/>
          </a:p>
        </p:txBody>
      </p:sp>
      <p:sp>
        <p:nvSpPr>
          <p:cNvPr id="26" name="icon-circle-55"/>
          <p:cNvSpPr/>
          <p:nvPr/>
        </p:nvSpPr>
        <p:spPr>
          <a:xfrm>
            <a:off x="7589520" y="1554480"/>
            <a:ext cx="548640" cy="548640"/>
          </a:xfrm>
          <a:prstGeom prst="ellipse">
            <a:avLst/>
          </a:prstGeom>
          <a:solidFill>
            <a:schemeClr val="accent1"/>
          </a:solidFill>
          <a:ln/>
        </p:spPr>
      </p:sp>
      <p:pic>
        <p:nvPicPr>
          <p:cNvPr id="27" name="icon-56" descr="Server icon">    </p:cNvPr>
          <p:cNvPicPr>
            <a:picLocks noChangeAspect="1"/>
          </p:cNvPicPr>
          <p:nvPr/>
        </p:nvPicPr>
        <p:blipFill>
          <a:blip r:embed="rId5"/>
          <a:stretch>
            <a:fillRect/>
          </a:stretch>
        </p:blipFill>
        <p:spPr>
          <a:xfrm>
            <a:off x="7726680" y="1691640"/>
            <a:ext cx="274320" cy="274320"/>
          </a:xfrm>
          <a:prstGeom prst="rect">
            <a:avLst/>
          </a:prstGeom>
        </p:spPr>
      </p:pic>
      <p:sp>
        <p:nvSpPr>
          <p:cNvPr id="28" name="text-57"/>
          <p:cNvSpPr txBox="1"/>
          <p:nvPr/>
        </p:nvSpPr>
        <p:spPr>
          <a:xfrm>
            <a:off x="7086600" y="2240280"/>
            <a:ext cx="1554480" cy="256032"/>
          </a:xfrm>
          <a:prstGeom prst="rect">
            <a:avLst/>
          </a:prstGeom>
          <a:noFill/>
          <a:ln/>
        </p:spPr>
        <p:txBody>
          <a:bodyPr wrap="square" lIns="0" tIns="0" rIns="0" bIns="0" rtlCol="0" anchor="t"/>
          <a:lstStyle/>
          <a:p>
            <a:pPr algn="ctr" indent="0" marL="0">
              <a:buNone/>
            </a:pPr>
            <a:r>
              <a:rPr lang="en-US" sz="1100" dirty="0">
                <a:solidFill>
                  <a:schemeClr val="accent5"/>
                </a:solidFill>
                <a:latin typeface="Courier New" pitchFamily="34" charset="0"/>
                <a:ea typeface="Courier New" pitchFamily="34" charset="-122"/>
                <a:cs typeface="Courier New" pitchFamily="34" charset="-120"/>
              </a:rPr>
              <a:t>21267e2–acc7191</a:t>
            </a:r>
            <a:endParaRPr lang="en-US" sz="1100" dirty="0"/>
          </a:p>
        </p:txBody>
      </p:sp>
      <p:sp>
        <p:nvSpPr>
          <p:cNvPr id="29" name="text-58"/>
          <p:cNvSpPr txBox="1"/>
          <p:nvPr/>
        </p:nvSpPr>
        <p:spPr>
          <a:xfrm>
            <a:off x="7086600" y="2542032"/>
            <a:ext cx="1554480" cy="1097280"/>
          </a:xfrm>
          <a:prstGeom prst="rect">
            <a:avLst/>
          </a:prstGeom>
          <a:noFill/>
          <a:ln/>
        </p:spPr>
        <p:txBody>
          <a:bodyPr wrap="square" lIns="0" tIns="0" rIns="0" bIns="0" rtlCol="0" anchor="t"/>
          <a:lstStyle/>
          <a:p>
            <a:pPr algn="ctr" indent="0" marL="0">
              <a:buNone/>
            </a:pPr>
            <a:r>
              <a:rPr lang="en-US" sz="1400" b="1" dirty="0">
                <a:solidFill>
                  <a:schemeClr val="tx2"/>
                </a:solidFill>
              </a:rPr>
              <a:t>This work: the NPU in its own daemon</a:t>
            </a:r>
            <a:endParaRPr lang="en-US" sz="1400" dirty="0"/>
          </a:p>
        </p:txBody>
      </p:sp>
      <p:sp>
        <p:nvSpPr>
          <p:cNvPr id="30" name="text-59"/>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400" i="1" dirty="0">
                <a:solidFill>
                  <a:schemeClr val="accent5"/>
                </a:solidFill>
              </a:rPr>
              <a:t>Step 4's idea, the math done inside QEMU, survives as the “direct” build that the performance slides compare against.</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743200" cy="868680"/>
          </a:xfrm>
          <a:prstGeom prst="rect">
            <a:avLst/>
          </a:prstGeom>
          <a:noFill/>
          <a:ln/>
        </p:spPr>
        <p:txBody>
          <a:bodyPr wrap="square" lIns="0" tIns="0" rIns="0" bIns="0" rtlCol="0" anchor="b"/>
          <a:lstStyle/>
          <a:p>
            <a:pPr indent="0" marL="0">
              <a:buNone/>
            </a:pPr>
            <a:r>
              <a:rPr lang="en-US" sz="4800" b="1" dirty="0">
                <a:solidFill>
                  <a:schemeClr val="accent1"/>
                </a:solidFill>
              </a:rPr>
              <a:t>01</a:t>
            </a:r>
            <a:endParaRPr lang="en-US" sz="4800" dirty="0"/>
          </a:p>
        </p:txBody>
      </p:sp>
      <p:sp>
        <p:nvSpPr>
          <p:cNvPr id="3" name="Text 0"/>
          <p:cNvSpPr/>
          <p:nvPr>
            <p:ph idx="101" type="title" hasCustomPrompt="1"/>
          </p:nvPr>
        </p:nvSpPr>
        <p:spPr>
          <a:xfrm>
            <a:off x="548640" y="2011680"/>
            <a:ext cx="5852160" cy="822960"/>
          </a:xfrm>
          <a:prstGeom prst="rect">
            <a:avLst/>
          </a:prstGeom>
          <a:noFill/>
          <a:ln/>
        </p:spPr>
        <p:txBody>
          <a:bodyPr wrap="square" lIns="0" tIns="0" rIns="0" bIns="0" rtlCol="0" anchor="ctr"/>
          <a:lstStyle/>
          <a:p>
            <a:pPr algn="l" indent="0" marL="0">
              <a:buNone/>
            </a:pPr>
            <a:r>
              <a:rPr lang="en-US" sz="3600" b="1" dirty="0">
                <a:solidFill>
                  <a:schemeClr val="bg1"/>
                </a:solidFill>
              </a:rPr>
              <a:t>Architecture</a:t>
            </a:r>
            <a:endParaRPr lang="en-US" sz="3600" dirty="0"/>
          </a:p>
        </p:txBody>
      </p:sp>
      <p:sp>
        <p:nvSpPr>
          <p:cNvPr id="4" name="Text 0"/>
          <p:cNvSpPr/>
          <p:nvPr>
            <p:ph idx="102" type="body" hasCustomPrompt="1"/>
          </p:nvPr>
        </p:nvSpPr>
        <p:spPr>
          <a:xfrm>
            <a:off x="548640" y="2880360"/>
            <a:ext cx="5852160" cy="640080"/>
          </a:xfrm>
          <a:prstGeom prst="rect">
            <a:avLst/>
          </a:prstGeom>
          <a:noFill/>
          <a:ln/>
        </p:spPr>
        <p:txBody>
          <a:bodyPr wrap="square" lIns="0" tIns="0" rIns="0" bIns="0" rtlCol="0" anchor="t"/>
          <a:lstStyle/>
          <a:p>
            <a:pPr indent="0" marL="0">
              <a:buNone/>
            </a:pPr>
            <a:r>
              <a:rPr lang="en-US" sz="1800" dirty="0">
                <a:solidFill>
                  <a:schemeClr val="accent3"/>
                </a:solidFill>
              </a:rPr>
              <a:t>Two processes, one socket, two contracts</a:t>
            </a:r>
            <a:endParaRPr lang="en-US" sz="1800" dirty="0"/>
          </a:p>
        </p:txBody>
      </p:sp>
      <p:sp>
        <p:nvSpPr>
          <p:cNvPr id="5" name="icon-circle-60"/>
          <p:cNvSpPr/>
          <p:nvPr/>
        </p:nvSpPr>
        <p:spPr>
          <a:xfrm>
            <a:off x="6812280" y="1417320"/>
            <a:ext cx="1600200" cy="1600200"/>
          </a:xfrm>
          <a:prstGeom prst="ellipse">
            <a:avLst/>
          </a:prstGeom>
          <a:solidFill>
            <a:schemeClr val="accent2"/>
          </a:solidFill>
          <a:ln/>
        </p:spPr>
      </p:sp>
      <p:pic>
        <p:nvPicPr>
          <p:cNvPr id="6" name="icon-61" descr="ProjectDiagram icon">    </p:cNvPr>
          <p:cNvPicPr>
            <a:picLocks noChangeAspect="1"/>
          </p:cNvPicPr>
          <p:nvPr/>
        </p:nvPicPr>
        <p:blipFill>
          <a:blip r:embed="rId1"/>
          <a:stretch>
            <a:fillRect/>
          </a:stretch>
        </p:blipFill>
        <p:spPr>
          <a:xfrm>
            <a:off x="7212330" y="1817370"/>
            <a:ext cx="800100" cy="800100"/>
          </a:xfrm>
          <a:prstGeom prst="rect">
            <a:avLst/>
          </a:prstGeom>
        </p:spPr>
      </p:pic>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Two processes, one socket</a:t>
            </a:r>
            <a:endParaRPr lang="en-US" sz="3000" dirty="0"/>
          </a:p>
        </p:txBody>
      </p:sp>
      <p:sp>
        <p:nvSpPr>
          <p:cNvPr id="3" name="card-62"/>
          <p:cNvSpPr/>
          <p:nvPr/>
        </p:nvSpPr>
        <p:spPr>
          <a:xfrm>
            <a:off x="457200" y="1051560"/>
            <a:ext cx="3657600" cy="3337560"/>
          </a:xfrm>
          <a:prstGeom prst="roundRect">
            <a:avLst>
              <a:gd name="adj" fmla="val 2192"/>
            </a:avLst>
          </a:prstGeom>
          <a:solidFill>
            <a:schemeClr val="bg2"/>
          </a:solidFill>
          <a:ln/>
        </p:spPr>
      </p:sp>
      <p:sp>
        <p:nvSpPr>
          <p:cNvPr id="4" name="text-63"/>
          <p:cNvSpPr txBox="1"/>
          <p:nvPr/>
        </p:nvSpPr>
        <p:spPr>
          <a:xfrm>
            <a:off x="640080" y="1143000"/>
            <a:ext cx="3291840" cy="320040"/>
          </a:xfrm>
          <a:prstGeom prst="rect">
            <a:avLst/>
          </a:prstGeom>
          <a:noFill/>
          <a:ln/>
        </p:spPr>
        <p:txBody>
          <a:bodyPr wrap="square" lIns="0" tIns="0" rIns="0" bIns="0" rtlCol="0" anchor="t"/>
          <a:lstStyle/>
          <a:p>
            <a:pPr indent="0" marL="0">
              <a:buNone/>
            </a:pPr>
            <a:r>
              <a:rPr lang="en-US" sz="1500" b="1" dirty="0">
                <a:solidFill>
                  <a:schemeClr val="tx2"/>
                </a:solidFill>
              </a:rPr>
              <a:t>QEMU process · the VP</a:t>
            </a:r>
            <a:endParaRPr lang="en-US" sz="1500" dirty="0"/>
          </a:p>
        </p:txBody>
      </p:sp>
      <p:sp>
        <p:nvSpPr>
          <p:cNvPr id="5" name="card-64"/>
          <p:cNvSpPr/>
          <p:nvPr/>
        </p:nvSpPr>
        <p:spPr>
          <a:xfrm>
            <a:off x="5029200" y="1051560"/>
            <a:ext cx="3657600" cy="3337560"/>
          </a:xfrm>
          <a:prstGeom prst="roundRect">
            <a:avLst>
              <a:gd name="adj" fmla="val 2192"/>
            </a:avLst>
          </a:prstGeom>
          <a:solidFill>
            <a:schemeClr val="bg2"/>
          </a:solidFill>
          <a:ln/>
        </p:spPr>
      </p:sp>
      <p:sp>
        <p:nvSpPr>
          <p:cNvPr id="6" name="text-65"/>
          <p:cNvSpPr txBox="1"/>
          <p:nvPr/>
        </p:nvSpPr>
        <p:spPr>
          <a:xfrm>
            <a:off x="5212080" y="1143000"/>
            <a:ext cx="3291840" cy="320040"/>
          </a:xfrm>
          <a:prstGeom prst="rect">
            <a:avLst/>
          </a:prstGeom>
          <a:noFill/>
          <a:ln/>
        </p:spPr>
        <p:txBody>
          <a:bodyPr wrap="square" lIns="0" tIns="0" rIns="0" bIns="0" rtlCol="0" anchor="t"/>
          <a:lstStyle/>
          <a:p>
            <a:pPr indent="0" marL="0">
              <a:buNone/>
            </a:pPr>
            <a:r>
              <a:rPr lang="en-US" sz="1500" b="1" dirty="0">
                <a:solidFill>
                  <a:schemeClr val="tx2"/>
                </a:solidFill>
              </a:rPr>
              <a:t>matmul_daemon · the NPU</a:t>
            </a:r>
            <a:endParaRPr lang="en-US" sz="1500" dirty="0"/>
          </a:p>
        </p:txBody>
      </p:sp>
      <p:sp>
        <p:nvSpPr>
          <p:cNvPr id="7" name="card-66"/>
          <p:cNvSpPr/>
          <p:nvPr/>
        </p:nvSpPr>
        <p:spPr>
          <a:xfrm>
            <a:off x="685800" y="1554480"/>
            <a:ext cx="3200400" cy="960120"/>
          </a:xfrm>
          <a:prstGeom prst="roundRect">
            <a:avLst>
              <a:gd name="adj" fmla="val 7619"/>
            </a:avLst>
          </a:prstGeom>
          <a:solidFill>
            <a:schemeClr val="bg1"/>
          </a:solidFill>
          <a:ln w="19050">
            <a:solidFill>
              <a:schemeClr val="accent2"/>
            </a:solidFill>
            <a:prstDash val="solid"/>
          </a:ln>
        </p:spPr>
      </p:sp>
      <p:sp>
        <p:nvSpPr>
          <p:cNvPr id="8" name="text-67"/>
          <p:cNvSpPr txBox="1"/>
          <p:nvPr/>
        </p:nvSpPr>
        <p:spPr>
          <a:xfrm>
            <a:off x="868680" y="1645920"/>
            <a:ext cx="2834640" cy="292608"/>
          </a:xfrm>
          <a:prstGeom prst="rect">
            <a:avLst/>
          </a:prstGeom>
          <a:noFill/>
          <a:ln/>
        </p:spPr>
        <p:txBody>
          <a:bodyPr wrap="square" lIns="0" tIns="0" rIns="0" bIns="0" rtlCol="0" anchor="t"/>
          <a:lstStyle/>
          <a:p>
            <a:pPr indent="0" marL="0">
              <a:buNone/>
            </a:pPr>
            <a:r>
              <a:rPr lang="en-US" sz="1400" b="1" dirty="0">
                <a:solidFill>
                  <a:schemeClr val="tx2"/>
                </a:solidFill>
              </a:rPr>
              <a:t>vCPU thread: Ibex firmware</a:t>
            </a:r>
            <a:endParaRPr lang="en-US" sz="1400" dirty="0"/>
          </a:p>
        </p:txBody>
      </p:sp>
      <p:sp>
        <p:nvSpPr>
          <p:cNvPr id="9" name="text-68"/>
          <p:cNvSpPr txBox="1"/>
          <p:nvPr/>
        </p:nvSpPr>
        <p:spPr>
          <a:xfrm>
            <a:off x="868680" y="1956816"/>
            <a:ext cx="2834640" cy="502920"/>
          </a:xfrm>
          <a:prstGeom prst="rect">
            <a:avLst/>
          </a:prstGeom>
          <a:noFill/>
          <a:ln/>
        </p:spPr>
        <p:txBody>
          <a:bodyPr wrap="square" lIns="0" tIns="0" rIns="0" bIns="0" rtlCol="0" anchor="t"/>
          <a:lstStyle/>
          <a:p>
            <a:pPr indent="0" marL="0">
              <a:buNone/>
            </a:pPr>
            <a:r>
              <a:rPr lang="en-US" sz="1400" dirty="0">
                <a:solidFill>
                  <a:schemeClr val="tx1"/>
                </a:solidFill>
              </a:rPr>
              <a:t>Runs RISC-V code with TCG; stores 1 to 0x0011C014</a:t>
            </a:r>
            <a:endParaRPr lang="en-US" sz="1400" dirty="0"/>
          </a:p>
        </p:txBody>
      </p:sp>
      <p:sp>
        <p:nvSpPr>
          <p:cNvPr id="10" name="card-69"/>
          <p:cNvSpPr/>
          <p:nvPr/>
        </p:nvSpPr>
        <p:spPr>
          <a:xfrm>
            <a:off x="685800" y="2834640"/>
            <a:ext cx="3200400" cy="1371600"/>
          </a:xfrm>
          <a:prstGeom prst="roundRect">
            <a:avLst>
              <a:gd name="adj" fmla="val 5333"/>
            </a:avLst>
          </a:prstGeom>
          <a:solidFill>
            <a:schemeClr val="bg1"/>
          </a:solidFill>
          <a:ln w="19050">
            <a:solidFill>
              <a:schemeClr val="accent1"/>
            </a:solidFill>
            <a:prstDash val="solid"/>
          </a:ln>
        </p:spPr>
      </p:sp>
      <p:sp>
        <p:nvSpPr>
          <p:cNvPr id="11" name="text-70"/>
          <p:cNvSpPr txBox="1"/>
          <p:nvPr/>
        </p:nvSpPr>
        <p:spPr>
          <a:xfrm>
            <a:off x="868680" y="2926080"/>
            <a:ext cx="2834640" cy="292608"/>
          </a:xfrm>
          <a:prstGeom prst="rect">
            <a:avLst/>
          </a:prstGeom>
          <a:noFill/>
          <a:ln/>
        </p:spPr>
        <p:txBody>
          <a:bodyPr wrap="square" lIns="0" tIns="0" rIns="0" bIns="0" rtlCol="0" anchor="t"/>
          <a:lstStyle/>
          <a:p>
            <a:pPr indent="0" marL="0">
              <a:buNone/>
            </a:pPr>
            <a:r>
              <a:rPr lang="en-US" sz="1400" b="1" dirty="0">
                <a:solidFill>
                  <a:schemeClr val="tx2"/>
                </a:solidFill>
              </a:rPr>
              <a:t>matmul_plugin.so</a:t>
            </a:r>
            <a:endParaRPr lang="en-US" sz="1400" dirty="0"/>
          </a:p>
        </p:txBody>
      </p:sp>
      <p:sp>
        <p:nvSpPr>
          <p:cNvPr id="12" name="text-71"/>
          <p:cNvSpPr txBox="1"/>
          <p:nvPr/>
        </p:nvSpPr>
        <p:spPr>
          <a:xfrm>
            <a:off x="868680" y="3236976"/>
            <a:ext cx="2834640" cy="914400"/>
          </a:xfrm>
          <a:prstGeom prst="rect">
            <a:avLst/>
          </a:prstGeom>
          <a:noFill/>
          <a:ln/>
        </p:spPr>
        <p:txBody>
          <a:bodyPr wrap="square" lIns="0" tIns="0" rIns="0" bIns="0" rtlCol="0" anchor="t"/>
          <a:lstStyle/>
          <a:p>
            <a:pPr indent="0" marL="0">
              <a:buNone/>
            </a:pPr>
            <a:r>
              <a:rPr lang="en-US" sz="1400" dirty="0">
                <a:solidFill>
                  <a:schemeClr val="tx1"/>
                </a:solidFill>
              </a:rPr>
              <a:t>Store callback reads A and B, sends the request, writes C and STATUS</a:t>
            </a:r>
            <a:endParaRPr lang="en-US" sz="1400" dirty="0"/>
          </a:p>
        </p:txBody>
      </p:sp>
      <p:sp>
        <p:nvSpPr>
          <p:cNvPr id="13" name="card-72"/>
          <p:cNvSpPr/>
          <p:nvPr/>
        </p:nvSpPr>
        <p:spPr>
          <a:xfrm>
            <a:off x="5257800" y="1554480"/>
            <a:ext cx="3200400" cy="960120"/>
          </a:xfrm>
          <a:prstGeom prst="roundRect">
            <a:avLst>
              <a:gd name="adj" fmla="val 7619"/>
            </a:avLst>
          </a:prstGeom>
          <a:solidFill>
            <a:schemeClr val="bg1"/>
          </a:solidFill>
          <a:ln w="19050">
            <a:solidFill>
              <a:schemeClr val="accent2"/>
            </a:solidFill>
            <a:prstDash val="solid"/>
          </a:ln>
        </p:spPr>
      </p:sp>
      <p:sp>
        <p:nvSpPr>
          <p:cNvPr id="14" name="text-73"/>
          <p:cNvSpPr txBox="1"/>
          <p:nvPr/>
        </p:nvSpPr>
        <p:spPr>
          <a:xfrm>
            <a:off x="5440680" y="1645920"/>
            <a:ext cx="2834640" cy="292608"/>
          </a:xfrm>
          <a:prstGeom prst="rect">
            <a:avLst/>
          </a:prstGeom>
          <a:noFill/>
          <a:ln/>
        </p:spPr>
        <p:txBody>
          <a:bodyPr wrap="square" lIns="0" tIns="0" rIns="0" bIns="0" rtlCol="0" anchor="t"/>
          <a:lstStyle/>
          <a:p>
            <a:pPr indent="0" marL="0">
              <a:buNone/>
            </a:pPr>
            <a:r>
              <a:rPr lang="en-US" sz="1400" b="1" dirty="0">
                <a:solidFill>
                  <a:schemeClr val="tx2"/>
                </a:solidFill>
              </a:rPr>
              <a:t>Main thread</a:t>
            </a:r>
            <a:endParaRPr lang="en-US" sz="1400" dirty="0"/>
          </a:p>
        </p:txBody>
      </p:sp>
      <p:sp>
        <p:nvSpPr>
          <p:cNvPr id="15" name="text-74"/>
          <p:cNvSpPr txBox="1"/>
          <p:nvPr/>
        </p:nvSpPr>
        <p:spPr>
          <a:xfrm>
            <a:off x="5440680" y="1956816"/>
            <a:ext cx="2834640" cy="502920"/>
          </a:xfrm>
          <a:prstGeom prst="rect">
            <a:avLst/>
          </a:prstGeom>
          <a:noFill/>
          <a:ln/>
        </p:spPr>
        <p:txBody>
          <a:bodyPr wrap="square" lIns="0" tIns="0" rIns="0" bIns="0" rtlCol="0" anchor="t"/>
          <a:lstStyle/>
          <a:p>
            <a:pPr indent="0" marL="0">
              <a:buNone/>
            </a:pPr>
            <a:r>
              <a:rPr lang="en-US" sz="1400" dirty="0">
                <a:solidFill>
                  <a:schemeClr val="tx1"/>
                </a:solidFill>
              </a:rPr>
              <a:t>poll() on the socket; accepts each VP and starts a thread for it</a:t>
            </a:r>
            <a:endParaRPr lang="en-US" sz="1400" dirty="0"/>
          </a:p>
        </p:txBody>
      </p:sp>
      <p:sp>
        <p:nvSpPr>
          <p:cNvPr id="16" name="card-75"/>
          <p:cNvSpPr/>
          <p:nvPr/>
        </p:nvSpPr>
        <p:spPr>
          <a:xfrm>
            <a:off x="5257800" y="2834640"/>
            <a:ext cx="3200400" cy="1371600"/>
          </a:xfrm>
          <a:prstGeom prst="roundRect">
            <a:avLst>
              <a:gd name="adj" fmla="val 5333"/>
            </a:avLst>
          </a:prstGeom>
          <a:solidFill>
            <a:schemeClr val="bg1"/>
          </a:solidFill>
          <a:ln w="19050">
            <a:solidFill>
              <a:schemeClr val="accent1"/>
            </a:solidFill>
            <a:prstDash val="solid"/>
          </a:ln>
        </p:spPr>
      </p:sp>
      <p:sp>
        <p:nvSpPr>
          <p:cNvPr id="17" name="text-76"/>
          <p:cNvSpPr txBox="1"/>
          <p:nvPr/>
        </p:nvSpPr>
        <p:spPr>
          <a:xfrm>
            <a:off x="5440680" y="2926080"/>
            <a:ext cx="2834640" cy="292608"/>
          </a:xfrm>
          <a:prstGeom prst="rect">
            <a:avLst/>
          </a:prstGeom>
          <a:noFill/>
          <a:ln/>
        </p:spPr>
        <p:txBody>
          <a:bodyPr wrap="square" lIns="0" tIns="0" rIns="0" bIns="0" rtlCol="0" anchor="t"/>
          <a:lstStyle/>
          <a:p>
            <a:pPr indent="0" marL="0">
              <a:buNone/>
            </a:pPr>
            <a:r>
              <a:rPr lang="en-US" sz="1400" b="1" dirty="0">
                <a:solidFill>
                  <a:schemeClr val="tx2"/>
                </a:solidFill>
              </a:rPr>
              <a:t>Client thread, one per VP</a:t>
            </a:r>
            <a:endParaRPr lang="en-US" sz="1400" dirty="0"/>
          </a:p>
        </p:txBody>
      </p:sp>
      <p:sp>
        <p:nvSpPr>
          <p:cNvPr id="18" name="text-77"/>
          <p:cNvSpPr txBox="1"/>
          <p:nvPr/>
        </p:nvSpPr>
        <p:spPr>
          <a:xfrm>
            <a:off x="5440680" y="3236976"/>
            <a:ext cx="2834640" cy="914400"/>
          </a:xfrm>
          <a:prstGeom prst="rect">
            <a:avLst/>
          </a:prstGeom>
          <a:noFill/>
          <a:ln/>
        </p:spPr>
        <p:txBody>
          <a:bodyPr wrap="square" lIns="0" tIns="0" rIns="0" bIns="0" rtlCol="0" anchor="t"/>
          <a:lstStyle/>
          <a:p>
            <a:pPr indent="0" marL="0">
              <a:buNone/>
            </a:pPr>
            <a:r>
              <a:rPr lang="en-US" sz="1400" dirty="0">
                <a:solidFill>
                  <a:schemeClr val="tx1"/>
                </a:solidFill>
              </a:rPr>
              <a:t>Checks the request, runs C = A × B, replies with C and timing</a:t>
            </a:r>
            <a:endParaRPr lang="en-US" sz="1400" dirty="0"/>
          </a:p>
        </p:txBody>
      </p:sp>
      <p:sp>
        <p:nvSpPr>
          <p:cNvPr id="19" name="arrow-78"/>
          <p:cNvSpPr/>
          <p:nvPr/>
        </p:nvSpPr>
        <p:spPr>
          <a:xfrm>
            <a:off x="2286000" y="2514600"/>
            <a:ext cx="0" cy="320040"/>
          </a:xfrm>
          <a:prstGeom prst="line">
            <a:avLst/>
          </a:prstGeom>
          <a:noFill/>
          <a:ln w="19050">
            <a:solidFill>
              <a:schemeClr val="accent5"/>
            </a:solidFill>
            <a:prstDash val="solid"/>
            <a:tailEnd type="triangle"/>
          </a:ln>
        </p:spPr>
      </p:sp>
      <p:sp>
        <p:nvSpPr>
          <p:cNvPr id="20" name="arrow-79"/>
          <p:cNvSpPr/>
          <p:nvPr/>
        </p:nvSpPr>
        <p:spPr>
          <a:xfrm>
            <a:off x="6858000" y="2514600"/>
            <a:ext cx="0" cy="320040"/>
          </a:xfrm>
          <a:prstGeom prst="line">
            <a:avLst/>
          </a:prstGeom>
          <a:noFill/>
          <a:ln w="19050">
            <a:solidFill>
              <a:schemeClr val="accent5"/>
            </a:solidFill>
            <a:prstDash val="solid"/>
            <a:tailEnd type="triangle"/>
          </a:ln>
        </p:spPr>
      </p:sp>
      <p:sp>
        <p:nvSpPr>
          <p:cNvPr id="21" name="icon-circle-80"/>
          <p:cNvSpPr/>
          <p:nvPr/>
        </p:nvSpPr>
        <p:spPr>
          <a:xfrm>
            <a:off x="4315968" y="1691640"/>
            <a:ext cx="512064" cy="512064"/>
          </a:xfrm>
          <a:prstGeom prst="ellipse">
            <a:avLst/>
          </a:prstGeom>
          <a:solidFill>
            <a:schemeClr val="tx2"/>
          </a:solidFill>
          <a:ln/>
        </p:spPr>
      </p:sp>
      <p:pic>
        <p:nvPicPr>
          <p:cNvPr id="22" name="icon-81" descr="ExchangeAlt icon">    </p:cNvPr>
          <p:cNvPicPr>
            <a:picLocks noChangeAspect="1"/>
          </p:cNvPicPr>
          <p:nvPr/>
        </p:nvPicPr>
        <p:blipFill>
          <a:blip r:embed="rId1"/>
          <a:stretch>
            <a:fillRect/>
          </a:stretch>
        </p:blipFill>
        <p:spPr>
          <a:xfrm>
            <a:off x="4443984" y="1819656"/>
            <a:ext cx="256032" cy="256032"/>
          </a:xfrm>
          <a:prstGeom prst="rect">
            <a:avLst/>
          </a:prstGeom>
        </p:spPr>
      </p:pic>
      <p:sp>
        <p:nvSpPr>
          <p:cNvPr id="23" name="text-82"/>
          <p:cNvSpPr txBox="1"/>
          <p:nvPr/>
        </p:nvSpPr>
        <p:spPr>
          <a:xfrm>
            <a:off x="4114800" y="2240280"/>
            <a:ext cx="914400" cy="411480"/>
          </a:xfrm>
          <a:prstGeom prst="rect">
            <a:avLst/>
          </a:prstGeom>
          <a:noFill/>
          <a:ln/>
        </p:spPr>
        <p:txBody>
          <a:bodyPr wrap="square" lIns="0" tIns="0" rIns="0" bIns="0" rtlCol="0" anchor="t"/>
          <a:lstStyle/>
          <a:p>
            <a:pPr algn="ctr" indent="0" marL="0">
              <a:buNone/>
            </a:pPr>
            <a:r>
              <a:rPr lang="en-US" sz="1100" b="1" dirty="0">
                <a:solidFill>
                  <a:schemeClr val="tx2"/>
                </a:solidFill>
              </a:rPr>
              <a:t>Unix socket</a:t>
            </a:r>
            <a:endParaRPr lang="en-US" sz="1100" dirty="0"/>
          </a:p>
        </p:txBody>
      </p:sp>
      <p:sp>
        <p:nvSpPr>
          <p:cNvPr id="24" name="arrow-83"/>
          <p:cNvSpPr/>
          <p:nvPr/>
        </p:nvSpPr>
        <p:spPr>
          <a:xfrm>
            <a:off x="3886200" y="3291840"/>
            <a:ext cx="1371600" cy="0"/>
          </a:xfrm>
          <a:prstGeom prst="line">
            <a:avLst/>
          </a:prstGeom>
          <a:noFill/>
          <a:ln w="25400">
            <a:solidFill>
              <a:schemeClr val="accent1"/>
            </a:solidFill>
            <a:prstDash val="solid"/>
            <a:tailEnd type="triangle"/>
          </a:ln>
        </p:spPr>
      </p:sp>
      <p:sp>
        <p:nvSpPr>
          <p:cNvPr id="25" name="text-84"/>
          <p:cNvSpPr txBox="1"/>
          <p:nvPr/>
        </p:nvSpPr>
        <p:spPr>
          <a:xfrm>
            <a:off x="3931920" y="3035808"/>
            <a:ext cx="1280160" cy="228600"/>
          </a:xfrm>
          <a:prstGeom prst="rect">
            <a:avLst/>
          </a:prstGeom>
          <a:noFill/>
          <a:ln/>
        </p:spPr>
        <p:txBody>
          <a:bodyPr wrap="square" lIns="0" tIns="0" rIns="0" bIns="0" rtlCol="0" anchor="t"/>
          <a:lstStyle/>
          <a:p>
            <a:pPr algn="ctr" indent="0" marL="0">
              <a:buNone/>
            </a:pPr>
            <a:r>
              <a:rPr lang="en-US" sz="1100" dirty="0">
                <a:solidFill>
                  <a:schemeClr val="tx1"/>
                </a:solidFill>
              </a:rPr>
              <a:t>GEMM: n, A, B</a:t>
            </a:r>
            <a:endParaRPr lang="en-US" sz="1100" dirty="0"/>
          </a:p>
        </p:txBody>
      </p:sp>
      <p:sp>
        <p:nvSpPr>
          <p:cNvPr id="26" name="arrow-85"/>
          <p:cNvSpPr/>
          <p:nvPr/>
        </p:nvSpPr>
        <p:spPr>
          <a:xfrm flipH="1">
            <a:off x="3886200" y="3886200"/>
            <a:ext cx="1371600" cy="0"/>
          </a:xfrm>
          <a:prstGeom prst="line">
            <a:avLst/>
          </a:prstGeom>
          <a:noFill/>
          <a:ln w="25400">
            <a:solidFill>
              <a:schemeClr val="accent2"/>
            </a:solidFill>
            <a:prstDash val="solid"/>
            <a:tailEnd type="triangle"/>
          </a:ln>
        </p:spPr>
      </p:sp>
      <p:sp>
        <p:nvSpPr>
          <p:cNvPr id="27" name="text-86"/>
          <p:cNvSpPr txBox="1"/>
          <p:nvPr/>
        </p:nvSpPr>
        <p:spPr>
          <a:xfrm>
            <a:off x="3931920" y="3630168"/>
            <a:ext cx="1280160" cy="228600"/>
          </a:xfrm>
          <a:prstGeom prst="rect">
            <a:avLst/>
          </a:prstGeom>
          <a:noFill/>
          <a:ln/>
        </p:spPr>
        <p:txBody>
          <a:bodyPr wrap="square" lIns="0" tIns="0" rIns="0" bIns="0" rtlCol="0" anchor="t"/>
          <a:lstStyle/>
          <a:p>
            <a:pPr algn="ctr" indent="0" marL="0">
              <a:buNone/>
            </a:pPr>
            <a:r>
              <a:rPr lang="en-US" sz="1100" dirty="0">
                <a:solidFill>
                  <a:schemeClr val="tx1"/>
                </a:solidFill>
              </a:rPr>
              <a:t>C + timing</a:t>
            </a:r>
            <a:endParaRPr lang="en-US" sz="1100" dirty="0"/>
          </a:p>
        </p:txBody>
      </p:sp>
      <p:sp>
        <p:nvSpPr>
          <p:cNvPr id="28" name="text-87"/>
          <p:cNvSpPr txBox="1"/>
          <p:nvPr/>
        </p:nvSpPr>
        <p:spPr>
          <a:xfrm>
            <a:off x="457200" y="4462272"/>
            <a:ext cx="8229600" cy="256032"/>
          </a:xfrm>
          <a:prstGeom prst="rect">
            <a:avLst/>
          </a:prstGeom>
          <a:noFill/>
          <a:ln/>
        </p:spPr>
        <p:txBody>
          <a:bodyPr wrap="square" lIns="0" tIns="0" rIns="0" bIns="0" rtlCol="0" anchor="t"/>
          <a:lstStyle/>
          <a:p>
            <a:pPr indent="0" marL="0">
              <a:buNone/>
            </a:pPr>
            <a:r>
              <a:rPr lang="en-US" sz="1200" dirty="0">
                <a:solidFill>
                  <a:schemeClr val="accent5"/>
                </a:solidFill>
              </a:rPr>
              <a:t>Socket /tmp/ibex-matmul-accel.sock, owner-only (mode 0600). One daemon can serve many VPs at once.</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Three components, two contracts</a:t>
            </a:r>
            <a:endParaRPr lang="en-US" sz="3000" dirty="0"/>
          </a:p>
        </p:txBody>
      </p:sp>
      <p:sp>
        <p:nvSpPr>
          <p:cNvPr id="3" name="card-88"/>
          <p:cNvSpPr/>
          <p:nvPr/>
        </p:nvSpPr>
        <p:spPr>
          <a:xfrm>
            <a:off x="457200" y="1097280"/>
            <a:ext cx="2377440" cy="1463040"/>
          </a:xfrm>
          <a:prstGeom prst="roundRect">
            <a:avLst>
              <a:gd name="adj" fmla="val 5000"/>
            </a:avLst>
          </a:prstGeom>
          <a:solidFill>
            <a:schemeClr val="bg2"/>
          </a:solidFill>
          <a:ln/>
        </p:spPr>
      </p:sp>
      <p:sp>
        <p:nvSpPr>
          <p:cNvPr id="4" name="icon-circle-89"/>
          <p:cNvSpPr/>
          <p:nvPr/>
        </p:nvSpPr>
        <p:spPr>
          <a:xfrm>
            <a:off x="621792" y="1234440"/>
            <a:ext cx="457200" cy="457200"/>
          </a:xfrm>
          <a:prstGeom prst="ellipse">
            <a:avLst/>
          </a:prstGeom>
          <a:solidFill>
            <a:schemeClr val="accent1"/>
          </a:solidFill>
          <a:ln/>
        </p:spPr>
      </p:sp>
      <p:pic>
        <p:nvPicPr>
          <p:cNvPr id="5" name="icon-90" descr="Microchip icon">    </p:cNvPr>
          <p:cNvPicPr>
            <a:picLocks noChangeAspect="1"/>
          </p:cNvPicPr>
          <p:nvPr/>
        </p:nvPicPr>
        <p:blipFill>
          <a:blip r:embed="rId1"/>
          <a:stretch>
            <a:fillRect/>
          </a:stretch>
        </p:blipFill>
        <p:spPr>
          <a:xfrm>
            <a:off x="736092" y="1348740"/>
            <a:ext cx="228600" cy="228600"/>
          </a:xfrm>
          <a:prstGeom prst="rect">
            <a:avLst/>
          </a:prstGeom>
        </p:spPr>
      </p:pic>
      <p:sp>
        <p:nvSpPr>
          <p:cNvPr id="6" name="text-91"/>
          <p:cNvSpPr txBox="1"/>
          <p:nvPr/>
        </p:nvSpPr>
        <p:spPr>
          <a:xfrm>
            <a:off x="1188720" y="1261872"/>
            <a:ext cx="1554480" cy="384048"/>
          </a:xfrm>
          <a:prstGeom prst="rect">
            <a:avLst/>
          </a:prstGeom>
          <a:noFill/>
          <a:ln/>
        </p:spPr>
        <p:txBody>
          <a:bodyPr wrap="square" lIns="0" tIns="0" rIns="0" bIns="0" rtlCol="0" anchor="ctr"/>
          <a:lstStyle/>
          <a:p>
            <a:pPr indent="0" marL="0">
              <a:buNone/>
            </a:pPr>
            <a:r>
              <a:rPr lang="en-US" sz="1600" b="1" dirty="0">
                <a:solidFill>
                  <a:schemeClr val="tx2"/>
                </a:solidFill>
              </a:rPr>
              <a:t>Firmware</a:t>
            </a:r>
            <a:endParaRPr lang="en-US" sz="1600" dirty="0"/>
          </a:p>
        </p:txBody>
      </p:sp>
      <p:sp>
        <p:nvSpPr>
          <p:cNvPr id="7" name="text-92"/>
          <p:cNvSpPr txBox="1"/>
          <p:nvPr/>
        </p:nvSpPr>
        <p:spPr>
          <a:xfrm>
            <a:off x="621792" y="1810512"/>
            <a:ext cx="2103120" cy="219456"/>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sw/matmul_accel/main.c</a:t>
            </a:r>
            <a:endParaRPr lang="en-US" sz="1100" dirty="0"/>
          </a:p>
        </p:txBody>
      </p:sp>
      <p:sp>
        <p:nvSpPr>
          <p:cNvPr id="8" name="text-93"/>
          <p:cNvSpPr txBox="1"/>
          <p:nvPr/>
        </p:nvSpPr>
        <p:spPr>
          <a:xfrm>
            <a:off x="621792" y="2066544"/>
            <a:ext cx="2103120" cy="457200"/>
          </a:xfrm>
          <a:prstGeom prst="rect">
            <a:avLst/>
          </a:prstGeom>
          <a:noFill/>
          <a:ln/>
        </p:spPr>
        <p:txBody>
          <a:bodyPr wrap="square" lIns="0" tIns="0" rIns="0" bIns="0" rtlCol="0" anchor="t"/>
          <a:lstStyle/>
          <a:p>
            <a:pPr indent="0" marL="0">
              <a:buNone/>
            </a:pPr>
            <a:r>
              <a:rPr lang="en-US" sz="1400" dirty="0">
                <a:solidFill>
                  <a:schemeClr val="tx1"/>
                </a:solidFill>
              </a:rPr>
              <a:t>Fills A and B, rings the doorbell, checks C</a:t>
            </a:r>
            <a:endParaRPr lang="en-US" sz="1400" dirty="0"/>
          </a:p>
        </p:txBody>
      </p:sp>
      <p:sp>
        <p:nvSpPr>
          <p:cNvPr id="9" name="card-94"/>
          <p:cNvSpPr/>
          <p:nvPr/>
        </p:nvSpPr>
        <p:spPr>
          <a:xfrm>
            <a:off x="3383280" y="1097280"/>
            <a:ext cx="2377440" cy="1463040"/>
          </a:xfrm>
          <a:prstGeom prst="roundRect">
            <a:avLst>
              <a:gd name="adj" fmla="val 5000"/>
            </a:avLst>
          </a:prstGeom>
          <a:solidFill>
            <a:schemeClr val="bg2"/>
          </a:solidFill>
          <a:ln/>
        </p:spPr>
      </p:sp>
      <p:sp>
        <p:nvSpPr>
          <p:cNvPr id="10" name="icon-circle-95"/>
          <p:cNvSpPr/>
          <p:nvPr/>
        </p:nvSpPr>
        <p:spPr>
          <a:xfrm>
            <a:off x="3547872" y="1234440"/>
            <a:ext cx="457200" cy="457200"/>
          </a:xfrm>
          <a:prstGeom prst="ellipse">
            <a:avLst/>
          </a:prstGeom>
          <a:solidFill>
            <a:schemeClr val="accent1"/>
          </a:solidFill>
          <a:ln/>
        </p:spPr>
      </p:sp>
      <p:pic>
        <p:nvPicPr>
          <p:cNvPr id="11" name="icon-96" descr="Plug icon">    </p:cNvPr>
          <p:cNvPicPr>
            <a:picLocks noChangeAspect="1"/>
          </p:cNvPicPr>
          <p:nvPr/>
        </p:nvPicPr>
        <p:blipFill>
          <a:blip r:embed="rId2"/>
          <a:stretch>
            <a:fillRect/>
          </a:stretch>
        </p:blipFill>
        <p:spPr>
          <a:xfrm>
            <a:off x="3662172" y="1348740"/>
            <a:ext cx="228600" cy="228600"/>
          </a:xfrm>
          <a:prstGeom prst="rect">
            <a:avLst/>
          </a:prstGeom>
        </p:spPr>
      </p:pic>
      <p:sp>
        <p:nvSpPr>
          <p:cNvPr id="12" name="text-97"/>
          <p:cNvSpPr txBox="1"/>
          <p:nvPr/>
        </p:nvSpPr>
        <p:spPr>
          <a:xfrm>
            <a:off x="4114800" y="1261872"/>
            <a:ext cx="1554480" cy="384048"/>
          </a:xfrm>
          <a:prstGeom prst="rect">
            <a:avLst/>
          </a:prstGeom>
          <a:noFill/>
          <a:ln/>
        </p:spPr>
        <p:txBody>
          <a:bodyPr wrap="square" lIns="0" tIns="0" rIns="0" bIns="0" rtlCol="0" anchor="ctr"/>
          <a:lstStyle/>
          <a:p>
            <a:pPr indent="0" marL="0">
              <a:buNone/>
            </a:pPr>
            <a:r>
              <a:rPr lang="en-US" sz="1600" b="1" dirty="0">
                <a:solidFill>
                  <a:schemeClr val="tx2"/>
                </a:solidFill>
              </a:rPr>
              <a:t>Plugin</a:t>
            </a:r>
            <a:endParaRPr lang="en-US" sz="1600" dirty="0"/>
          </a:p>
        </p:txBody>
      </p:sp>
      <p:sp>
        <p:nvSpPr>
          <p:cNvPr id="13" name="text-98"/>
          <p:cNvSpPr txBox="1"/>
          <p:nvPr/>
        </p:nvSpPr>
        <p:spPr>
          <a:xfrm>
            <a:off x="3547872" y="1810512"/>
            <a:ext cx="2103120" cy="219456"/>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matmul_plugin.c</a:t>
            </a:r>
            <a:endParaRPr lang="en-US" sz="1100" dirty="0"/>
          </a:p>
        </p:txBody>
      </p:sp>
      <p:sp>
        <p:nvSpPr>
          <p:cNvPr id="14" name="text-99"/>
          <p:cNvSpPr txBox="1"/>
          <p:nvPr/>
        </p:nvSpPr>
        <p:spPr>
          <a:xfrm>
            <a:off x="3547872" y="2066544"/>
            <a:ext cx="2103120" cy="457200"/>
          </a:xfrm>
          <a:prstGeom prst="rect">
            <a:avLst/>
          </a:prstGeom>
          <a:noFill/>
          <a:ln/>
        </p:spPr>
        <p:txBody>
          <a:bodyPr wrap="square" lIns="0" tIns="0" rIns="0" bIns="0" rtlCol="0" anchor="t"/>
          <a:lstStyle/>
          <a:p>
            <a:pPr indent="0" marL="0">
              <a:buNone/>
            </a:pPr>
            <a:r>
              <a:rPr lang="en-US" sz="1400" dirty="0">
                <a:solidFill>
                  <a:schemeClr val="tx1"/>
                </a:solidFill>
              </a:rPr>
              <a:t>Spots the doorbell and moves the data</a:t>
            </a:r>
            <a:endParaRPr lang="en-US" sz="1400" dirty="0"/>
          </a:p>
        </p:txBody>
      </p:sp>
      <p:sp>
        <p:nvSpPr>
          <p:cNvPr id="15" name="card-100"/>
          <p:cNvSpPr/>
          <p:nvPr/>
        </p:nvSpPr>
        <p:spPr>
          <a:xfrm>
            <a:off x="6309360" y="1097280"/>
            <a:ext cx="2377440" cy="1463040"/>
          </a:xfrm>
          <a:prstGeom prst="roundRect">
            <a:avLst>
              <a:gd name="adj" fmla="val 5000"/>
            </a:avLst>
          </a:prstGeom>
          <a:solidFill>
            <a:schemeClr val="bg2"/>
          </a:solidFill>
          <a:ln/>
        </p:spPr>
      </p:sp>
      <p:sp>
        <p:nvSpPr>
          <p:cNvPr id="16" name="icon-circle-101"/>
          <p:cNvSpPr/>
          <p:nvPr/>
        </p:nvSpPr>
        <p:spPr>
          <a:xfrm>
            <a:off x="6473952" y="1234440"/>
            <a:ext cx="457200" cy="457200"/>
          </a:xfrm>
          <a:prstGeom prst="ellipse">
            <a:avLst/>
          </a:prstGeom>
          <a:solidFill>
            <a:schemeClr val="accent1"/>
          </a:solidFill>
          <a:ln/>
        </p:spPr>
      </p:sp>
      <p:pic>
        <p:nvPicPr>
          <p:cNvPr id="17" name="icon-102" descr="Server icon">    </p:cNvPr>
          <p:cNvPicPr>
            <a:picLocks noChangeAspect="1"/>
          </p:cNvPicPr>
          <p:nvPr/>
        </p:nvPicPr>
        <p:blipFill>
          <a:blip r:embed="rId3"/>
          <a:stretch>
            <a:fillRect/>
          </a:stretch>
        </p:blipFill>
        <p:spPr>
          <a:xfrm>
            <a:off x="6588252" y="1348740"/>
            <a:ext cx="228600" cy="228600"/>
          </a:xfrm>
          <a:prstGeom prst="rect">
            <a:avLst/>
          </a:prstGeom>
        </p:spPr>
      </p:pic>
      <p:sp>
        <p:nvSpPr>
          <p:cNvPr id="18" name="text-103"/>
          <p:cNvSpPr txBox="1"/>
          <p:nvPr/>
        </p:nvSpPr>
        <p:spPr>
          <a:xfrm>
            <a:off x="7040880" y="1261872"/>
            <a:ext cx="1554480" cy="384048"/>
          </a:xfrm>
          <a:prstGeom prst="rect">
            <a:avLst/>
          </a:prstGeom>
          <a:noFill/>
          <a:ln/>
        </p:spPr>
        <p:txBody>
          <a:bodyPr wrap="square" lIns="0" tIns="0" rIns="0" bIns="0" rtlCol="0" anchor="ctr"/>
          <a:lstStyle/>
          <a:p>
            <a:pPr indent="0" marL="0">
              <a:buNone/>
            </a:pPr>
            <a:r>
              <a:rPr lang="en-US" sz="1600" b="1" dirty="0">
                <a:solidFill>
                  <a:schemeClr val="tx2"/>
                </a:solidFill>
              </a:rPr>
              <a:t>Daemon</a:t>
            </a:r>
            <a:endParaRPr lang="en-US" sz="1600" dirty="0"/>
          </a:p>
        </p:txBody>
      </p:sp>
      <p:sp>
        <p:nvSpPr>
          <p:cNvPr id="19" name="text-104"/>
          <p:cNvSpPr txBox="1"/>
          <p:nvPr/>
        </p:nvSpPr>
        <p:spPr>
          <a:xfrm>
            <a:off x="6473952" y="1810512"/>
            <a:ext cx="2103120" cy="219456"/>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matmul_daemon.c</a:t>
            </a:r>
            <a:endParaRPr lang="en-US" sz="1100" dirty="0"/>
          </a:p>
        </p:txBody>
      </p:sp>
      <p:sp>
        <p:nvSpPr>
          <p:cNvPr id="20" name="text-105"/>
          <p:cNvSpPr txBox="1"/>
          <p:nvPr/>
        </p:nvSpPr>
        <p:spPr>
          <a:xfrm>
            <a:off x="6473952" y="2066544"/>
            <a:ext cx="2103120" cy="457200"/>
          </a:xfrm>
          <a:prstGeom prst="rect">
            <a:avLst/>
          </a:prstGeom>
          <a:noFill/>
          <a:ln/>
        </p:spPr>
        <p:txBody>
          <a:bodyPr wrap="square" lIns="0" tIns="0" rIns="0" bIns="0" rtlCol="0" anchor="t"/>
          <a:lstStyle/>
          <a:p>
            <a:pPr indent="0" marL="0">
              <a:buNone/>
            </a:pPr>
            <a:r>
              <a:rPr lang="en-US" sz="1400" dirty="0">
                <a:solidFill>
                  <a:schemeClr val="tx1"/>
                </a:solidFill>
              </a:rPr>
              <a:t>Checks requests, runs the GEMM, replies</a:t>
            </a:r>
            <a:endParaRPr lang="en-US" sz="1400" dirty="0"/>
          </a:p>
        </p:txBody>
      </p:sp>
      <p:sp>
        <p:nvSpPr>
          <p:cNvPr id="21" name="arrow-106"/>
          <p:cNvSpPr/>
          <p:nvPr/>
        </p:nvSpPr>
        <p:spPr>
          <a:xfrm>
            <a:off x="2852928" y="1828800"/>
            <a:ext cx="512064" cy="0"/>
          </a:xfrm>
          <a:prstGeom prst="line">
            <a:avLst/>
          </a:prstGeom>
          <a:noFill/>
          <a:ln w="25400">
            <a:solidFill>
              <a:schemeClr val="accent1"/>
            </a:solidFill>
            <a:prstDash val="solid"/>
            <a:headEnd type="triangle"/>
            <a:tailEnd type="triangle"/>
          </a:ln>
        </p:spPr>
      </p:sp>
      <p:sp>
        <p:nvSpPr>
          <p:cNvPr id="22" name="arrow-107"/>
          <p:cNvSpPr/>
          <p:nvPr/>
        </p:nvSpPr>
        <p:spPr>
          <a:xfrm>
            <a:off x="5779008" y="1828800"/>
            <a:ext cx="512064" cy="0"/>
          </a:xfrm>
          <a:prstGeom prst="line">
            <a:avLst/>
          </a:prstGeom>
          <a:noFill/>
          <a:ln w="25400">
            <a:solidFill>
              <a:schemeClr val="accent1"/>
            </a:solidFill>
            <a:prstDash val="solid"/>
            <a:headEnd type="triangle"/>
            <a:tailEnd type="triangle"/>
          </a:ln>
        </p:spPr>
      </p:sp>
      <p:sp>
        <p:nvSpPr>
          <p:cNvPr id="23" name="arrow-108"/>
          <p:cNvSpPr/>
          <p:nvPr/>
        </p:nvSpPr>
        <p:spPr>
          <a:xfrm>
            <a:off x="3108960" y="1920240"/>
            <a:ext cx="0" cy="868680"/>
          </a:xfrm>
          <a:prstGeom prst="line">
            <a:avLst/>
          </a:prstGeom>
          <a:noFill/>
          <a:ln w="12700">
            <a:solidFill>
              <a:schemeClr val="accent1"/>
            </a:solidFill>
            <a:prstDash val="dash"/>
          </a:ln>
        </p:spPr>
      </p:sp>
      <p:sp>
        <p:nvSpPr>
          <p:cNvPr id="24" name="card-109"/>
          <p:cNvSpPr/>
          <p:nvPr/>
        </p:nvSpPr>
        <p:spPr>
          <a:xfrm>
            <a:off x="1828800" y="2788920"/>
            <a:ext cx="2560320" cy="1143000"/>
          </a:xfrm>
          <a:prstGeom prst="roundRect">
            <a:avLst>
              <a:gd name="adj" fmla="val 6400"/>
            </a:avLst>
          </a:prstGeom>
          <a:solidFill>
            <a:schemeClr val="bg1"/>
          </a:solidFill>
          <a:ln w="19050">
            <a:solidFill>
              <a:schemeClr val="accent1"/>
            </a:solidFill>
            <a:prstDash val="solid"/>
          </a:ln>
        </p:spPr>
      </p:sp>
      <p:sp>
        <p:nvSpPr>
          <p:cNvPr id="25" name="text-110"/>
          <p:cNvSpPr txBox="1"/>
          <p:nvPr/>
        </p:nvSpPr>
        <p:spPr>
          <a:xfrm>
            <a:off x="2011680" y="2880360"/>
            <a:ext cx="2194560" cy="274320"/>
          </a:xfrm>
          <a:prstGeom prst="rect">
            <a:avLst/>
          </a:prstGeom>
          <a:noFill/>
          <a:ln/>
        </p:spPr>
        <p:txBody>
          <a:bodyPr wrap="square" lIns="0" tIns="0" rIns="0" bIns="0" rtlCol="0" anchor="t"/>
          <a:lstStyle/>
          <a:p>
            <a:pPr indent="0" marL="0">
              <a:buNone/>
            </a:pPr>
            <a:r>
              <a:rPr lang="en-US" sz="1500" b="1" dirty="0">
                <a:solidFill>
                  <a:schemeClr val="tx2"/>
                </a:solidFill>
              </a:rPr>
              <a:t>Guest mailbox</a:t>
            </a:r>
            <a:endParaRPr lang="en-US" sz="1500" dirty="0"/>
          </a:p>
        </p:txBody>
      </p:sp>
      <p:sp>
        <p:nvSpPr>
          <p:cNvPr id="26" name="text-111"/>
          <p:cNvSpPr txBox="1"/>
          <p:nvPr/>
        </p:nvSpPr>
        <p:spPr>
          <a:xfrm>
            <a:off x="2011680" y="3182112"/>
            <a:ext cx="2194560" cy="219456"/>
          </a:xfrm>
          <a:prstGeom prst="rect">
            <a:avLst/>
          </a:prstGeom>
          <a:noFill/>
          <a:ln/>
        </p:spPr>
        <p:txBody>
          <a:bodyPr wrap="square" lIns="0" tIns="0" rIns="0" bIns="0" rtlCol="0" anchor="t"/>
          <a:lstStyle/>
          <a:p>
            <a:pPr indent="0" marL="0">
              <a:buNone/>
            </a:pPr>
            <a:r>
              <a:rPr lang="en-US" sz="1050" dirty="0">
                <a:solidFill>
                  <a:schemeClr val="accent5"/>
                </a:solidFill>
                <a:latin typeface="Courier New" pitchFamily="34" charset="0"/>
                <a:ea typeface="Courier New" pitchFamily="34" charset="-122"/>
                <a:cs typeface="Courier New" pitchFamily="34" charset="-120"/>
              </a:rPr>
              <a:t>matmul_accel.h</a:t>
            </a:r>
            <a:endParaRPr lang="en-US" sz="1050" dirty="0"/>
          </a:p>
        </p:txBody>
      </p:sp>
      <p:sp>
        <p:nvSpPr>
          <p:cNvPr id="27" name="text-112"/>
          <p:cNvSpPr txBox="1"/>
          <p:nvPr/>
        </p:nvSpPr>
        <p:spPr>
          <a:xfrm>
            <a:off x="2011680" y="3456432"/>
            <a:ext cx="2194560" cy="411480"/>
          </a:xfrm>
          <a:prstGeom prst="rect">
            <a:avLst/>
          </a:prstGeom>
          <a:noFill/>
          <a:ln/>
        </p:spPr>
        <p:txBody>
          <a:bodyPr wrap="square" lIns="0" tIns="0" rIns="0" bIns="0" rtlCol="0" anchor="t"/>
          <a:lstStyle/>
          <a:p>
            <a:pPr indent="0" marL="0">
              <a:buNone/>
            </a:pPr>
            <a:r>
              <a:rPr lang="en-US" sz="1400" dirty="0">
                <a:solidFill>
                  <a:schemeClr val="tx1"/>
                </a:solidFill>
              </a:rPr>
              <a:t>Seven words of guest RAM</a:t>
            </a:r>
            <a:endParaRPr lang="en-US" sz="1400" dirty="0"/>
          </a:p>
        </p:txBody>
      </p:sp>
      <p:sp>
        <p:nvSpPr>
          <p:cNvPr id="28" name="arrow-113"/>
          <p:cNvSpPr/>
          <p:nvPr/>
        </p:nvSpPr>
        <p:spPr>
          <a:xfrm>
            <a:off x="6035040" y="1920240"/>
            <a:ext cx="0" cy="868680"/>
          </a:xfrm>
          <a:prstGeom prst="line">
            <a:avLst/>
          </a:prstGeom>
          <a:noFill/>
          <a:ln w="12700">
            <a:solidFill>
              <a:schemeClr val="accent1"/>
            </a:solidFill>
            <a:prstDash val="dash"/>
          </a:ln>
        </p:spPr>
      </p:sp>
      <p:sp>
        <p:nvSpPr>
          <p:cNvPr id="29" name="card-114"/>
          <p:cNvSpPr/>
          <p:nvPr/>
        </p:nvSpPr>
        <p:spPr>
          <a:xfrm>
            <a:off x="4754880" y="2788920"/>
            <a:ext cx="2560320" cy="1143000"/>
          </a:xfrm>
          <a:prstGeom prst="roundRect">
            <a:avLst>
              <a:gd name="adj" fmla="val 6400"/>
            </a:avLst>
          </a:prstGeom>
          <a:solidFill>
            <a:schemeClr val="bg1"/>
          </a:solidFill>
          <a:ln w="19050">
            <a:solidFill>
              <a:schemeClr val="accent1"/>
            </a:solidFill>
            <a:prstDash val="solid"/>
          </a:ln>
        </p:spPr>
      </p:sp>
      <p:sp>
        <p:nvSpPr>
          <p:cNvPr id="30" name="text-115"/>
          <p:cNvSpPr txBox="1"/>
          <p:nvPr/>
        </p:nvSpPr>
        <p:spPr>
          <a:xfrm>
            <a:off x="4937760" y="2880360"/>
            <a:ext cx="2194560" cy="274320"/>
          </a:xfrm>
          <a:prstGeom prst="rect">
            <a:avLst/>
          </a:prstGeom>
          <a:noFill/>
          <a:ln/>
        </p:spPr>
        <p:txBody>
          <a:bodyPr wrap="square" lIns="0" tIns="0" rIns="0" bIns="0" rtlCol="0" anchor="t"/>
          <a:lstStyle/>
          <a:p>
            <a:pPr indent="0" marL="0">
              <a:buNone/>
            </a:pPr>
            <a:r>
              <a:rPr lang="en-US" sz="1500" b="1" dirty="0">
                <a:solidFill>
                  <a:schemeClr val="tx2"/>
                </a:solidFill>
              </a:rPr>
              <a:t>Wire protocol</a:t>
            </a:r>
            <a:endParaRPr lang="en-US" sz="1500" dirty="0"/>
          </a:p>
        </p:txBody>
      </p:sp>
      <p:sp>
        <p:nvSpPr>
          <p:cNvPr id="31" name="text-116"/>
          <p:cNvSpPr txBox="1"/>
          <p:nvPr/>
        </p:nvSpPr>
        <p:spPr>
          <a:xfrm>
            <a:off x="4937760" y="3182112"/>
            <a:ext cx="2194560" cy="219456"/>
          </a:xfrm>
          <a:prstGeom prst="rect">
            <a:avLst/>
          </a:prstGeom>
          <a:noFill/>
          <a:ln/>
        </p:spPr>
        <p:txBody>
          <a:bodyPr wrap="square" lIns="0" tIns="0" rIns="0" bIns="0" rtlCol="0" anchor="t"/>
          <a:lstStyle/>
          <a:p>
            <a:pPr indent="0" marL="0">
              <a:buNone/>
            </a:pPr>
            <a:r>
              <a:rPr lang="en-US" sz="1050" dirty="0">
                <a:solidFill>
                  <a:schemeClr val="accent5"/>
                </a:solidFill>
                <a:latin typeface="Courier New" pitchFamily="34" charset="0"/>
                <a:ea typeface="Courier New" pitchFamily="34" charset="-122"/>
                <a:cs typeface="Courier New" pitchFamily="34" charset="-120"/>
              </a:rPr>
              <a:t>matmul_daemon_protocol.h</a:t>
            </a:r>
            <a:endParaRPr lang="en-US" sz="1050" dirty="0"/>
          </a:p>
        </p:txBody>
      </p:sp>
      <p:sp>
        <p:nvSpPr>
          <p:cNvPr id="32" name="text-117"/>
          <p:cNvSpPr txBox="1"/>
          <p:nvPr/>
        </p:nvSpPr>
        <p:spPr>
          <a:xfrm>
            <a:off x="4937760" y="3456432"/>
            <a:ext cx="2194560" cy="411480"/>
          </a:xfrm>
          <a:prstGeom prst="rect">
            <a:avLst/>
          </a:prstGeom>
          <a:noFill/>
          <a:ln/>
        </p:spPr>
        <p:txBody>
          <a:bodyPr wrap="square" lIns="0" tIns="0" rIns="0" bIns="0" rtlCol="0" anchor="t"/>
          <a:lstStyle/>
          <a:p>
            <a:pPr indent="0" marL="0">
              <a:buNone/>
            </a:pPr>
            <a:r>
              <a:rPr lang="en-US" sz="1400" dirty="0">
                <a:solidFill>
                  <a:schemeClr val="tx1"/>
                </a:solidFill>
              </a:rPr>
              <a:t>16-byte header + payload</a:t>
            </a:r>
            <a:endParaRPr lang="en-US" sz="1400" dirty="0"/>
          </a:p>
        </p:txBody>
      </p:sp>
      <p:sp>
        <p:nvSpPr>
          <p:cNvPr id="33" name="text-118"/>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600" b="1" dirty="0">
                <a:solidFill>
                  <a:schemeClr val="tx2"/>
                </a:solidFill>
              </a:rPr>
              <a:t>The guest never sees the socket. The daemon never sees guest addresses.</a:t>
            </a:r>
            <a:endParaRPr lang="en-US" sz="16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Life of one request</a:t>
            </a:r>
            <a:endParaRPr lang="en-US" sz="3000" dirty="0"/>
          </a:p>
        </p:txBody>
      </p:sp>
      <p:sp>
        <p:nvSpPr>
          <p:cNvPr id="3" name="card-119"/>
          <p:cNvSpPr/>
          <p:nvPr/>
        </p:nvSpPr>
        <p:spPr>
          <a:xfrm>
            <a:off x="457200" y="1097280"/>
            <a:ext cx="1828800" cy="1234440"/>
          </a:xfrm>
          <a:prstGeom prst="roundRect">
            <a:avLst>
              <a:gd name="adj" fmla="val 5926"/>
            </a:avLst>
          </a:prstGeom>
          <a:solidFill>
            <a:schemeClr val="accent3"/>
          </a:solidFill>
          <a:ln/>
        </p:spPr>
      </p:sp>
      <p:sp>
        <p:nvSpPr>
          <p:cNvPr id="4" name="num-120"/>
          <p:cNvSpPr/>
          <p:nvPr/>
        </p:nvSpPr>
        <p:spPr>
          <a:xfrm>
            <a:off x="585216" y="1225296"/>
            <a:ext cx="329184" cy="329184"/>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5" name="text-121"/>
          <p:cNvSpPr txBox="1"/>
          <p:nvPr/>
        </p:nvSpPr>
        <p:spPr>
          <a:xfrm>
            <a:off x="585216" y="1627632"/>
            <a:ext cx="1609344" cy="658368"/>
          </a:xfrm>
          <a:prstGeom prst="rect">
            <a:avLst/>
          </a:prstGeom>
          <a:noFill/>
          <a:ln/>
        </p:spPr>
        <p:txBody>
          <a:bodyPr wrap="square" lIns="0" tIns="0" rIns="0" bIns="0" rtlCol="0" anchor="t"/>
          <a:lstStyle/>
          <a:p>
            <a:pPr indent="0" marL="0">
              <a:buNone/>
            </a:pPr>
            <a:r>
              <a:rPr lang="en-US" sz="1400" b="1" dirty="0">
                <a:solidFill>
                  <a:schemeClr val="tx1"/>
                </a:solidFill>
              </a:rPr>
              <a:t>Write N, A, B, C,</a:t>
            </a:r>
            <a:endParaRPr lang="en-US" sz="1400" dirty="0"/>
          </a:p>
          <a:p>
            <a:pPr indent="0" marL="0">
              <a:buNone/>
            </a:pPr>
            <a:r>
              <a:rPr lang="en-US" sz="1400" b="1" dirty="0">
                <a:solidFill>
                  <a:schemeClr val="tx1"/>
                </a:solidFill>
              </a:rPr>
              <a:t>then store to KICK</a:t>
            </a:r>
            <a:endParaRPr lang="en-US" sz="1400" dirty="0"/>
          </a:p>
        </p:txBody>
      </p:sp>
      <p:sp>
        <p:nvSpPr>
          <p:cNvPr id="6" name="card-122"/>
          <p:cNvSpPr/>
          <p:nvPr/>
        </p:nvSpPr>
        <p:spPr>
          <a:xfrm>
            <a:off x="2587752" y="1097280"/>
            <a:ext cx="1828800" cy="1234440"/>
          </a:xfrm>
          <a:prstGeom prst="roundRect">
            <a:avLst>
              <a:gd name="adj" fmla="val 5926"/>
            </a:avLst>
          </a:prstGeom>
          <a:solidFill>
            <a:schemeClr val="accent2"/>
          </a:solidFill>
          <a:ln/>
        </p:spPr>
      </p:sp>
      <p:sp>
        <p:nvSpPr>
          <p:cNvPr id="7" name="num-123"/>
          <p:cNvSpPr/>
          <p:nvPr/>
        </p:nvSpPr>
        <p:spPr>
          <a:xfrm>
            <a:off x="2715768" y="1225296"/>
            <a:ext cx="329184" cy="329184"/>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8" name="text-124"/>
          <p:cNvSpPr txBox="1"/>
          <p:nvPr/>
        </p:nvSpPr>
        <p:spPr>
          <a:xfrm>
            <a:off x="2715768" y="1627632"/>
            <a:ext cx="1609344" cy="658368"/>
          </a:xfrm>
          <a:prstGeom prst="rect">
            <a:avLst/>
          </a:prstGeom>
          <a:noFill/>
          <a:ln/>
        </p:spPr>
        <p:txBody>
          <a:bodyPr wrap="square" lIns="0" tIns="0" rIns="0" bIns="0" rtlCol="0" anchor="t"/>
          <a:lstStyle/>
          <a:p>
            <a:pPr indent="0" marL="0">
              <a:buNone/>
            </a:pPr>
            <a:r>
              <a:rPr lang="en-US" sz="1400" b="1" dirty="0">
                <a:solidFill>
                  <a:schemeClr val="bg1"/>
                </a:solidFill>
              </a:rPr>
              <a:t>Callback reads</a:t>
            </a:r>
            <a:endParaRPr lang="en-US" sz="1400" dirty="0"/>
          </a:p>
          <a:p>
            <a:pPr indent="0" marL="0">
              <a:buNone/>
            </a:pPr>
            <a:r>
              <a:rPr lang="en-US" sz="1400" b="1" dirty="0">
                <a:solidFill>
                  <a:schemeClr val="bg1"/>
                </a:solidFill>
              </a:rPr>
              <a:t>the mailbox, A, B</a:t>
            </a:r>
            <a:endParaRPr lang="en-US" sz="1400" dirty="0"/>
          </a:p>
        </p:txBody>
      </p:sp>
      <p:sp>
        <p:nvSpPr>
          <p:cNvPr id="9" name="card-125"/>
          <p:cNvSpPr/>
          <p:nvPr/>
        </p:nvSpPr>
        <p:spPr>
          <a:xfrm>
            <a:off x="4718304" y="1097280"/>
            <a:ext cx="1828800" cy="1234440"/>
          </a:xfrm>
          <a:prstGeom prst="roundRect">
            <a:avLst>
              <a:gd name="adj" fmla="val 5926"/>
            </a:avLst>
          </a:prstGeom>
          <a:solidFill>
            <a:schemeClr val="accent2"/>
          </a:solidFill>
          <a:ln/>
        </p:spPr>
      </p:sp>
      <p:sp>
        <p:nvSpPr>
          <p:cNvPr id="10" name="num-126"/>
          <p:cNvSpPr/>
          <p:nvPr/>
        </p:nvSpPr>
        <p:spPr>
          <a:xfrm>
            <a:off x="4846320" y="1225296"/>
            <a:ext cx="329184" cy="329184"/>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11" name="text-127"/>
          <p:cNvSpPr txBox="1"/>
          <p:nvPr/>
        </p:nvSpPr>
        <p:spPr>
          <a:xfrm>
            <a:off x="4846320" y="1627632"/>
            <a:ext cx="1609344" cy="658368"/>
          </a:xfrm>
          <a:prstGeom prst="rect">
            <a:avLst/>
          </a:prstGeom>
          <a:noFill/>
          <a:ln/>
        </p:spPr>
        <p:txBody>
          <a:bodyPr wrap="square" lIns="0" tIns="0" rIns="0" bIns="0" rtlCol="0" anchor="t"/>
          <a:lstStyle/>
          <a:p>
            <a:pPr indent="0" marL="0">
              <a:buNone/>
            </a:pPr>
            <a:r>
              <a:rPr lang="en-US" sz="1400" b="1" dirty="0">
                <a:solidFill>
                  <a:schemeClr val="bg1"/>
                </a:solidFill>
              </a:rPr>
              <a:t>Send GEMM</a:t>
            </a:r>
            <a:endParaRPr lang="en-US" sz="1400" dirty="0"/>
          </a:p>
          <a:p>
            <a:pPr indent="0" marL="0">
              <a:buNone/>
            </a:pPr>
            <a:r>
              <a:rPr lang="en-US" sz="1400" b="1" dirty="0">
                <a:solidFill>
                  <a:schemeClr val="bg1"/>
                </a:solidFill>
              </a:rPr>
              <a:t>with n, A, B</a:t>
            </a:r>
            <a:endParaRPr lang="en-US" sz="1400" dirty="0"/>
          </a:p>
        </p:txBody>
      </p:sp>
      <p:sp>
        <p:nvSpPr>
          <p:cNvPr id="12" name="card-128"/>
          <p:cNvSpPr/>
          <p:nvPr/>
        </p:nvSpPr>
        <p:spPr>
          <a:xfrm>
            <a:off x="6848856" y="1097280"/>
            <a:ext cx="1828800" cy="1234440"/>
          </a:xfrm>
          <a:prstGeom prst="roundRect">
            <a:avLst>
              <a:gd name="adj" fmla="val 5926"/>
            </a:avLst>
          </a:prstGeom>
          <a:solidFill>
            <a:schemeClr val="accent1"/>
          </a:solidFill>
          <a:ln/>
        </p:spPr>
      </p:sp>
      <p:sp>
        <p:nvSpPr>
          <p:cNvPr id="13" name="num-129"/>
          <p:cNvSpPr/>
          <p:nvPr/>
        </p:nvSpPr>
        <p:spPr>
          <a:xfrm>
            <a:off x="6976872" y="1225296"/>
            <a:ext cx="329184" cy="329184"/>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14" name="text-130"/>
          <p:cNvSpPr txBox="1"/>
          <p:nvPr/>
        </p:nvSpPr>
        <p:spPr>
          <a:xfrm>
            <a:off x="6976872" y="1627632"/>
            <a:ext cx="1609344" cy="658368"/>
          </a:xfrm>
          <a:prstGeom prst="rect">
            <a:avLst/>
          </a:prstGeom>
          <a:noFill/>
          <a:ln/>
        </p:spPr>
        <p:txBody>
          <a:bodyPr wrap="square" lIns="0" tIns="0" rIns="0" bIns="0" rtlCol="0" anchor="t"/>
          <a:lstStyle/>
          <a:p>
            <a:pPr indent="0" marL="0">
              <a:buNone/>
            </a:pPr>
            <a:r>
              <a:rPr lang="en-US" sz="1400" b="1" dirty="0">
                <a:solidFill>
                  <a:schemeClr val="bg1"/>
                </a:solidFill>
              </a:rPr>
              <a:t>Check it, then</a:t>
            </a:r>
            <a:endParaRPr lang="en-US" sz="1400" dirty="0"/>
          </a:p>
          <a:p>
            <a:pPr indent="0" marL="0">
              <a:buNone/>
            </a:pPr>
            <a:r>
              <a:rPr lang="en-US" sz="1400" b="1" dirty="0">
                <a:solidFill>
                  <a:schemeClr val="bg1"/>
                </a:solidFill>
              </a:rPr>
              <a:t>compute C = A × B</a:t>
            </a:r>
            <a:endParaRPr lang="en-US" sz="1400" dirty="0"/>
          </a:p>
        </p:txBody>
      </p:sp>
      <p:sp>
        <p:nvSpPr>
          <p:cNvPr id="15" name="card-131"/>
          <p:cNvSpPr/>
          <p:nvPr/>
        </p:nvSpPr>
        <p:spPr>
          <a:xfrm>
            <a:off x="6848856" y="2697480"/>
            <a:ext cx="1828800" cy="1234440"/>
          </a:xfrm>
          <a:prstGeom prst="roundRect">
            <a:avLst>
              <a:gd name="adj" fmla="val 5926"/>
            </a:avLst>
          </a:prstGeom>
          <a:solidFill>
            <a:schemeClr val="accent1"/>
          </a:solidFill>
          <a:ln/>
        </p:spPr>
      </p:sp>
      <p:sp>
        <p:nvSpPr>
          <p:cNvPr id="16" name="num-132"/>
          <p:cNvSpPr/>
          <p:nvPr/>
        </p:nvSpPr>
        <p:spPr>
          <a:xfrm>
            <a:off x="6976872" y="2825496"/>
            <a:ext cx="329184" cy="329184"/>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5</a:t>
            </a:r>
            <a:endParaRPr lang="en-US" sz="1200" dirty="0"/>
          </a:p>
        </p:txBody>
      </p:sp>
      <p:sp>
        <p:nvSpPr>
          <p:cNvPr id="17" name="text-133"/>
          <p:cNvSpPr txBox="1"/>
          <p:nvPr/>
        </p:nvSpPr>
        <p:spPr>
          <a:xfrm>
            <a:off x="6976872" y="3227832"/>
            <a:ext cx="1609344" cy="658368"/>
          </a:xfrm>
          <a:prstGeom prst="rect">
            <a:avLst/>
          </a:prstGeom>
          <a:noFill/>
          <a:ln/>
        </p:spPr>
        <p:txBody>
          <a:bodyPr wrap="square" lIns="0" tIns="0" rIns="0" bIns="0" rtlCol="0" anchor="t"/>
          <a:lstStyle/>
          <a:p>
            <a:pPr indent="0" marL="0">
              <a:buNone/>
            </a:pPr>
            <a:r>
              <a:rPr lang="en-US" sz="1400" b="1" dirty="0">
                <a:solidFill>
                  <a:schemeClr val="bg1"/>
                </a:solidFill>
              </a:rPr>
              <a:t>Reply with C</a:t>
            </a:r>
            <a:endParaRPr lang="en-US" sz="1400" dirty="0"/>
          </a:p>
          <a:p>
            <a:pPr indent="0" marL="0">
              <a:buNone/>
            </a:pPr>
            <a:r>
              <a:rPr lang="en-US" sz="1400" b="1" dirty="0">
                <a:solidFill>
                  <a:schemeClr val="bg1"/>
                </a:solidFill>
              </a:rPr>
              <a:t>(GEMM_DONE)</a:t>
            </a:r>
            <a:endParaRPr lang="en-US" sz="1400" dirty="0"/>
          </a:p>
        </p:txBody>
      </p:sp>
      <p:sp>
        <p:nvSpPr>
          <p:cNvPr id="18" name="card-134"/>
          <p:cNvSpPr/>
          <p:nvPr/>
        </p:nvSpPr>
        <p:spPr>
          <a:xfrm>
            <a:off x="4718304" y="2697480"/>
            <a:ext cx="1828800" cy="1234440"/>
          </a:xfrm>
          <a:prstGeom prst="roundRect">
            <a:avLst>
              <a:gd name="adj" fmla="val 5926"/>
            </a:avLst>
          </a:prstGeom>
          <a:solidFill>
            <a:schemeClr val="accent2"/>
          </a:solidFill>
          <a:ln/>
        </p:spPr>
      </p:sp>
      <p:sp>
        <p:nvSpPr>
          <p:cNvPr id="19" name="num-135"/>
          <p:cNvSpPr/>
          <p:nvPr/>
        </p:nvSpPr>
        <p:spPr>
          <a:xfrm>
            <a:off x="4846320" y="2825496"/>
            <a:ext cx="329184" cy="329184"/>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6</a:t>
            </a:r>
            <a:endParaRPr lang="en-US" sz="1200" dirty="0"/>
          </a:p>
        </p:txBody>
      </p:sp>
      <p:sp>
        <p:nvSpPr>
          <p:cNvPr id="20" name="text-136"/>
          <p:cNvSpPr txBox="1"/>
          <p:nvPr/>
        </p:nvSpPr>
        <p:spPr>
          <a:xfrm>
            <a:off x="4846320" y="3227832"/>
            <a:ext cx="1609344" cy="658368"/>
          </a:xfrm>
          <a:prstGeom prst="rect">
            <a:avLst/>
          </a:prstGeom>
          <a:noFill/>
          <a:ln/>
        </p:spPr>
        <p:txBody>
          <a:bodyPr wrap="square" lIns="0" tIns="0" rIns="0" bIns="0" rtlCol="0" anchor="t"/>
          <a:lstStyle/>
          <a:p>
            <a:pPr indent="0" marL="0">
              <a:buNone/>
            </a:pPr>
            <a:r>
              <a:rPr lang="en-US" sz="1400" b="1" dirty="0">
                <a:solidFill>
                  <a:schemeClr val="bg1"/>
                </a:solidFill>
              </a:rPr>
              <a:t>Write C, then</a:t>
            </a:r>
            <a:endParaRPr lang="en-US" sz="1400" dirty="0"/>
          </a:p>
          <a:p>
            <a:pPr indent="0" marL="0">
              <a:buNone/>
            </a:pPr>
            <a:r>
              <a:rPr lang="en-US" sz="1400" b="1" dirty="0">
                <a:solidFill>
                  <a:schemeClr val="bg1"/>
                </a:solidFill>
              </a:rPr>
              <a:t>STATUS = DONE</a:t>
            </a:r>
            <a:endParaRPr lang="en-US" sz="1400" dirty="0"/>
          </a:p>
        </p:txBody>
      </p:sp>
      <p:sp>
        <p:nvSpPr>
          <p:cNvPr id="21" name="card-137"/>
          <p:cNvSpPr/>
          <p:nvPr/>
        </p:nvSpPr>
        <p:spPr>
          <a:xfrm>
            <a:off x="2587752" y="2697480"/>
            <a:ext cx="1828800" cy="1234440"/>
          </a:xfrm>
          <a:prstGeom prst="roundRect">
            <a:avLst>
              <a:gd name="adj" fmla="val 5926"/>
            </a:avLst>
          </a:prstGeom>
          <a:solidFill>
            <a:schemeClr val="accent3"/>
          </a:solidFill>
          <a:ln/>
        </p:spPr>
      </p:sp>
      <p:sp>
        <p:nvSpPr>
          <p:cNvPr id="22" name="num-138"/>
          <p:cNvSpPr/>
          <p:nvPr/>
        </p:nvSpPr>
        <p:spPr>
          <a:xfrm>
            <a:off x="2715768" y="2825496"/>
            <a:ext cx="329184" cy="329184"/>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7</a:t>
            </a:r>
            <a:endParaRPr lang="en-US" sz="1200" dirty="0"/>
          </a:p>
        </p:txBody>
      </p:sp>
      <p:sp>
        <p:nvSpPr>
          <p:cNvPr id="23" name="text-139"/>
          <p:cNvSpPr txBox="1"/>
          <p:nvPr/>
        </p:nvSpPr>
        <p:spPr>
          <a:xfrm>
            <a:off x="2715768" y="3227832"/>
            <a:ext cx="1609344" cy="658368"/>
          </a:xfrm>
          <a:prstGeom prst="rect">
            <a:avLst/>
          </a:prstGeom>
          <a:noFill/>
          <a:ln/>
        </p:spPr>
        <p:txBody>
          <a:bodyPr wrap="square" lIns="0" tIns="0" rIns="0" bIns="0" rtlCol="0" anchor="t"/>
          <a:lstStyle/>
          <a:p>
            <a:pPr indent="0" marL="0">
              <a:buNone/>
            </a:pPr>
            <a:r>
              <a:rPr lang="en-US" sz="1400" b="1" dirty="0">
                <a:solidFill>
                  <a:schemeClr val="tx1"/>
                </a:solidFill>
              </a:rPr>
              <a:t>Resumes, sees</a:t>
            </a:r>
            <a:endParaRPr lang="en-US" sz="1400" dirty="0"/>
          </a:p>
          <a:p>
            <a:pPr indent="0" marL="0">
              <a:buNone/>
            </a:pPr>
            <a:r>
              <a:rPr lang="en-US" sz="1400" b="1" dirty="0">
                <a:solidFill>
                  <a:schemeClr val="tx1"/>
                </a:solidFill>
              </a:rPr>
              <a:t>DONE, uses C</a:t>
            </a:r>
            <a:endParaRPr lang="en-US" sz="1400" dirty="0"/>
          </a:p>
        </p:txBody>
      </p:sp>
      <p:sp>
        <p:nvSpPr>
          <p:cNvPr id="24" name="arrow-140"/>
          <p:cNvSpPr/>
          <p:nvPr/>
        </p:nvSpPr>
        <p:spPr>
          <a:xfrm>
            <a:off x="2304288" y="1709928"/>
            <a:ext cx="265176" cy="0"/>
          </a:xfrm>
          <a:prstGeom prst="line">
            <a:avLst/>
          </a:prstGeom>
          <a:noFill/>
          <a:ln w="19050">
            <a:solidFill>
              <a:schemeClr val="accent5"/>
            </a:solidFill>
            <a:prstDash val="solid"/>
            <a:tailEnd type="triangle"/>
          </a:ln>
        </p:spPr>
      </p:sp>
      <p:sp>
        <p:nvSpPr>
          <p:cNvPr id="25" name="arrow-141"/>
          <p:cNvSpPr/>
          <p:nvPr/>
        </p:nvSpPr>
        <p:spPr>
          <a:xfrm>
            <a:off x="4434840" y="1709928"/>
            <a:ext cx="265176" cy="0"/>
          </a:xfrm>
          <a:prstGeom prst="line">
            <a:avLst/>
          </a:prstGeom>
          <a:noFill/>
          <a:ln w="19050">
            <a:solidFill>
              <a:schemeClr val="accent5"/>
            </a:solidFill>
            <a:prstDash val="solid"/>
            <a:tailEnd type="triangle"/>
          </a:ln>
        </p:spPr>
      </p:sp>
      <p:sp>
        <p:nvSpPr>
          <p:cNvPr id="26" name="arrow-142"/>
          <p:cNvSpPr/>
          <p:nvPr/>
        </p:nvSpPr>
        <p:spPr>
          <a:xfrm>
            <a:off x="6565392" y="1709928"/>
            <a:ext cx="265176" cy="0"/>
          </a:xfrm>
          <a:prstGeom prst="line">
            <a:avLst/>
          </a:prstGeom>
          <a:noFill/>
          <a:ln w="19050">
            <a:solidFill>
              <a:schemeClr val="accent5"/>
            </a:solidFill>
            <a:prstDash val="solid"/>
            <a:tailEnd type="triangle"/>
          </a:ln>
        </p:spPr>
      </p:sp>
      <p:sp>
        <p:nvSpPr>
          <p:cNvPr id="27" name="arrow-143"/>
          <p:cNvSpPr/>
          <p:nvPr/>
        </p:nvSpPr>
        <p:spPr>
          <a:xfrm>
            <a:off x="7763256" y="2350008"/>
            <a:ext cx="0" cy="329184"/>
          </a:xfrm>
          <a:prstGeom prst="line">
            <a:avLst/>
          </a:prstGeom>
          <a:noFill/>
          <a:ln w="19050">
            <a:solidFill>
              <a:schemeClr val="accent5"/>
            </a:solidFill>
            <a:prstDash val="solid"/>
            <a:tailEnd type="triangle"/>
          </a:ln>
        </p:spPr>
      </p:sp>
      <p:sp>
        <p:nvSpPr>
          <p:cNvPr id="28" name="arrow-144"/>
          <p:cNvSpPr/>
          <p:nvPr/>
        </p:nvSpPr>
        <p:spPr>
          <a:xfrm flipH="1">
            <a:off x="6565392" y="3310128"/>
            <a:ext cx="265176" cy="0"/>
          </a:xfrm>
          <a:prstGeom prst="line">
            <a:avLst/>
          </a:prstGeom>
          <a:noFill/>
          <a:ln w="19050">
            <a:solidFill>
              <a:schemeClr val="accent5"/>
            </a:solidFill>
            <a:prstDash val="solid"/>
            <a:tailEnd type="triangle"/>
          </a:ln>
        </p:spPr>
      </p:sp>
      <p:sp>
        <p:nvSpPr>
          <p:cNvPr id="29" name="arrow-145"/>
          <p:cNvSpPr/>
          <p:nvPr/>
        </p:nvSpPr>
        <p:spPr>
          <a:xfrm flipH="1">
            <a:off x="4434840" y="3310128"/>
            <a:ext cx="265176" cy="0"/>
          </a:xfrm>
          <a:prstGeom prst="line">
            <a:avLst/>
          </a:prstGeom>
          <a:noFill/>
          <a:ln w="19050">
            <a:solidFill>
              <a:schemeClr val="accent5"/>
            </a:solidFill>
            <a:prstDash val="solid"/>
            <a:tailEnd type="triangle"/>
          </a:ln>
        </p:spPr>
      </p:sp>
      <p:sp>
        <p:nvSpPr>
          <p:cNvPr id="30" name="card-146"/>
          <p:cNvSpPr/>
          <p:nvPr/>
        </p:nvSpPr>
        <p:spPr>
          <a:xfrm>
            <a:off x="457200" y="2788920"/>
            <a:ext cx="237744" cy="237744"/>
          </a:xfrm>
          <a:prstGeom prst="roundRect">
            <a:avLst>
              <a:gd name="adj" fmla="val 15385"/>
            </a:avLst>
          </a:prstGeom>
          <a:solidFill>
            <a:schemeClr val="accent3"/>
          </a:solidFill>
          <a:ln/>
        </p:spPr>
      </p:sp>
      <p:sp>
        <p:nvSpPr>
          <p:cNvPr id="31" name="text-147"/>
          <p:cNvSpPr txBox="1"/>
          <p:nvPr/>
        </p:nvSpPr>
        <p:spPr>
          <a:xfrm>
            <a:off x="786384" y="2788920"/>
            <a:ext cx="1645920" cy="237744"/>
          </a:xfrm>
          <a:prstGeom prst="rect">
            <a:avLst/>
          </a:prstGeom>
          <a:noFill/>
          <a:ln/>
        </p:spPr>
        <p:txBody>
          <a:bodyPr wrap="square" lIns="0" tIns="0" rIns="0" bIns="0" rtlCol="0" anchor="ctr"/>
          <a:lstStyle/>
          <a:p>
            <a:pPr indent="0" marL="0">
              <a:buNone/>
            </a:pPr>
            <a:r>
              <a:rPr lang="en-US" sz="1200" dirty="0">
                <a:solidFill>
                  <a:schemeClr val="tx1"/>
                </a:solidFill>
              </a:rPr>
              <a:t>Firmware (guest)</a:t>
            </a:r>
            <a:endParaRPr lang="en-US" sz="1200" dirty="0"/>
          </a:p>
        </p:txBody>
      </p:sp>
      <p:sp>
        <p:nvSpPr>
          <p:cNvPr id="32" name="card-148"/>
          <p:cNvSpPr/>
          <p:nvPr/>
        </p:nvSpPr>
        <p:spPr>
          <a:xfrm>
            <a:off x="457200" y="3136392"/>
            <a:ext cx="237744" cy="237744"/>
          </a:xfrm>
          <a:prstGeom prst="roundRect">
            <a:avLst>
              <a:gd name="adj" fmla="val 15385"/>
            </a:avLst>
          </a:prstGeom>
          <a:solidFill>
            <a:schemeClr val="accent2"/>
          </a:solidFill>
          <a:ln/>
        </p:spPr>
      </p:sp>
      <p:sp>
        <p:nvSpPr>
          <p:cNvPr id="33" name="text-149"/>
          <p:cNvSpPr txBox="1"/>
          <p:nvPr/>
        </p:nvSpPr>
        <p:spPr>
          <a:xfrm>
            <a:off x="786384" y="3136392"/>
            <a:ext cx="1645920" cy="237744"/>
          </a:xfrm>
          <a:prstGeom prst="rect">
            <a:avLst/>
          </a:prstGeom>
          <a:noFill/>
          <a:ln/>
        </p:spPr>
        <p:txBody>
          <a:bodyPr wrap="square" lIns="0" tIns="0" rIns="0" bIns="0" rtlCol="0" anchor="ctr"/>
          <a:lstStyle/>
          <a:p>
            <a:pPr indent="0" marL="0">
              <a:buNone/>
            </a:pPr>
            <a:r>
              <a:rPr lang="en-US" sz="1200" dirty="0">
                <a:solidFill>
                  <a:schemeClr val="tx1"/>
                </a:solidFill>
              </a:rPr>
              <a:t>Plugin (in QEMU)</a:t>
            </a:r>
            <a:endParaRPr lang="en-US" sz="1200" dirty="0"/>
          </a:p>
        </p:txBody>
      </p:sp>
      <p:sp>
        <p:nvSpPr>
          <p:cNvPr id="34" name="card-150"/>
          <p:cNvSpPr/>
          <p:nvPr/>
        </p:nvSpPr>
        <p:spPr>
          <a:xfrm>
            <a:off x="457200" y="3483864"/>
            <a:ext cx="237744" cy="237744"/>
          </a:xfrm>
          <a:prstGeom prst="roundRect">
            <a:avLst>
              <a:gd name="adj" fmla="val 15385"/>
            </a:avLst>
          </a:prstGeom>
          <a:solidFill>
            <a:schemeClr val="accent1"/>
          </a:solidFill>
          <a:ln/>
        </p:spPr>
      </p:sp>
      <p:sp>
        <p:nvSpPr>
          <p:cNvPr id="35" name="text-151"/>
          <p:cNvSpPr txBox="1"/>
          <p:nvPr/>
        </p:nvSpPr>
        <p:spPr>
          <a:xfrm>
            <a:off x="786384" y="3483864"/>
            <a:ext cx="1645920" cy="237744"/>
          </a:xfrm>
          <a:prstGeom prst="rect">
            <a:avLst/>
          </a:prstGeom>
          <a:noFill/>
          <a:ln/>
        </p:spPr>
        <p:txBody>
          <a:bodyPr wrap="square" lIns="0" tIns="0" rIns="0" bIns="0" rtlCol="0" anchor="ctr"/>
          <a:lstStyle/>
          <a:p>
            <a:pPr indent="0" marL="0">
              <a:buNone/>
            </a:pPr>
            <a:r>
              <a:rPr lang="en-US" sz="1200" dirty="0">
                <a:solidFill>
                  <a:schemeClr val="tx1"/>
                </a:solidFill>
              </a:rPr>
              <a:t>Daemon (NPU)</a:t>
            </a:r>
            <a:endParaRPr lang="en-US" sz="1200" dirty="0"/>
          </a:p>
        </p:txBody>
      </p:sp>
      <p:sp>
        <p:nvSpPr>
          <p:cNvPr id="36" name="text-152"/>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400" i="1" dirty="0">
                <a:solidFill>
                  <a:schemeClr val="tx2"/>
                </a:solidFill>
              </a:rPr>
              <a:t>The firmware stays paused at the KICK store until step 6, so the result is always ready.</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743200" cy="868680"/>
          </a:xfrm>
          <a:prstGeom prst="rect">
            <a:avLst/>
          </a:prstGeom>
          <a:noFill/>
          <a:ln/>
        </p:spPr>
        <p:txBody>
          <a:bodyPr wrap="square" lIns="0" tIns="0" rIns="0" bIns="0" rtlCol="0" anchor="b"/>
          <a:lstStyle/>
          <a:p>
            <a:pPr indent="0" marL="0">
              <a:buNone/>
            </a:pPr>
            <a:r>
              <a:rPr lang="en-US" sz="4800" b="1" dirty="0">
                <a:solidFill>
                  <a:schemeClr val="accent1"/>
                </a:solidFill>
              </a:rPr>
              <a:t>02</a:t>
            </a:r>
            <a:endParaRPr lang="en-US" sz="4800" dirty="0"/>
          </a:p>
        </p:txBody>
      </p:sp>
      <p:sp>
        <p:nvSpPr>
          <p:cNvPr id="3" name="Text 0"/>
          <p:cNvSpPr/>
          <p:nvPr>
            <p:ph idx="101" type="title" hasCustomPrompt="1"/>
          </p:nvPr>
        </p:nvSpPr>
        <p:spPr>
          <a:xfrm>
            <a:off x="548640" y="2011680"/>
            <a:ext cx="5852160" cy="822960"/>
          </a:xfrm>
          <a:prstGeom prst="rect">
            <a:avLst/>
          </a:prstGeom>
          <a:noFill/>
          <a:ln/>
        </p:spPr>
        <p:txBody>
          <a:bodyPr wrap="square" lIns="0" tIns="0" rIns="0" bIns="0" rtlCol="0" anchor="ctr"/>
          <a:lstStyle/>
          <a:p>
            <a:pPr algn="l" indent="0" marL="0">
              <a:buNone/>
            </a:pPr>
            <a:r>
              <a:rPr lang="en-US" sz="3600" b="1" dirty="0">
                <a:solidFill>
                  <a:schemeClr val="bg1"/>
                </a:solidFill>
              </a:rPr>
              <a:t>How it was built</a:t>
            </a:r>
            <a:endParaRPr lang="en-US" sz="3600" dirty="0"/>
          </a:p>
        </p:txBody>
      </p:sp>
      <p:sp>
        <p:nvSpPr>
          <p:cNvPr id="4" name="Text 0"/>
          <p:cNvSpPr/>
          <p:nvPr>
            <p:ph idx="102" type="body" hasCustomPrompt="1"/>
          </p:nvPr>
        </p:nvSpPr>
        <p:spPr>
          <a:xfrm>
            <a:off x="548640" y="2880360"/>
            <a:ext cx="5852160" cy="640080"/>
          </a:xfrm>
          <a:prstGeom prst="rect">
            <a:avLst/>
          </a:prstGeom>
          <a:noFill/>
          <a:ln/>
        </p:spPr>
        <p:txBody>
          <a:bodyPr wrap="square" lIns="0" tIns="0" rIns="0" bIns="0" rtlCol="0" anchor="t"/>
          <a:lstStyle/>
          <a:p>
            <a:pPr indent="0" marL="0">
              <a:buNone/>
            </a:pPr>
            <a:r>
              <a:rPr lang="en-US" sz="1800" dirty="0">
                <a:solidFill>
                  <a:schemeClr val="accent3"/>
                </a:solidFill>
              </a:rPr>
              <a:t>Mailbox, plugin, protocol, daemon, scripts</a:t>
            </a:r>
            <a:endParaRPr lang="en-US" sz="1800" dirty="0"/>
          </a:p>
        </p:txBody>
      </p:sp>
      <p:sp>
        <p:nvSpPr>
          <p:cNvPr id="5" name="icon-circle-153"/>
          <p:cNvSpPr/>
          <p:nvPr/>
        </p:nvSpPr>
        <p:spPr>
          <a:xfrm>
            <a:off x="6812280" y="1417320"/>
            <a:ext cx="1600200" cy="1600200"/>
          </a:xfrm>
          <a:prstGeom prst="ellipse">
            <a:avLst/>
          </a:prstGeom>
          <a:solidFill>
            <a:schemeClr val="accent2"/>
          </a:solidFill>
          <a:ln/>
        </p:spPr>
      </p:sp>
      <p:pic>
        <p:nvPicPr>
          <p:cNvPr id="6" name="icon-154" descr="Tools icon">    </p:cNvPr>
          <p:cNvPicPr>
            <a:picLocks noChangeAspect="1"/>
          </p:cNvPicPr>
          <p:nvPr/>
        </p:nvPicPr>
        <p:blipFill>
          <a:blip r:embed="rId1"/>
          <a:stretch>
            <a:fillRect/>
          </a:stretch>
        </p:blipFill>
        <p:spPr>
          <a:xfrm>
            <a:off x="7212330" y="1817370"/>
            <a:ext cx="800100" cy="800100"/>
          </a:xfrm>
          <a:prstGeom prst="rect">
            <a:avLst/>
          </a:prstGeom>
        </p:spPr>
      </p:pic>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The guest mailbox</a:t>
            </a:r>
            <a:endParaRPr lang="en-US" sz="3000" dirty="0"/>
          </a:p>
        </p:txBody>
      </p:sp>
      <p:graphicFrame>
        <p:nvGraphicFramePr>
          <p:cNvPr id="10" name="mailbox-table-155"/>
          <p:cNvGraphicFramePr>
            <a:graphicFrameLocks noGrp="1"/>
          </p:cNvGraphicFramePr>
          <p:nvPr>
            <p:extLst>
              <p:ext uri="{D42A27DB-BD31-4B8C-83A1-F6EECF244321}">
                <p14:modId xmlns:p14="http://schemas.microsoft.com/office/powerpoint/2010/main" val="1579011935"/>
              </p:ext>
            </p:extLst>
          </p:nvPr>
        </p:nvGraphicFramePr>
        <p:xfrm>
          <a:off x="457200" y="1097280"/>
          <a:ext cx="5120640" cy="914400"/>
        </p:xfrm>
        <a:graphic>
          <a:graphicData uri="http://schemas.openxmlformats.org/drawingml/2006/table">
            <a:tbl>
              <a:tblPr/>
              <a:tblGrid>
                <a:gridCol w="1371600"/>
                <a:gridCol w="1051560"/>
                <a:gridCol w="2697480"/>
              </a:tblGrid>
              <a:tr h="329184">
                <a:tc>
                  <a:txBody>
                    <a:bodyPr/>
                    <a:lstStyle/>
                    <a:p>
                      <a:pPr indent="0" marL="0">
                        <a:buNone/>
                      </a:pPr>
                      <a:r>
                        <a:rPr lang="en-US" sz="1300" b="1" dirty="0">
                          <a:solidFill>
                            <a:schemeClr val="bg1"/>
                          </a:solidFill>
                        </a:rPr>
                        <a:t>Address</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Register</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Meaning</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tx2"/>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0x0011C000</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N</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matrix size, 1–32</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0x0011C004</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A</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address of matrix A</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2"/>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0x0011C008</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B</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address of matrix B</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0x0011C00C</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C</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address for result C</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2"/>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0x0011C010</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STATUS</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idle · 1 done · 2 error</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0x0011C014</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KICK</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any store starts a request</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2"/>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0x0011C018</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ERRCODE</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why it failed</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bg1"/>
                    </a:solidFill>
                  </a:tcPr>
                </a:tc>
              </a:tr>
            </a:tbl>
          </a:graphicData>
        </a:graphic>
      </p:graphicFrame>
      <p:sp>
        <p:nvSpPr>
          <p:cNvPr id="4" name="text-156"/>
          <p:cNvSpPr txBox="1"/>
          <p:nvPr/>
        </p:nvSpPr>
        <p:spPr>
          <a:xfrm>
            <a:off x="457200" y="3931920"/>
            <a:ext cx="5120640" cy="457200"/>
          </a:xfrm>
          <a:prstGeom prst="rect">
            <a:avLst/>
          </a:prstGeom>
          <a:noFill/>
          <a:ln/>
        </p:spPr>
        <p:txBody>
          <a:bodyPr wrap="square" lIns="0" tIns="0" rIns="0" bIns="0" rtlCol="0" anchor="t"/>
          <a:lstStyle/>
          <a:p>
            <a:pPr indent="0" marL="0">
              <a:buNone/>
            </a:pPr>
            <a:r>
              <a:rPr lang="en-US" sz="1200" dirty="0">
                <a:solidFill>
                  <a:schemeClr val="accent5"/>
                </a:solidFill>
              </a:rPr>
              <a:t>Firmware must end below 0x0011C000. Without the plugin, a bounded poll reports “no response” instead of hanging.</a:t>
            </a:r>
            <a:endParaRPr lang="en-US" sz="1200" dirty="0"/>
          </a:p>
        </p:txBody>
      </p:sp>
      <p:sp>
        <p:nvSpPr>
          <p:cNvPr id="5" name="card-157"/>
          <p:cNvSpPr/>
          <p:nvPr/>
        </p:nvSpPr>
        <p:spPr>
          <a:xfrm>
            <a:off x="5852160" y="1097280"/>
            <a:ext cx="2834640" cy="1600200"/>
          </a:xfrm>
          <a:prstGeom prst="roundRect">
            <a:avLst>
              <a:gd name="adj" fmla="val 4571"/>
            </a:avLst>
          </a:prstGeom>
          <a:solidFill>
            <a:schemeClr val="bg2"/>
          </a:solidFill>
          <a:ln/>
        </p:spPr>
      </p:sp>
      <p:sp>
        <p:nvSpPr>
          <p:cNvPr id="6" name="icon-circle-158"/>
          <p:cNvSpPr/>
          <p:nvPr/>
        </p:nvSpPr>
        <p:spPr>
          <a:xfrm>
            <a:off x="6035040" y="1234440"/>
            <a:ext cx="384048" cy="384048"/>
          </a:xfrm>
          <a:prstGeom prst="ellipse">
            <a:avLst/>
          </a:prstGeom>
          <a:solidFill>
            <a:schemeClr val="accent1"/>
          </a:solidFill>
          <a:ln/>
        </p:spPr>
      </p:sp>
      <p:pic>
        <p:nvPicPr>
          <p:cNvPr id="7" name="icon-159" descr="ListOl icon">    </p:cNvPr>
          <p:cNvPicPr>
            <a:picLocks noChangeAspect="1"/>
          </p:cNvPicPr>
          <p:nvPr/>
        </p:nvPicPr>
        <p:blipFill>
          <a:blip r:embed="rId1"/>
          <a:stretch>
            <a:fillRect/>
          </a:stretch>
        </p:blipFill>
        <p:spPr>
          <a:xfrm>
            <a:off x="6131052" y="1330452"/>
            <a:ext cx="192024" cy="192024"/>
          </a:xfrm>
          <a:prstGeom prst="rect">
            <a:avLst/>
          </a:prstGeom>
        </p:spPr>
      </p:pic>
      <p:sp>
        <p:nvSpPr>
          <p:cNvPr id="8" name="text-160"/>
          <p:cNvSpPr txBox="1"/>
          <p:nvPr/>
        </p:nvSpPr>
        <p:spPr>
          <a:xfrm>
            <a:off x="6537960" y="1261872"/>
            <a:ext cx="2011680" cy="329184"/>
          </a:xfrm>
          <a:prstGeom prst="rect">
            <a:avLst/>
          </a:prstGeom>
          <a:noFill/>
          <a:ln/>
        </p:spPr>
        <p:txBody>
          <a:bodyPr wrap="square" lIns="0" tIns="0" rIns="0" bIns="0" rtlCol="0" anchor="ctr"/>
          <a:lstStyle/>
          <a:p>
            <a:pPr indent="0" marL="0">
              <a:buNone/>
            </a:pPr>
            <a:r>
              <a:rPr lang="en-US" sz="1500" b="1" dirty="0">
                <a:solidFill>
                  <a:schemeClr val="tx2"/>
                </a:solidFill>
              </a:rPr>
              <a:t>ERRCODE values</a:t>
            </a:r>
            <a:endParaRPr lang="en-US" sz="1500" dirty="0"/>
          </a:p>
        </p:txBody>
      </p:sp>
      <p:sp>
        <p:nvSpPr>
          <p:cNvPr id="9" name="text-161"/>
          <p:cNvSpPr txBox="1"/>
          <p:nvPr/>
        </p:nvSpPr>
        <p:spPr>
          <a:xfrm>
            <a:off x="6035040" y="1737360"/>
            <a:ext cx="2560320" cy="914400"/>
          </a:xfrm>
          <a:prstGeom prst="rect">
            <a:avLst/>
          </a:prstGeom>
          <a:noFill/>
          <a:ln/>
        </p:spPr>
        <p:txBody>
          <a:bodyPr wrap="square" lIns="0" tIns="0" rIns="0" bIns="0" rtlCol="0" anchor="t"/>
          <a:lstStyle/>
          <a:p>
            <a:pPr indent="0" marL="0">
              <a:buNone/>
            </a:pPr>
            <a:r>
              <a:rPr lang="en-US" sz="1400" dirty="0">
                <a:solidFill>
                  <a:schemeClr val="tx1"/>
                </a:solidFill>
              </a:rPr>
              <a:t>1  bad N (0 or above 32)</a:t>
            </a:r>
            <a:endParaRPr lang="en-US" sz="1400" dirty="0"/>
          </a:p>
          <a:p>
            <a:pPr indent="0" marL="0">
              <a:buNone/>
            </a:pPr>
            <a:r>
              <a:rPr lang="en-US" sz="1400" dirty="0">
                <a:solidFill>
                  <a:schemeClr val="tx1"/>
                </a:solidFill>
              </a:rPr>
              <a:t>2  guest memory error</a:t>
            </a:r>
            <a:endParaRPr lang="en-US" sz="1400" dirty="0"/>
          </a:p>
          <a:p>
            <a:pPr indent="0" marL="0">
              <a:buNone/>
            </a:pPr>
            <a:r>
              <a:rPr lang="en-US" sz="1400" dirty="0">
                <a:solidFill>
                  <a:schemeClr val="tx1"/>
                </a:solidFill>
              </a:rPr>
              <a:t>3  daemon down or too slow</a:t>
            </a:r>
            <a:endParaRPr lang="en-US" sz="1400" dirty="0"/>
          </a:p>
          <a:p>
            <a:pPr indent="0" marL="0">
              <a:buNone/>
            </a:pPr>
            <a:r>
              <a:rPr lang="en-US" sz="1400" dirty="0">
                <a:solidFill>
                  <a:schemeClr val="tx1"/>
                </a:solidFill>
              </a:rPr>
              <a:t>4  daemon rejected it</a:t>
            </a:r>
            <a:endParaRPr lang="en-US" sz="1400" dirty="0"/>
          </a:p>
        </p:txBody>
      </p:sp>
      <p:sp>
        <p:nvSpPr>
          <p:cNvPr id="10" name="card-162"/>
          <p:cNvSpPr/>
          <p:nvPr/>
        </p:nvSpPr>
        <p:spPr>
          <a:xfrm>
            <a:off x="5852160" y="2834640"/>
            <a:ext cx="2834640" cy="1554480"/>
          </a:xfrm>
          <a:prstGeom prst="roundRect">
            <a:avLst>
              <a:gd name="adj" fmla="val 4706"/>
            </a:avLst>
          </a:prstGeom>
          <a:solidFill>
            <a:schemeClr val="bg2"/>
          </a:solidFill>
          <a:ln/>
        </p:spPr>
      </p:sp>
      <p:sp>
        <p:nvSpPr>
          <p:cNvPr id="11" name="icon-circle-163"/>
          <p:cNvSpPr/>
          <p:nvPr/>
        </p:nvSpPr>
        <p:spPr>
          <a:xfrm>
            <a:off x="6035040" y="2971800"/>
            <a:ext cx="384048" cy="384048"/>
          </a:xfrm>
          <a:prstGeom prst="ellipse">
            <a:avLst/>
          </a:prstGeom>
          <a:solidFill>
            <a:schemeClr val="accent1"/>
          </a:solidFill>
          <a:ln/>
        </p:spPr>
      </p:sp>
      <p:pic>
        <p:nvPicPr>
          <p:cNvPr id="12" name="icon-164" descr="Question icon">    </p:cNvPr>
          <p:cNvPicPr>
            <a:picLocks noChangeAspect="1"/>
          </p:cNvPicPr>
          <p:nvPr/>
        </p:nvPicPr>
        <p:blipFill>
          <a:blip r:embed="rId2"/>
          <a:stretch>
            <a:fillRect/>
          </a:stretch>
        </p:blipFill>
        <p:spPr>
          <a:xfrm>
            <a:off x="6131052" y="3067812"/>
            <a:ext cx="192024" cy="192024"/>
          </a:xfrm>
          <a:prstGeom prst="rect">
            <a:avLst/>
          </a:prstGeom>
        </p:spPr>
      </p:pic>
      <p:sp>
        <p:nvSpPr>
          <p:cNvPr id="13" name="text-165"/>
          <p:cNvSpPr txBox="1"/>
          <p:nvPr/>
        </p:nvSpPr>
        <p:spPr>
          <a:xfrm>
            <a:off x="6537960" y="2999232"/>
            <a:ext cx="2103120" cy="329184"/>
          </a:xfrm>
          <a:prstGeom prst="rect">
            <a:avLst/>
          </a:prstGeom>
          <a:noFill/>
          <a:ln/>
        </p:spPr>
        <p:txBody>
          <a:bodyPr wrap="square" lIns="0" tIns="0" rIns="0" bIns="0" rtlCol="0" anchor="ctr"/>
          <a:lstStyle/>
          <a:p>
            <a:pPr indent="0" marL="0">
              <a:buNone/>
            </a:pPr>
            <a:r>
              <a:rPr lang="en-US" sz="1500" b="1" dirty="0">
                <a:solidFill>
                  <a:schemeClr val="tx2"/>
                </a:solidFill>
              </a:rPr>
              <a:t>Why not a device?</a:t>
            </a:r>
            <a:endParaRPr lang="en-US" sz="1500" dirty="0"/>
          </a:p>
        </p:txBody>
      </p:sp>
      <p:sp>
        <p:nvSpPr>
          <p:cNvPr id="14" name="text-166"/>
          <p:cNvSpPr txBox="1"/>
          <p:nvPr/>
        </p:nvSpPr>
        <p:spPr>
          <a:xfrm>
            <a:off x="6035040" y="3456432"/>
            <a:ext cx="2560320" cy="868680"/>
          </a:xfrm>
          <a:prstGeom prst="rect">
            <a:avLst/>
          </a:prstGeom>
          <a:noFill/>
          <a:ln/>
        </p:spPr>
        <p:txBody>
          <a:bodyPr wrap="square" lIns="0" tIns="0" rIns="0" bIns="0" rtlCol="0" anchor="t"/>
          <a:lstStyle/>
          <a:p>
            <a:pPr indent="0" marL="0">
              <a:buNone/>
            </a:pPr>
            <a:r>
              <a:rPr lang="en-US" sz="1400" dirty="0">
                <a:solidFill>
                  <a:schemeClr val="tx1"/>
                </a:solidFill>
              </a:rPr>
              <a:t>Plugins can watch memory but can't add devices, so a RAM mailbox needs no QEMU patch.</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The plugin: store to request</a:t>
            </a:r>
            <a:endParaRPr lang="en-US" sz="3000" dirty="0"/>
          </a:p>
        </p:txBody>
      </p:sp>
      <p:sp>
        <p:nvSpPr>
          <p:cNvPr id="3" name="card-167"/>
          <p:cNvSpPr/>
          <p:nvPr/>
        </p:nvSpPr>
        <p:spPr>
          <a:xfrm>
            <a:off x="457200" y="1097280"/>
            <a:ext cx="4114800" cy="868680"/>
          </a:xfrm>
          <a:prstGeom prst="roundRect">
            <a:avLst>
              <a:gd name="adj" fmla="val 8421"/>
            </a:avLst>
          </a:prstGeom>
          <a:solidFill>
            <a:schemeClr val="bg2"/>
          </a:solidFill>
          <a:ln/>
        </p:spPr>
      </p:sp>
      <p:sp>
        <p:nvSpPr>
          <p:cNvPr id="4" name="text-168"/>
          <p:cNvSpPr txBox="1"/>
          <p:nvPr/>
        </p:nvSpPr>
        <p:spPr>
          <a:xfrm>
            <a:off x="640080" y="1188720"/>
            <a:ext cx="374904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TRANSLATION TIME</a:t>
            </a:r>
            <a:endParaRPr lang="en-US" sz="1100" dirty="0"/>
          </a:p>
        </p:txBody>
      </p:sp>
      <p:sp>
        <p:nvSpPr>
          <p:cNvPr id="5" name="text-169"/>
          <p:cNvSpPr txBox="1"/>
          <p:nvPr/>
        </p:nvSpPr>
        <p:spPr>
          <a:xfrm>
            <a:off x="640080" y="1435608"/>
            <a:ext cx="3749040" cy="475488"/>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vcpu_tb_trans()</a:t>
            </a:r>
            <a:pPr indent="0" marL="0">
              <a:buNone/>
            </a:pPr>
            <a:r>
              <a:rPr lang="en-US" sz="1400" dirty="0">
                <a:solidFill>
                  <a:schemeClr val="tx1"/>
                </a:solidFill>
              </a:rPr>
              <a:t> adds a store callback to every guest instruction</a:t>
            </a:r>
            <a:endParaRPr lang="en-US" sz="1400" dirty="0"/>
          </a:p>
        </p:txBody>
      </p:sp>
      <p:sp>
        <p:nvSpPr>
          <p:cNvPr id="6" name="arrow-170"/>
          <p:cNvSpPr/>
          <p:nvPr/>
        </p:nvSpPr>
        <p:spPr>
          <a:xfrm>
            <a:off x="2514600" y="1975104"/>
            <a:ext cx="0" cy="164592"/>
          </a:xfrm>
          <a:prstGeom prst="line">
            <a:avLst/>
          </a:prstGeom>
          <a:noFill/>
          <a:ln w="19050">
            <a:solidFill>
              <a:schemeClr val="accent5"/>
            </a:solidFill>
            <a:prstDash val="solid"/>
            <a:tailEnd type="triangle"/>
          </a:ln>
        </p:spPr>
      </p:sp>
      <p:sp>
        <p:nvSpPr>
          <p:cNvPr id="7" name="card-171"/>
          <p:cNvSpPr/>
          <p:nvPr/>
        </p:nvSpPr>
        <p:spPr>
          <a:xfrm>
            <a:off x="457200" y="2148840"/>
            <a:ext cx="4114800" cy="868680"/>
          </a:xfrm>
          <a:prstGeom prst="roundRect">
            <a:avLst>
              <a:gd name="adj" fmla="val 8421"/>
            </a:avLst>
          </a:prstGeom>
          <a:solidFill>
            <a:schemeClr val="bg2"/>
          </a:solidFill>
          <a:ln/>
        </p:spPr>
      </p:sp>
      <p:sp>
        <p:nvSpPr>
          <p:cNvPr id="8" name="text-172"/>
          <p:cNvSpPr txBox="1"/>
          <p:nvPr/>
        </p:nvSpPr>
        <p:spPr>
          <a:xfrm>
            <a:off x="640080" y="2240280"/>
            <a:ext cx="374904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EVERY STORE</a:t>
            </a:r>
            <a:endParaRPr lang="en-US" sz="1100" dirty="0"/>
          </a:p>
        </p:txBody>
      </p:sp>
      <p:sp>
        <p:nvSpPr>
          <p:cNvPr id="9" name="text-173"/>
          <p:cNvSpPr txBox="1"/>
          <p:nvPr/>
        </p:nvSpPr>
        <p:spPr>
          <a:xfrm>
            <a:off x="640080" y="2487168"/>
            <a:ext cx="3749040" cy="475488"/>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vcpu_mem_cb()</a:t>
            </a:r>
            <a:pPr indent="0" marL="0">
              <a:buNone/>
            </a:pPr>
            <a:r>
              <a:rPr lang="en-US" sz="1400" dirty="0">
                <a:solidFill>
                  <a:schemeClr val="tx1"/>
                </a:solidFill>
              </a:rPr>
              <a:t> ignores all stores except one to 0x0011C014</a:t>
            </a:r>
            <a:endParaRPr lang="en-US" sz="1400" dirty="0"/>
          </a:p>
        </p:txBody>
      </p:sp>
      <p:sp>
        <p:nvSpPr>
          <p:cNvPr id="10" name="arrow-174"/>
          <p:cNvSpPr/>
          <p:nvPr/>
        </p:nvSpPr>
        <p:spPr>
          <a:xfrm>
            <a:off x="2514600" y="3026664"/>
            <a:ext cx="0" cy="164592"/>
          </a:xfrm>
          <a:prstGeom prst="line">
            <a:avLst/>
          </a:prstGeom>
          <a:noFill/>
          <a:ln w="19050">
            <a:solidFill>
              <a:schemeClr val="accent5"/>
            </a:solidFill>
            <a:prstDash val="solid"/>
            <a:tailEnd type="triangle"/>
          </a:ln>
        </p:spPr>
      </p:sp>
      <p:sp>
        <p:nvSpPr>
          <p:cNvPr id="11" name="card-175"/>
          <p:cNvSpPr/>
          <p:nvPr/>
        </p:nvSpPr>
        <p:spPr>
          <a:xfrm>
            <a:off x="457200" y="3200400"/>
            <a:ext cx="4114800" cy="868680"/>
          </a:xfrm>
          <a:prstGeom prst="roundRect">
            <a:avLst>
              <a:gd name="adj" fmla="val 8421"/>
            </a:avLst>
          </a:prstGeom>
          <a:solidFill>
            <a:schemeClr val="bg2"/>
          </a:solidFill>
          <a:ln/>
        </p:spPr>
      </p:sp>
      <p:sp>
        <p:nvSpPr>
          <p:cNvPr id="12" name="text-176"/>
          <p:cNvSpPr txBox="1"/>
          <p:nvPr/>
        </p:nvSpPr>
        <p:spPr>
          <a:xfrm>
            <a:off x="640080" y="3291840"/>
            <a:ext cx="374904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THE DOORBELL</a:t>
            </a:r>
            <a:endParaRPr lang="en-US" sz="1100" dirty="0"/>
          </a:p>
        </p:txBody>
      </p:sp>
      <p:sp>
        <p:nvSpPr>
          <p:cNvPr id="13" name="text-177"/>
          <p:cNvSpPr txBox="1"/>
          <p:nvPr/>
        </p:nvSpPr>
        <p:spPr>
          <a:xfrm>
            <a:off x="640080" y="3538728"/>
            <a:ext cx="3749040" cy="475488"/>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handle_kick()</a:t>
            </a:r>
            <a:pPr indent="0" marL="0">
              <a:buNone/>
            </a:pPr>
            <a:r>
              <a:rPr lang="en-US" sz="1400" dirty="0">
                <a:solidFill>
                  <a:schemeClr val="tx1"/>
                </a:solidFill>
              </a:rPr>
              <a:t> reads the mailbox, A and B, calls transact(), writes C and STATUS</a:t>
            </a:r>
            <a:endParaRPr lang="en-US" sz="1400" dirty="0"/>
          </a:p>
        </p:txBody>
      </p:sp>
      <p:sp>
        <p:nvSpPr>
          <p:cNvPr id="14" name="text-178"/>
          <p:cNvSpPr txBox="1"/>
          <p:nvPr/>
        </p:nvSpPr>
        <p:spPr>
          <a:xfrm>
            <a:off x="4937760" y="1097280"/>
            <a:ext cx="3749040" cy="320040"/>
          </a:xfrm>
          <a:prstGeom prst="rect">
            <a:avLst/>
          </a:prstGeom>
          <a:noFill/>
          <a:ln/>
        </p:spPr>
        <p:txBody>
          <a:bodyPr wrap="square" lIns="0" tIns="0" rIns="0" bIns="0" rtlCol="0" anchor="t"/>
          <a:lstStyle/>
          <a:p>
            <a:pPr indent="0" marL="0">
              <a:buNone/>
            </a:pPr>
            <a:r>
              <a:rPr lang="en-US" sz="1600" b="1" dirty="0">
                <a:solidFill>
                  <a:schemeClr val="tx2"/>
                </a:solidFill>
              </a:rPr>
              <a:t>Robustness rules</a:t>
            </a:r>
            <a:endParaRPr lang="en-US" sz="1600" dirty="0"/>
          </a:p>
        </p:txBody>
      </p:sp>
      <p:sp>
        <p:nvSpPr>
          <p:cNvPr id="15" name="icon-circle-179"/>
          <p:cNvSpPr/>
          <p:nvPr/>
        </p:nvSpPr>
        <p:spPr>
          <a:xfrm>
            <a:off x="4937760" y="1591056"/>
            <a:ext cx="384048" cy="384048"/>
          </a:xfrm>
          <a:prstGeom prst="ellipse">
            <a:avLst/>
          </a:prstGeom>
          <a:solidFill>
            <a:schemeClr val="accent1"/>
          </a:solidFill>
          <a:ln/>
        </p:spPr>
      </p:sp>
      <p:pic>
        <p:nvPicPr>
          <p:cNvPr id="16" name="icon-180" descr="DoorClosed icon">    </p:cNvPr>
          <p:cNvPicPr>
            <a:picLocks noChangeAspect="1"/>
          </p:cNvPicPr>
          <p:nvPr/>
        </p:nvPicPr>
        <p:blipFill>
          <a:blip r:embed="rId1"/>
          <a:stretch>
            <a:fillRect/>
          </a:stretch>
        </p:blipFill>
        <p:spPr>
          <a:xfrm>
            <a:off x="5033772" y="1687068"/>
            <a:ext cx="192024" cy="192024"/>
          </a:xfrm>
          <a:prstGeom prst="rect">
            <a:avLst/>
          </a:prstGeom>
        </p:spPr>
      </p:pic>
      <p:sp>
        <p:nvSpPr>
          <p:cNvPr id="17" name="text-181"/>
          <p:cNvSpPr txBox="1"/>
          <p:nvPr/>
        </p:nvSpPr>
        <p:spPr>
          <a:xfrm>
            <a:off x="5440680" y="1554480"/>
            <a:ext cx="3246120" cy="548640"/>
          </a:xfrm>
          <a:prstGeom prst="rect">
            <a:avLst/>
          </a:prstGeom>
          <a:noFill/>
          <a:ln/>
        </p:spPr>
        <p:txBody>
          <a:bodyPr wrap="square" lIns="0" tIns="0" rIns="0" bIns="0" rtlCol="0" anchor="ctr"/>
          <a:lstStyle/>
          <a:p>
            <a:pPr indent="0" marL="0">
              <a:buNone/>
            </a:pPr>
            <a:r>
              <a:rPr lang="en-US" sz="1400" dirty="0">
                <a:solidFill>
                  <a:schemeClr val="tx1"/>
                </a:solidFill>
              </a:rPr>
              <a:t>Fails fast: QEMU won't start without a daemon</a:t>
            </a:r>
            <a:endParaRPr lang="en-US" sz="1400" dirty="0"/>
          </a:p>
        </p:txBody>
      </p:sp>
      <p:sp>
        <p:nvSpPr>
          <p:cNvPr id="18" name="icon-circle-182"/>
          <p:cNvSpPr/>
          <p:nvPr/>
        </p:nvSpPr>
        <p:spPr>
          <a:xfrm>
            <a:off x="4937760" y="2194560"/>
            <a:ext cx="384048" cy="384048"/>
          </a:xfrm>
          <a:prstGeom prst="ellipse">
            <a:avLst/>
          </a:prstGeom>
          <a:solidFill>
            <a:schemeClr val="accent1"/>
          </a:solidFill>
          <a:ln/>
        </p:spPr>
      </p:sp>
      <p:pic>
        <p:nvPicPr>
          <p:cNvPr id="19" name="icon-183" descr="HourglassHalf icon">    </p:cNvPr>
          <p:cNvPicPr>
            <a:picLocks noChangeAspect="1"/>
          </p:cNvPicPr>
          <p:nvPr/>
        </p:nvPicPr>
        <p:blipFill>
          <a:blip r:embed="rId2"/>
          <a:stretch>
            <a:fillRect/>
          </a:stretch>
        </p:blipFill>
        <p:spPr>
          <a:xfrm>
            <a:off x="5033772" y="2290572"/>
            <a:ext cx="192024" cy="192024"/>
          </a:xfrm>
          <a:prstGeom prst="rect">
            <a:avLst/>
          </a:prstGeom>
        </p:spPr>
      </p:pic>
      <p:sp>
        <p:nvSpPr>
          <p:cNvPr id="20" name="text-184"/>
          <p:cNvSpPr txBox="1"/>
          <p:nvPr/>
        </p:nvSpPr>
        <p:spPr>
          <a:xfrm>
            <a:off x="5440680" y="2157984"/>
            <a:ext cx="3246120" cy="548640"/>
          </a:xfrm>
          <a:prstGeom prst="rect">
            <a:avLst/>
          </a:prstGeom>
          <a:noFill/>
          <a:ln/>
        </p:spPr>
        <p:txBody>
          <a:bodyPr wrap="square" lIns="0" tIns="0" rIns="0" bIns="0" rtlCol="0" anchor="ctr"/>
          <a:lstStyle/>
          <a:p>
            <a:pPr indent="0" marL="0">
              <a:buNone/>
            </a:pPr>
            <a:r>
              <a:rPr lang="en-US" sz="1400" dirty="0">
                <a:solidFill>
                  <a:schemeClr val="tx1"/>
                </a:solidFill>
              </a:rPr>
              <a:t>Every send and reply has a deadline (timeout_ms)</a:t>
            </a:r>
            <a:endParaRPr lang="en-US" sz="1400" dirty="0"/>
          </a:p>
        </p:txBody>
      </p:sp>
      <p:sp>
        <p:nvSpPr>
          <p:cNvPr id="21" name="icon-circle-185"/>
          <p:cNvSpPr/>
          <p:nvPr/>
        </p:nvSpPr>
        <p:spPr>
          <a:xfrm>
            <a:off x="4937760" y="2798064"/>
            <a:ext cx="384048" cy="384048"/>
          </a:xfrm>
          <a:prstGeom prst="ellipse">
            <a:avLst/>
          </a:prstGeom>
          <a:solidFill>
            <a:schemeClr val="accent1"/>
          </a:solidFill>
          <a:ln/>
        </p:spPr>
      </p:sp>
      <p:pic>
        <p:nvPicPr>
          <p:cNvPr id="22" name="icon-186" descr="Bolt icon">    </p:cNvPr>
          <p:cNvPicPr>
            <a:picLocks noChangeAspect="1"/>
          </p:cNvPicPr>
          <p:nvPr/>
        </p:nvPicPr>
        <p:blipFill>
          <a:blip r:embed="rId3"/>
          <a:stretch>
            <a:fillRect/>
          </a:stretch>
        </p:blipFill>
        <p:spPr>
          <a:xfrm>
            <a:off x="5033772" y="2894076"/>
            <a:ext cx="192024" cy="192024"/>
          </a:xfrm>
          <a:prstGeom prst="rect">
            <a:avLst/>
          </a:prstGeom>
        </p:spPr>
      </p:pic>
      <p:sp>
        <p:nvSpPr>
          <p:cNvPr id="23" name="text-187"/>
          <p:cNvSpPr txBox="1"/>
          <p:nvPr/>
        </p:nvSpPr>
        <p:spPr>
          <a:xfrm>
            <a:off x="5440680" y="2761488"/>
            <a:ext cx="3246120" cy="548640"/>
          </a:xfrm>
          <a:prstGeom prst="rect">
            <a:avLst/>
          </a:prstGeom>
          <a:noFill/>
          <a:ln/>
        </p:spPr>
        <p:txBody>
          <a:bodyPr wrap="square" lIns="0" tIns="0" rIns="0" bIns="0" rtlCol="0" anchor="ctr"/>
          <a:lstStyle/>
          <a:p>
            <a:pPr indent="0" marL="0">
              <a:buNone/>
            </a:pPr>
            <a:r>
              <a:rPr lang="en-US" sz="1400" dirty="0">
                <a:solidFill>
                  <a:schemeClr val="tx1"/>
                </a:solidFill>
              </a:rPr>
              <a:t>Non-blocking socket: macOS ignores MSG_DONTWAIT</a:t>
            </a:r>
            <a:endParaRPr lang="en-US" sz="1400" dirty="0"/>
          </a:p>
        </p:txBody>
      </p:sp>
      <p:sp>
        <p:nvSpPr>
          <p:cNvPr id="24" name="icon-circle-188"/>
          <p:cNvSpPr/>
          <p:nvPr/>
        </p:nvSpPr>
        <p:spPr>
          <a:xfrm>
            <a:off x="4937760" y="3401568"/>
            <a:ext cx="384048" cy="384048"/>
          </a:xfrm>
          <a:prstGeom prst="ellipse">
            <a:avLst/>
          </a:prstGeom>
          <a:solidFill>
            <a:schemeClr val="accent1"/>
          </a:solidFill>
          <a:ln/>
        </p:spPr>
      </p:sp>
      <p:pic>
        <p:nvPicPr>
          <p:cNvPr id="25" name="icon-189" descr="ShieldAlt icon">    </p:cNvPr>
          <p:cNvPicPr>
            <a:picLocks noChangeAspect="1"/>
          </p:cNvPicPr>
          <p:nvPr/>
        </p:nvPicPr>
        <p:blipFill>
          <a:blip r:embed="rId4"/>
          <a:stretch>
            <a:fillRect/>
          </a:stretch>
        </p:blipFill>
        <p:spPr>
          <a:xfrm>
            <a:off x="5033772" y="3497580"/>
            <a:ext cx="192024" cy="192024"/>
          </a:xfrm>
          <a:prstGeom prst="rect">
            <a:avLst/>
          </a:prstGeom>
        </p:spPr>
      </p:pic>
      <p:sp>
        <p:nvSpPr>
          <p:cNvPr id="26" name="text-190"/>
          <p:cNvSpPr txBox="1"/>
          <p:nvPr/>
        </p:nvSpPr>
        <p:spPr>
          <a:xfrm>
            <a:off x="5440680" y="3364992"/>
            <a:ext cx="3246120" cy="548640"/>
          </a:xfrm>
          <a:prstGeom prst="rect">
            <a:avLst/>
          </a:prstGeom>
          <a:noFill/>
          <a:ln/>
        </p:spPr>
        <p:txBody>
          <a:bodyPr wrap="square" lIns="0" tIns="0" rIns="0" bIns="0" rtlCol="0" anchor="ctr"/>
          <a:lstStyle/>
          <a:p>
            <a:pPr indent="0" marL="0">
              <a:buNone/>
            </a:pPr>
            <a:r>
              <a:rPr lang="en-US" sz="1400" dirty="0">
                <a:solidFill>
                  <a:schemeClr val="tx1"/>
                </a:solidFill>
              </a:rPr>
              <a:t>SIGPIPE off: a dead daemon is an error, not a crash</a:t>
            </a:r>
            <a:endParaRPr lang="en-US" sz="1400" dirty="0"/>
          </a:p>
        </p:txBody>
      </p:sp>
      <p:sp>
        <p:nvSpPr>
          <p:cNvPr id="27" name="icon-circle-191"/>
          <p:cNvSpPr/>
          <p:nvPr/>
        </p:nvSpPr>
        <p:spPr>
          <a:xfrm>
            <a:off x="4937760" y="4005072"/>
            <a:ext cx="384048" cy="384048"/>
          </a:xfrm>
          <a:prstGeom prst="ellipse">
            <a:avLst/>
          </a:prstGeom>
          <a:solidFill>
            <a:schemeClr val="accent1"/>
          </a:solidFill>
          <a:ln/>
        </p:spPr>
      </p:sp>
      <p:pic>
        <p:nvPicPr>
          <p:cNvPr id="28" name="icon-192" descr="Redo icon">    </p:cNvPr>
          <p:cNvPicPr>
            <a:picLocks noChangeAspect="1"/>
          </p:cNvPicPr>
          <p:nvPr/>
        </p:nvPicPr>
        <p:blipFill>
          <a:blip r:embed="rId5"/>
          <a:stretch>
            <a:fillRect/>
          </a:stretch>
        </p:blipFill>
        <p:spPr>
          <a:xfrm>
            <a:off x="5033772" y="4101084"/>
            <a:ext cx="192024" cy="192024"/>
          </a:xfrm>
          <a:prstGeom prst="rect">
            <a:avLst/>
          </a:prstGeom>
        </p:spPr>
      </p:pic>
      <p:sp>
        <p:nvSpPr>
          <p:cNvPr id="29" name="text-193"/>
          <p:cNvSpPr txBox="1"/>
          <p:nvPr/>
        </p:nvSpPr>
        <p:spPr>
          <a:xfrm>
            <a:off x="5440680" y="3968496"/>
            <a:ext cx="3246120" cy="548640"/>
          </a:xfrm>
          <a:prstGeom prst="rect">
            <a:avLst/>
          </a:prstGeom>
          <a:noFill/>
          <a:ln/>
        </p:spPr>
        <p:txBody>
          <a:bodyPr wrap="square" lIns="0" tIns="0" rIns="0" bIns="0" rtlCol="0" anchor="ctr"/>
          <a:lstStyle/>
          <a:p>
            <a:pPr indent="0" marL="0">
              <a:buNone/>
            </a:pPr>
            <a:r>
              <a:rPr lang="en-US" sz="1400" dirty="0">
                <a:solidFill>
                  <a:schemeClr val="tx1"/>
                </a:solidFill>
              </a:rPr>
              <a:t>Retries once on a new connection; a GEMM is idempotent</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The wire protocol</a:t>
            </a:r>
            <a:endParaRPr lang="en-US" sz="3000" dirty="0"/>
          </a:p>
        </p:txBody>
      </p:sp>
      <p:sp>
        <p:nvSpPr>
          <p:cNvPr id="3" name="rect-194"/>
          <p:cNvSpPr/>
          <p:nvPr/>
        </p:nvSpPr>
        <p:spPr>
          <a:xfrm>
            <a:off x="457200" y="1143000"/>
            <a:ext cx="2057400" cy="731520"/>
          </a:xfrm>
          <a:prstGeom prst="rect">
            <a:avLst/>
          </a:prstGeom>
          <a:solidFill>
            <a:schemeClr val="tx2"/>
          </a:solidFill>
          <a:ln w="25400">
            <a:solidFill>
              <a:schemeClr val="bg1"/>
            </a:solidFill>
            <a:prstDash val="solid"/>
          </a:ln>
        </p:spPr>
      </p:sp>
      <p:sp>
        <p:nvSpPr>
          <p:cNvPr id="4" name="text-195"/>
          <p:cNvSpPr txBox="1"/>
          <p:nvPr/>
        </p:nvSpPr>
        <p:spPr>
          <a:xfrm>
            <a:off x="457200" y="1188720"/>
            <a:ext cx="2057400" cy="640080"/>
          </a:xfrm>
          <a:prstGeom prst="rect">
            <a:avLst/>
          </a:prstGeom>
          <a:noFill/>
          <a:ln/>
        </p:spPr>
        <p:txBody>
          <a:bodyPr wrap="square" lIns="0" tIns="0" rIns="0" bIns="0" rtlCol="0" anchor="ctr"/>
          <a:lstStyle/>
          <a:p>
            <a:pPr algn="ctr" indent="0" marL="0">
              <a:buNone/>
            </a:pPr>
            <a:r>
              <a:rPr lang="en-US" sz="1400" b="1" dirty="0">
                <a:solidFill>
                  <a:schemeClr val="bg1"/>
                </a:solidFill>
              </a:rPr>
              <a:t>magic</a:t>
            </a:r>
            <a:endParaRPr lang="en-US" sz="1400" dirty="0"/>
          </a:p>
          <a:p>
            <a:pPr algn="ctr" indent="0" marL="0">
              <a:buNone/>
            </a:pPr>
            <a:r>
              <a:rPr lang="en-US" sz="1200" dirty="0">
                <a:solidFill>
                  <a:schemeClr val="accent3"/>
                </a:solidFill>
              </a:rPr>
              <a:t>u32 · “IMMD”</a:t>
            </a:r>
            <a:endParaRPr lang="en-US" sz="1400" dirty="0"/>
          </a:p>
        </p:txBody>
      </p:sp>
      <p:sp>
        <p:nvSpPr>
          <p:cNvPr id="5" name="rect-196"/>
          <p:cNvSpPr/>
          <p:nvPr/>
        </p:nvSpPr>
        <p:spPr>
          <a:xfrm>
            <a:off x="2514600" y="1143000"/>
            <a:ext cx="1028700" cy="731520"/>
          </a:xfrm>
          <a:prstGeom prst="rect">
            <a:avLst/>
          </a:prstGeom>
          <a:solidFill>
            <a:schemeClr val="tx2"/>
          </a:solidFill>
          <a:ln w="25400">
            <a:solidFill>
              <a:schemeClr val="bg1"/>
            </a:solidFill>
            <a:prstDash val="solid"/>
          </a:ln>
        </p:spPr>
      </p:sp>
      <p:sp>
        <p:nvSpPr>
          <p:cNvPr id="6" name="text-197"/>
          <p:cNvSpPr txBox="1"/>
          <p:nvPr/>
        </p:nvSpPr>
        <p:spPr>
          <a:xfrm>
            <a:off x="2514600" y="1188720"/>
            <a:ext cx="1028700" cy="640080"/>
          </a:xfrm>
          <a:prstGeom prst="rect">
            <a:avLst/>
          </a:prstGeom>
          <a:noFill/>
          <a:ln/>
        </p:spPr>
        <p:txBody>
          <a:bodyPr wrap="square" lIns="0" tIns="0" rIns="0" bIns="0" rtlCol="0" anchor="ctr"/>
          <a:lstStyle/>
          <a:p>
            <a:pPr algn="ctr" indent="0" marL="0">
              <a:buNone/>
            </a:pPr>
            <a:r>
              <a:rPr lang="en-US" sz="1400" b="1" dirty="0">
                <a:solidFill>
                  <a:schemeClr val="bg1"/>
                </a:solidFill>
              </a:rPr>
              <a:t>version</a:t>
            </a:r>
            <a:endParaRPr lang="en-US" sz="1400" dirty="0"/>
          </a:p>
          <a:p>
            <a:pPr algn="ctr" indent="0" marL="0">
              <a:buNone/>
            </a:pPr>
            <a:r>
              <a:rPr lang="en-US" sz="1200" dirty="0">
                <a:solidFill>
                  <a:schemeClr val="accent3"/>
                </a:solidFill>
              </a:rPr>
              <a:t>u16 · 1</a:t>
            </a:r>
            <a:endParaRPr lang="en-US" sz="1400" dirty="0"/>
          </a:p>
        </p:txBody>
      </p:sp>
      <p:sp>
        <p:nvSpPr>
          <p:cNvPr id="7" name="rect-198"/>
          <p:cNvSpPr/>
          <p:nvPr/>
        </p:nvSpPr>
        <p:spPr>
          <a:xfrm>
            <a:off x="3543300" y="1143000"/>
            <a:ext cx="1028700" cy="731520"/>
          </a:xfrm>
          <a:prstGeom prst="rect">
            <a:avLst/>
          </a:prstGeom>
          <a:solidFill>
            <a:schemeClr val="tx2"/>
          </a:solidFill>
          <a:ln w="25400">
            <a:solidFill>
              <a:schemeClr val="bg1"/>
            </a:solidFill>
            <a:prstDash val="solid"/>
          </a:ln>
        </p:spPr>
      </p:sp>
      <p:sp>
        <p:nvSpPr>
          <p:cNvPr id="8" name="text-199"/>
          <p:cNvSpPr txBox="1"/>
          <p:nvPr/>
        </p:nvSpPr>
        <p:spPr>
          <a:xfrm>
            <a:off x="3543300" y="1188720"/>
            <a:ext cx="1028700" cy="640080"/>
          </a:xfrm>
          <a:prstGeom prst="rect">
            <a:avLst/>
          </a:prstGeom>
          <a:noFill/>
          <a:ln/>
        </p:spPr>
        <p:txBody>
          <a:bodyPr wrap="square" lIns="0" tIns="0" rIns="0" bIns="0" rtlCol="0" anchor="ctr"/>
          <a:lstStyle/>
          <a:p>
            <a:pPr algn="ctr" indent="0" marL="0">
              <a:buNone/>
            </a:pPr>
            <a:r>
              <a:rPr lang="en-US" sz="1400" b="1" dirty="0">
                <a:solidFill>
                  <a:schemeClr val="bg1"/>
                </a:solidFill>
              </a:rPr>
              <a:t>type</a:t>
            </a:r>
            <a:endParaRPr lang="en-US" sz="1400" dirty="0"/>
          </a:p>
          <a:p>
            <a:pPr algn="ctr" indent="0" marL="0">
              <a:buNone/>
            </a:pPr>
            <a:r>
              <a:rPr lang="en-US" sz="1200" dirty="0">
                <a:solidFill>
                  <a:schemeClr val="accent3"/>
                </a:solidFill>
              </a:rPr>
              <a:t>u16</a:t>
            </a:r>
            <a:endParaRPr lang="en-US" sz="1400" dirty="0"/>
          </a:p>
        </p:txBody>
      </p:sp>
      <p:sp>
        <p:nvSpPr>
          <p:cNvPr id="9" name="rect-200"/>
          <p:cNvSpPr/>
          <p:nvPr/>
        </p:nvSpPr>
        <p:spPr>
          <a:xfrm>
            <a:off x="4572000" y="1143000"/>
            <a:ext cx="2057400" cy="731520"/>
          </a:xfrm>
          <a:prstGeom prst="rect">
            <a:avLst/>
          </a:prstGeom>
          <a:solidFill>
            <a:schemeClr val="tx2"/>
          </a:solidFill>
          <a:ln w="25400">
            <a:solidFill>
              <a:schemeClr val="bg1"/>
            </a:solidFill>
            <a:prstDash val="solid"/>
          </a:ln>
        </p:spPr>
      </p:sp>
      <p:sp>
        <p:nvSpPr>
          <p:cNvPr id="10" name="text-201"/>
          <p:cNvSpPr txBox="1"/>
          <p:nvPr/>
        </p:nvSpPr>
        <p:spPr>
          <a:xfrm>
            <a:off x="4572000" y="1188720"/>
            <a:ext cx="2057400" cy="640080"/>
          </a:xfrm>
          <a:prstGeom prst="rect">
            <a:avLst/>
          </a:prstGeom>
          <a:noFill/>
          <a:ln/>
        </p:spPr>
        <p:txBody>
          <a:bodyPr wrap="square" lIns="0" tIns="0" rIns="0" bIns="0" rtlCol="0" anchor="ctr"/>
          <a:lstStyle/>
          <a:p>
            <a:pPr algn="ctr" indent="0" marL="0">
              <a:buNone/>
            </a:pPr>
            <a:r>
              <a:rPr lang="en-US" sz="1400" b="1" dirty="0">
                <a:solidFill>
                  <a:schemeClr val="bg1"/>
                </a:solidFill>
              </a:rPr>
              <a:t>seq</a:t>
            </a:r>
            <a:endParaRPr lang="en-US" sz="1400" dirty="0"/>
          </a:p>
          <a:p>
            <a:pPr algn="ctr" indent="0" marL="0">
              <a:buNone/>
            </a:pPr>
            <a:r>
              <a:rPr lang="en-US" sz="1200" dirty="0">
                <a:solidFill>
                  <a:schemeClr val="accent3"/>
                </a:solidFill>
              </a:rPr>
              <a:t>u32 · echoed</a:t>
            </a:r>
            <a:endParaRPr lang="en-US" sz="1400" dirty="0"/>
          </a:p>
        </p:txBody>
      </p:sp>
      <p:sp>
        <p:nvSpPr>
          <p:cNvPr id="11" name="rect-202"/>
          <p:cNvSpPr/>
          <p:nvPr/>
        </p:nvSpPr>
        <p:spPr>
          <a:xfrm>
            <a:off x="6629400" y="1143000"/>
            <a:ext cx="2057400" cy="731520"/>
          </a:xfrm>
          <a:prstGeom prst="rect">
            <a:avLst/>
          </a:prstGeom>
          <a:solidFill>
            <a:schemeClr val="tx2"/>
          </a:solidFill>
          <a:ln w="25400">
            <a:solidFill>
              <a:schemeClr val="bg1"/>
            </a:solidFill>
            <a:prstDash val="solid"/>
          </a:ln>
        </p:spPr>
      </p:sp>
      <p:sp>
        <p:nvSpPr>
          <p:cNvPr id="12" name="text-203"/>
          <p:cNvSpPr txBox="1"/>
          <p:nvPr/>
        </p:nvSpPr>
        <p:spPr>
          <a:xfrm>
            <a:off x="6629400" y="1188720"/>
            <a:ext cx="2057400" cy="640080"/>
          </a:xfrm>
          <a:prstGeom prst="rect">
            <a:avLst/>
          </a:prstGeom>
          <a:noFill/>
          <a:ln/>
        </p:spPr>
        <p:txBody>
          <a:bodyPr wrap="square" lIns="0" tIns="0" rIns="0" bIns="0" rtlCol="0" anchor="ctr"/>
          <a:lstStyle/>
          <a:p>
            <a:pPr algn="ctr" indent="0" marL="0">
              <a:buNone/>
            </a:pPr>
            <a:r>
              <a:rPr lang="en-US" sz="1400" b="1" dirty="0">
                <a:solidFill>
                  <a:schemeClr val="bg1"/>
                </a:solidFill>
              </a:rPr>
              <a:t>len</a:t>
            </a:r>
            <a:endParaRPr lang="en-US" sz="1400" dirty="0"/>
          </a:p>
          <a:p>
            <a:pPr algn="ctr" indent="0" marL="0">
              <a:buNone/>
            </a:pPr>
            <a:r>
              <a:rPr lang="en-US" sz="1200" dirty="0">
                <a:solidFill>
                  <a:schemeClr val="accent3"/>
                </a:solidFill>
              </a:rPr>
              <a:t>u32 · payload bytes</a:t>
            </a:r>
            <a:endParaRPr lang="en-US" sz="1400" dirty="0"/>
          </a:p>
        </p:txBody>
      </p:sp>
      <p:sp>
        <p:nvSpPr>
          <p:cNvPr id="13" name="text-204"/>
          <p:cNvSpPr txBox="1"/>
          <p:nvPr/>
        </p:nvSpPr>
        <p:spPr>
          <a:xfrm>
            <a:off x="274320" y="1901952"/>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0</a:t>
            </a:r>
            <a:endParaRPr lang="en-US" sz="1000" dirty="0"/>
          </a:p>
        </p:txBody>
      </p:sp>
      <p:sp>
        <p:nvSpPr>
          <p:cNvPr id="14" name="text-205"/>
          <p:cNvSpPr txBox="1"/>
          <p:nvPr/>
        </p:nvSpPr>
        <p:spPr>
          <a:xfrm>
            <a:off x="2331720" y="1901952"/>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4</a:t>
            </a:r>
            <a:endParaRPr lang="en-US" sz="1000" dirty="0"/>
          </a:p>
        </p:txBody>
      </p:sp>
      <p:sp>
        <p:nvSpPr>
          <p:cNvPr id="15" name="text-206"/>
          <p:cNvSpPr txBox="1"/>
          <p:nvPr/>
        </p:nvSpPr>
        <p:spPr>
          <a:xfrm>
            <a:off x="3360420" y="1901952"/>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6</a:t>
            </a:r>
            <a:endParaRPr lang="en-US" sz="1000" dirty="0"/>
          </a:p>
        </p:txBody>
      </p:sp>
      <p:sp>
        <p:nvSpPr>
          <p:cNvPr id="16" name="text-207"/>
          <p:cNvSpPr txBox="1"/>
          <p:nvPr/>
        </p:nvSpPr>
        <p:spPr>
          <a:xfrm>
            <a:off x="4389120" y="1901952"/>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8</a:t>
            </a:r>
            <a:endParaRPr lang="en-US" sz="1000" dirty="0"/>
          </a:p>
        </p:txBody>
      </p:sp>
      <p:sp>
        <p:nvSpPr>
          <p:cNvPr id="17" name="text-208"/>
          <p:cNvSpPr txBox="1"/>
          <p:nvPr/>
        </p:nvSpPr>
        <p:spPr>
          <a:xfrm>
            <a:off x="6446520" y="1901952"/>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12</a:t>
            </a:r>
            <a:endParaRPr lang="en-US" sz="1000" dirty="0"/>
          </a:p>
        </p:txBody>
      </p:sp>
      <p:sp>
        <p:nvSpPr>
          <p:cNvPr id="18" name="text-209"/>
          <p:cNvSpPr txBox="1"/>
          <p:nvPr/>
        </p:nvSpPr>
        <p:spPr>
          <a:xfrm>
            <a:off x="8503920" y="1901952"/>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16</a:t>
            </a:r>
            <a:endParaRPr lang="en-US" sz="1000" dirty="0"/>
          </a:p>
        </p:txBody>
      </p:sp>
      <p:sp>
        <p:nvSpPr>
          <p:cNvPr id="19" name="text-210"/>
          <p:cNvSpPr txBox="1"/>
          <p:nvPr/>
        </p:nvSpPr>
        <p:spPr>
          <a:xfrm>
            <a:off x="457200" y="2148840"/>
            <a:ext cx="8229600" cy="274320"/>
          </a:xfrm>
          <a:prstGeom prst="rect">
            <a:avLst/>
          </a:prstGeom>
          <a:noFill/>
          <a:ln/>
        </p:spPr>
        <p:txBody>
          <a:bodyPr wrap="square" lIns="0" tIns="0" rIns="0" bIns="0" rtlCol="0" anchor="t"/>
          <a:lstStyle/>
          <a:p>
            <a:pPr indent="0" marL="0">
              <a:buNone/>
            </a:pPr>
            <a:r>
              <a:rPr lang="en-US" sz="1200" dirty="0">
                <a:solidFill>
                  <a:schemeClr val="accent5"/>
                </a:solidFill>
              </a:rPr>
              <a:t>16-byte header, then len payload bytes. Little-endian; struct sizes pinned with _Static_assert.</a:t>
            </a:r>
            <a:endParaRPr lang="en-US" sz="1200" dirty="0"/>
          </a:p>
        </p:txBody>
      </p:sp>
      <p:graphicFrame>
        <p:nvGraphicFramePr>
          <p:cNvPr id="12" name="protocol-table-211"/>
          <p:cNvGraphicFramePr>
            <a:graphicFrameLocks noGrp="1"/>
          </p:cNvGraphicFramePr>
          <p:nvPr>
            <p:extLst>
              <p:ext uri="{D42A27DB-BD31-4B8C-83A1-F6EECF244321}">
                <p14:modId xmlns:p14="http://schemas.microsoft.com/office/powerpoint/2010/main" val="1579011935"/>
              </p:ext>
            </p:extLst>
          </p:nvPr>
        </p:nvGraphicFramePr>
        <p:xfrm>
          <a:off x="457200" y="2560320"/>
          <a:ext cx="4937760" cy="914400"/>
        </p:xfrm>
        <a:graphic>
          <a:graphicData uri="http://schemas.openxmlformats.org/drawingml/2006/table">
            <a:tbl>
              <a:tblPr/>
              <a:tblGrid>
                <a:gridCol w="1508760"/>
                <a:gridCol w="1508760"/>
                <a:gridCol w="1920240"/>
              </a:tblGrid>
              <a:tr h="301752">
                <a:tc>
                  <a:txBody>
                    <a:bodyPr/>
                    <a:lstStyle/>
                    <a:p>
                      <a:pPr indent="0" marL="0">
                        <a:buNone/>
                      </a:pPr>
                      <a:r>
                        <a:rPr lang="en-US" sz="1300" b="1" dirty="0">
                          <a:solidFill>
                            <a:schemeClr val="bg1"/>
                          </a:solidFill>
                        </a:rPr>
                        <a:t>Message</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Direction</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Payload</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chemeClr val="tx2"/>
                    </a:solidFill>
                  </a:tcPr>
                </a:tc>
              </a:tr>
              <a:tr h="301752">
                <a:tc>
                  <a:txBody>
                    <a:bodyPr/>
                    <a:lstStyle/>
                    <a:p>
                      <a:pPr indent="0" marL="0">
                        <a:buNone/>
                      </a:pPr>
                      <a:r>
                        <a:rPr lang="en-US" sz="1300" b="1" dirty="0">
                          <a:solidFill>
                            <a:schemeClr val="tx1"/>
                          </a:solidFill>
                        </a:rPr>
                        <a:t>HELLO (1)</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indent="0" marL="0">
                        <a:buNone/>
                      </a:pPr>
                      <a:r>
                        <a:rPr lang="en-US" sz="1300" dirty="0">
                          <a:solidFill>
                            <a:schemeClr val="tx1"/>
                          </a:solidFill>
                        </a:rPr>
                        <a:t>plugin → daemon</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indent="0" marL="0">
                        <a:buNone/>
                      </a:pPr>
                      <a:r>
                        <a:rPr lang="en-US" sz="1300" dirty="0">
                          <a:solidFill>
                            <a:schemeClr val="tx1"/>
                          </a:solidFill>
                        </a:rPr>
                        <a:t>client PID</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301752">
                <a:tc>
                  <a:txBody>
                    <a:bodyPr/>
                    <a:lstStyle/>
                    <a:p>
                      <a:pPr indent="0" marL="0">
                        <a:buNone/>
                      </a:pPr>
                      <a:r>
                        <a:rPr lang="en-US" sz="1300" b="1" dirty="0">
                          <a:solidFill>
                            <a:schemeClr val="tx1"/>
                          </a:solidFill>
                        </a:rPr>
                        <a:t>HELLO_ACK (2)</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indent="0" marL="0">
                        <a:buNone/>
                      </a:pPr>
                      <a:r>
                        <a:rPr lang="en-US" sz="1300" dirty="0">
                          <a:solidFill>
                            <a:schemeClr val="tx1"/>
                          </a:solidFill>
                        </a:rPr>
                        <a:t>daemon → plugin</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indent="0" marL="0">
                        <a:buNone/>
                      </a:pPr>
                      <a:r>
                        <a:rPr lang="en-US" sz="1300" dirty="0">
                          <a:solidFill>
                            <a:schemeClr val="tx1"/>
                          </a:solidFill>
                        </a:rPr>
                        <a:t>PID, max N, served</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301752">
                <a:tc>
                  <a:txBody>
                    <a:bodyPr/>
                    <a:lstStyle/>
                    <a:p>
                      <a:pPr indent="0" marL="0">
                        <a:buNone/>
                      </a:pPr>
                      <a:r>
                        <a:rPr lang="en-US" sz="1300" b="1" dirty="0">
                          <a:solidFill>
                            <a:schemeClr val="tx1"/>
                          </a:solidFill>
                        </a:rPr>
                        <a:t>GEMM (3)</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indent="0" marL="0">
                        <a:buNone/>
                      </a:pPr>
                      <a:r>
                        <a:rPr lang="en-US" sz="1300" dirty="0">
                          <a:solidFill>
                            <a:schemeClr val="tx1"/>
                          </a:solidFill>
                        </a:rPr>
                        <a:t>plugin → daemon</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indent="0" marL="0">
                        <a:buNone/>
                      </a:pPr>
                      <a:r>
                        <a:rPr lang="en-US" sz="1300" dirty="0">
                          <a:solidFill>
                            <a:schemeClr val="tx1"/>
                          </a:solidFill>
                        </a:rPr>
                        <a:t>n, flags, A, B</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301752">
                <a:tc>
                  <a:txBody>
                    <a:bodyPr/>
                    <a:lstStyle/>
                    <a:p>
                      <a:pPr indent="0" marL="0">
                        <a:buNone/>
                      </a:pPr>
                      <a:r>
                        <a:rPr lang="en-US" sz="1300" b="1" dirty="0">
                          <a:solidFill>
                            <a:schemeClr val="tx1"/>
                          </a:solidFill>
                        </a:rPr>
                        <a:t>GEMM_DONE (4)</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indent="0" marL="0">
                        <a:buNone/>
                      </a:pPr>
                      <a:r>
                        <a:rPr lang="en-US" sz="1300" dirty="0">
                          <a:solidFill>
                            <a:schemeClr val="tx1"/>
                          </a:solidFill>
                        </a:rPr>
                        <a:t>daemon → plugin</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indent="0" marL="0">
                        <a:buNone/>
                      </a:pPr>
                      <a:r>
                        <a:rPr lang="en-US" sz="1300" dirty="0">
                          <a:solidFill>
                            <a:schemeClr val="tx1"/>
                          </a:solidFill>
                        </a:rPr>
                        <a:t>n, MACs, ns, C</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301752">
                <a:tc>
                  <a:txBody>
                    <a:bodyPr/>
                    <a:lstStyle/>
                    <a:p>
                      <a:pPr indent="0" marL="0">
                        <a:buNone/>
                      </a:pPr>
                      <a:r>
                        <a:rPr lang="en-US" sz="1300" b="1" dirty="0">
                          <a:solidFill>
                            <a:schemeClr val="tx1"/>
                          </a:solidFill>
                        </a:rPr>
                        <a:t>ERROR (5)</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indent="0" marL="0">
                        <a:buNone/>
                      </a:pPr>
                      <a:r>
                        <a:rPr lang="en-US" sz="1300" dirty="0">
                          <a:solidFill>
                            <a:schemeClr val="tx1"/>
                          </a:solidFill>
                        </a:rPr>
                        <a:t>daemon → plugin</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indent="0" marL="0">
                        <a:buNone/>
                      </a:pPr>
                      <a:r>
                        <a:rPr lang="en-US" sz="1300" dirty="0">
                          <a:solidFill>
                            <a:schemeClr val="tx1"/>
                          </a:solidFill>
                        </a:rPr>
                        <a:t>code, detail</a:t>
                      </a:r>
                      <a:endParaRPr lang="en-US" sz="1300" dirty="0"/>
                    </a:p>
                  </a:txBody>
                  <a:tcPr marL="91440" marR="91440" marT="36576" marB="36576"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bl>
          </a:graphicData>
        </a:graphic>
      </p:graphicFrame>
      <p:sp>
        <p:nvSpPr>
          <p:cNvPr id="21" name="card-212"/>
          <p:cNvSpPr/>
          <p:nvPr/>
        </p:nvSpPr>
        <p:spPr>
          <a:xfrm>
            <a:off x="5577840" y="2560320"/>
            <a:ext cx="3108960" cy="1965960"/>
          </a:xfrm>
          <a:prstGeom prst="roundRect">
            <a:avLst>
              <a:gd name="adj" fmla="val 3721"/>
            </a:avLst>
          </a:prstGeom>
          <a:solidFill>
            <a:schemeClr val="bg2"/>
          </a:solidFill>
          <a:ln/>
        </p:spPr>
      </p:sp>
      <p:sp>
        <p:nvSpPr>
          <p:cNvPr id="22" name="text-213"/>
          <p:cNvSpPr txBox="1"/>
          <p:nvPr/>
        </p:nvSpPr>
        <p:spPr>
          <a:xfrm>
            <a:off x="5760720" y="2651760"/>
            <a:ext cx="2743200" cy="292608"/>
          </a:xfrm>
          <a:prstGeom prst="rect">
            <a:avLst/>
          </a:prstGeom>
          <a:noFill/>
          <a:ln/>
        </p:spPr>
        <p:txBody>
          <a:bodyPr wrap="square" lIns="0" tIns="0" rIns="0" bIns="0" rtlCol="0" anchor="t"/>
          <a:lstStyle/>
          <a:p>
            <a:pPr indent="0" marL="0">
              <a:buNone/>
            </a:pPr>
            <a:r>
              <a:rPr lang="en-US" sz="1500" b="1" dirty="0">
                <a:solidFill>
                  <a:schemeClr val="tx2"/>
                </a:solidFill>
              </a:rPr>
              <a:t>Two kinds of errors</a:t>
            </a:r>
            <a:endParaRPr lang="en-US" sz="1500" dirty="0"/>
          </a:p>
        </p:txBody>
      </p:sp>
      <p:sp>
        <p:nvSpPr>
          <p:cNvPr id="23" name="dot-214"/>
          <p:cNvSpPr/>
          <p:nvPr/>
        </p:nvSpPr>
        <p:spPr>
          <a:xfrm>
            <a:off x="5760720" y="3108960"/>
            <a:ext cx="128016" cy="128016"/>
          </a:xfrm>
          <a:prstGeom prst="ellipse">
            <a:avLst/>
          </a:prstGeom>
          <a:solidFill>
            <a:schemeClr val="accent2"/>
          </a:solidFill>
          <a:ln/>
        </p:spPr>
      </p:sp>
      <p:sp>
        <p:nvSpPr>
          <p:cNvPr id="24" name="text-215"/>
          <p:cNvSpPr txBox="1"/>
          <p:nvPr/>
        </p:nvSpPr>
        <p:spPr>
          <a:xfrm>
            <a:off x="5989320" y="3035808"/>
            <a:ext cx="2560320" cy="256032"/>
          </a:xfrm>
          <a:prstGeom prst="rect">
            <a:avLst/>
          </a:prstGeom>
          <a:noFill/>
          <a:ln/>
        </p:spPr>
        <p:txBody>
          <a:bodyPr wrap="square" lIns="0" tIns="0" rIns="0" bIns="0" rtlCol="0" anchor="t"/>
          <a:lstStyle/>
          <a:p>
            <a:pPr indent="0" marL="0">
              <a:buNone/>
            </a:pPr>
            <a:r>
              <a:rPr lang="en-US" sz="1400" b="1" dirty="0">
                <a:solidFill>
                  <a:schemeClr val="tx2"/>
                </a:solidFill>
              </a:rPr>
              <a:t>Keep the connection</a:t>
            </a:r>
            <a:endParaRPr lang="en-US" sz="1400" dirty="0"/>
          </a:p>
        </p:txBody>
      </p:sp>
      <p:sp>
        <p:nvSpPr>
          <p:cNvPr id="25" name="text-216"/>
          <p:cNvSpPr txBox="1"/>
          <p:nvPr/>
        </p:nvSpPr>
        <p:spPr>
          <a:xfrm>
            <a:off x="5989320" y="3291840"/>
            <a:ext cx="2560320" cy="457200"/>
          </a:xfrm>
          <a:prstGeom prst="rect">
            <a:avLst/>
          </a:prstGeom>
          <a:noFill/>
          <a:ln/>
        </p:spPr>
        <p:txBody>
          <a:bodyPr wrap="square" lIns="0" tIns="0" rIns="0" bIns="0" rtlCol="0" anchor="t"/>
          <a:lstStyle/>
          <a:p>
            <a:pPr indent="0" marL="0">
              <a:buNone/>
            </a:pPr>
            <a:r>
              <a:rPr lang="en-US" sz="1250" dirty="0">
                <a:solidFill>
                  <a:schemeClr val="tx1"/>
                </a:solidFill>
              </a:rPr>
              <a:t>Bad N or unknown type: reply ERROR, keep reading</a:t>
            </a:r>
            <a:endParaRPr lang="en-US" sz="1250" dirty="0"/>
          </a:p>
        </p:txBody>
      </p:sp>
      <p:sp>
        <p:nvSpPr>
          <p:cNvPr id="26" name="dot-217"/>
          <p:cNvSpPr/>
          <p:nvPr/>
        </p:nvSpPr>
        <p:spPr>
          <a:xfrm>
            <a:off x="5760720" y="3840480"/>
            <a:ext cx="128016" cy="128016"/>
          </a:xfrm>
          <a:prstGeom prst="ellipse">
            <a:avLst/>
          </a:prstGeom>
          <a:solidFill>
            <a:schemeClr val="accent6"/>
          </a:solidFill>
          <a:ln/>
        </p:spPr>
      </p:sp>
      <p:sp>
        <p:nvSpPr>
          <p:cNvPr id="27" name="text-218"/>
          <p:cNvSpPr txBox="1"/>
          <p:nvPr/>
        </p:nvSpPr>
        <p:spPr>
          <a:xfrm>
            <a:off x="5989320" y="3767328"/>
            <a:ext cx="2560320" cy="256032"/>
          </a:xfrm>
          <a:prstGeom prst="rect">
            <a:avLst/>
          </a:prstGeom>
          <a:noFill/>
          <a:ln/>
        </p:spPr>
        <p:txBody>
          <a:bodyPr wrap="square" lIns="0" tIns="0" rIns="0" bIns="0" rtlCol="0" anchor="t"/>
          <a:lstStyle/>
          <a:p>
            <a:pPr indent="0" marL="0">
              <a:buNone/>
            </a:pPr>
            <a:r>
              <a:rPr lang="en-US" sz="1400" b="1" dirty="0">
                <a:solidFill>
                  <a:schemeClr val="tx2"/>
                </a:solidFill>
              </a:rPr>
              <a:t>Close the connection</a:t>
            </a:r>
            <a:endParaRPr lang="en-US" sz="1400" dirty="0"/>
          </a:p>
        </p:txBody>
      </p:sp>
      <p:sp>
        <p:nvSpPr>
          <p:cNvPr id="28" name="text-219"/>
          <p:cNvSpPr txBox="1"/>
          <p:nvPr/>
        </p:nvSpPr>
        <p:spPr>
          <a:xfrm>
            <a:off x="5989320" y="4023360"/>
            <a:ext cx="2560320" cy="457200"/>
          </a:xfrm>
          <a:prstGeom prst="rect">
            <a:avLst/>
          </a:prstGeom>
          <a:noFill/>
          <a:ln/>
        </p:spPr>
        <p:txBody>
          <a:bodyPr wrap="square" lIns="0" tIns="0" rIns="0" bIns="0" rtlCol="0" anchor="t"/>
          <a:lstStyle/>
          <a:p>
            <a:pPr indent="0" marL="0">
              <a:buNone/>
            </a:pPr>
            <a:r>
              <a:rPr lang="en-US" sz="1250" dirty="0">
                <a:solidFill>
                  <a:schemeClr val="tx1"/>
                </a:solidFill>
              </a:rPr>
              <a:t>Bad magic, version, or length: the stream can't be trusted</a:t>
            </a:r>
            <a:endParaRPr lang="en-US" sz="125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The daemon: a careful service</a:t>
            </a:r>
            <a:endParaRPr lang="en-US" sz="3000" dirty="0"/>
          </a:p>
        </p:txBody>
      </p:sp>
      <p:sp>
        <p:nvSpPr>
          <p:cNvPr id="3" name="icon-circle-220"/>
          <p:cNvSpPr/>
          <p:nvPr/>
        </p:nvSpPr>
        <p:spPr>
          <a:xfrm>
            <a:off x="457200" y="1143000"/>
            <a:ext cx="548640" cy="548640"/>
          </a:xfrm>
          <a:prstGeom prst="ellipse">
            <a:avLst/>
          </a:prstGeom>
          <a:solidFill>
            <a:schemeClr val="accent1"/>
          </a:solidFill>
          <a:ln/>
        </p:spPr>
      </p:sp>
      <p:pic>
        <p:nvPicPr>
          <p:cNvPr id="4" name="icon-221" descr="SignOutAlt icon">    </p:cNvPr>
          <p:cNvPicPr>
            <a:picLocks noChangeAspect="1"/>
          </p:cNvPicPr>
          <p:nvPr/>
        </p:nvPicPr>
        <p:blipFill>
          <a:blip r:embed="rId1"/>
          <a:stretch>
            <a:fillRect/>
          </a:stretch>
        </p:blipFill>
        <p:spPr>
          <a:xfrm>
            <a:off x="594360" y="1280160"/>
            <a:ext cx="274320" cy="274320"/>
          </a:xfrm>
          <a:prstGeom prst="rect">
            <a:avLst/>
          </a:prstGeom>
        </p:spPr>
      </p:pic>
      <p:sp>
        <p:nvSpPr>
          <p:cNvPr id="5" name="arrow-222"/>
          <p:cNvSpPr/>
          <p:nvPr/>
        </p:nvSpPr>
        <p:spPr>
          <a:xfrm>
            <a:off x="1078992" y="1417320"/>
            <a:ext cx="978408" cy="0"/>
          </a:xfrm>
          <a:prstGeom prst="line">
            <a:avLst/>
          </a:prstGeom>
          <a:noFill/>
          <a:ln w="15875">
            <a:solidFill>
              <a:schemeClr val="accent5"/>
            </a:solidFill>
            <a:prstDash val="solid"/>
            <a:tailEnd type="triangle"/>
          </a:ln>
        </p:spPr>
      </p:sp>
      <p:sp>
        <p:nvSpPr>
          <p:cNvPr id="6" name="text-223"/>
          <p:cNvSpPr txBox="1"/>
          <p:nvPr/>
        </p:nvSpPr>
        <p:spPr>
          <a:xfrm>
            <a:off x="457200" y="1828800"/>
            <a:ext cx="1554480" cy="502920"/>
          </a:xfrm>
          <a:prstGeom prst="rect">
            <a:avLst/>
          </a:prstGeom>
          <a:noFill/>
          <a:ln/>
        </p:spPr>
        <p:txBody>
          <a:bodyPr wrap="square" lIns="0" tIns="0" rIns="0" bIns="0" rtlCol="0" anchor="t"/>
          <a:lstStyle/>
          <a:p>
            <a:pPr indent="0" marL="0">
              <a:buNone/>
            </a:pPr>
            <a:r>
              <a:rPr lang="en-US" sz="1500" b="1" dirty="0">
                <a:solidFill>
                  <a:schemeClr val="tx2"/>
                </a:solidFill>
              </a:rPr>
              <a:t>1 · Detach</a:t>
            </a:r>
            <a:endParaRPr lang="en-US" sz="1500" dirty="0"/>
          </a:p>
        </p:txBody>
      </p:sp>
      <p:sp>
        <p:nvSpPr>
          <p:cNvPr id="7" name="text-224"/>
          <p:cNvSpPr txBox="1"/>
          <p:nvPr/>
        </p:nvSpPr>
        <p:spPr>
          <a:xfrm>
            <a:off x="457200" y="2377440"/>
            <a:ext cx="1554480" cy="1463040"/>
          </a:xfrm>
          <a:prstGeom prst="rect">
            <a:avLst/>
          </a:prstGeom>
          <a:noFill/>
          <a:ln/>
        </p:spPr>
        <p:txBody>
          <a:bodyPr wrap="square" lIns="0" tIns="0" rIns="0" bIns="0" rtlCol="0" anchor="t"/>
          <a:lstStyle/>
          <a:p>
            <a:pPr indent="0" marL="0">
              <a:buNone/>
            </a:pPr>
            <a:r>
              <a:rPr lang="en-US" sz="1400" dirty="0">
                <a:solidFill>
                  <a:schemeClr val="tx1"/>
                </a:solidFill>
              </a:rPr>
              <a:t>Double fork and setsid. The parent exits only once the socket is ready.</a:t>
            </a:r>
            <a:endParaRPr lang="en-US" sz="1400" dirty="0"/>
          </a:p>
        </p:txBody>
      </p:sp>
      <p:sp>
        <p:nvSpPr>
          <p:cNvPr id="8" name="icon-circle-225"/>
          <p:cNvSpPr/>
          <p:nvPr/>
        </p:nvSpPr>
        <p:spPr>
          <a:xfrm>
            <a:off x="2125980" y="1143000"/>
            <a:ext cx="548640" cy="548640"/>
          </a:xfrm>
          <a:prstGeom prst="ellipse">
            <a:avLst/>
          </a:prstGeom>
          <a:solidFill>
            <a:schemeClr val="accent1"/>
          </a:solidFill>
          <a:ln/>
        </p:spPr>
      </p:sp>
      <p:pic>
        <p:nvPicPr>
          <p:cNvPr id="9" name="icon-226" descr="Lock icon">    </p:cNvPr>
          <p:cNvPicPr>
            <a:picLocks noChangeAspect="1"/>
          </p:cNvPicPr>
          <p:nvPr/>
        </p:nvPicPr>
        <p:blipFill>
          <a:blip r:embed="rId2"/>
          <a:stretch>
            <a:fillRect/>
          </a:stretch>
        </p:blipFill>
        <p:spPr>
          <a:xfrm>
            <a:off x="2263140" y="1280160"/>
            <a:ext cx="274320" cy="274320"/>
          </a:xfrm>
          <a:prstGeom prst="rect">
            <a:avLst/>
          </a:prstGeom>
        </p:spPr>
      </p:pic>
      <p:sp>
        <p:nvSpPr>
          <p:cNvPr id="10" name="arrow-227"/>
          <p:cNvSpPr/>
          <p:nvPr/>
        </p:nvSpPr>
        <p:spPr>
          <a:xfrm>
            <a:off x="2747772" y="1417320"/>
            <a:ext cx="978408" cy="0"/>
          </a:xfrm>
          <a:prstGeom prst="line">
            <a:avLst/>
          </a:prstGeom>
          <a:noFill/>
          <a:ln w="15875">
            <a:solidFill>
              <a:schemeClr val="accent5"/>
            </a:solidFill>
            <a:prstDash val="solid"/>
            <a:tailEnd type="triangle"/>
          </a:ln>
        </p:spPr>
      </p:sp>
      <p:sp>
        <p:nvSpPr>
          <p:cNvPr id="11" name="text-228"/>
          <p:cNvSpPr txBox="1"/>
          <p:nvPr/>
        </p:nvSpPr>
        <p:spPr>
          <a:xfrm>
            <a:off x="2125980" y="1828800"/>
            <a:ext cx="1554480" cy="502920"/>
          </a:xfrm>
          <a:prstGeom prst="rect">
            <a:avLst/>
          </a:prstGeom>
          <a:noFill/>
          <a:ln/>
        </p:spPr>
        <p:txBody>
          <a:bodyPr wrap="square" lIns="0" tIns="0" rIns="0" bIns="0" rtlCol="0" anchor="t"/>
          <a:lstStyle/>
          <a:p>
            <a:pPr indent="0" marL="0">
              <a:buNone/>
            </a:pPr>
            <a:r>
              <a:rPr lang="en-US" sz="1500" b="1" dirty="0">
                <a:solidFill>
                  <a:schemeClr val="tx2"/>
                </a:solidFill>
              </a:rPr>
              <a:t>2 · Claim the socket</a:t>
            </a:r>
            <a:endParaRPr lang="en-US" sz="1500" dirty="0"/>
          </a:p>
        </p:txBody>
      </p:sp>
      <p:sp>
        <p:nvSpPr>
          <p:cNvPr id="12" name="text-229"/>
          <p:cNvSpPr txBox="1"/>
          <p:nvPr/>
        </p:nvSpPr>
        <p:spPr>
          <a:xfrm>
            <a:off x="2125980" y="2377440"/>
            <a:ext cx="1554480" cy="1463040"/>
          </a:xfrm>
          <a:prstGeom prst="rect">
            <a:avLst/>
          </a:prstGeom>
          <a:noFill/>
          <a:ln/>
        </p:spPr>
        <p:txBody>
          <a:bodyPr wrap="square" lIns="0" tIns="0" rIns="0" bIns="0" rtlCol="0" anchor="t"/>
          <a:lstStyle/>
          <a:p>
            <a:pPr indent="0" marL="0">
              <a:buNone/>
            </a:pPr>
            <a:r>
              <a:rPr lang="en-US" sz="1400" dirty="0">
                <a:solidFill>
                  <a:schemeClr val="tx1"/>
                </a:solidFill>
              </a:rPr>
              <a:t>Refuses a live daemon, replaces a stale socket, never deletes other files. Mode 0600.</a:t>
            </a:r>
            <a:endParaRPr lang="en-US" sz="1400" dirty="0"/>
          </a:p>
        </p:txBody>
      </p:sp>
      <p:sp>
        <p:nvSpPr>
          <p:cNvPr id="13" name="icon-circle-230"/>
          <p:cNvSpPr/>
          <p:nvPr/>
        </p:nvSpPr>
        <p:spPr>
          <a:xfrm>
            <a:off x="3794760" y="1143000"/>
            <a:ext cx="548640" cy="548640"/>
          </a:xfrm>
          <a:prstGeom prst="ellipse">
            <a:avLst/>
          </a:prstGeom>
          <a:solidFill>
            <a:schemeClr val="accent1"/>
          </a:solidFill>
          <a:ln/>
        </p:spPr>
      </p:sp>
      <p:pic>
        <p:nvPicPr>
          <p:cNvPr id="14" name="icon-231" descr="Bell icon">    </p:cNvPr>
          <p:cNvPicPr>
            <a:picLocks noChangeAspect="1"/>
          </p:cNvPicPr>
          <p:nvPr/>
        </p:nvPicPr>
        <p:blipFill>
          <a:blip r:embed="rId3"/>
          <a:stretch>
            <a:fillRect/>
          </a:stretch>
        </p:blipFill>
        <p:spPr>
          <a:xfrm>
            <a:off x="3931920" y="1280160"/>
            <a:ext cx="274320" cy="274320"/>
          </a:xfrm>
          <a:prstGeom prst="rect">
            <a:avLst/>
          </a:prstGeom>
        </p:spPr>
      </p:pic>
      <p:sp>
        <p:nvSpPr>
          <p:cNvPr id="15" name="arrow-232"/>
          <p:cNvSpPr/>
          <p:nvPr/>
        </p:nvSpPr>
        <p:spPr>
          <a:xfrm>
            <a:off x="4416552" y="1417320"/>
            <a:ext cx="978408" cy="0"/>
          </a:xfrm>
          <a:prstGeom prst="line">
            <a:avLst/>
          </a:prstGeom>
          <a:noFill/>
          <a:ln w="15875">
            <a:solidFill>
              <a:schemeClr val="accent5"/>
            </a:solidFill>
            <a:prstDash val="solid"/>
            <a:tailEnd type="triangle"/>
          </a:ln>
        </p:spPr>
      </p:sp>
      <p:sp>
        <p:nvSpPr>
          <p:cNvPr id="16" name="text-233"/>
          <p:cNvSpPr txBox="1"/>
          <p:nvPr/>
        </p:nvSpPr>
        <p:spPr>
          <a:xfrm>
            <a:off x="3794760" y="1828800"/>
            <a:ext cx="1554480" cy="502920"/>
          </a:xfrm>
          <a:prstGeom prst="rect">
            <a:avLst/>
          </a:prstGeom>
          <a:noFill/>
          <a:ln/>
        </p:spPr>
        <p:txBody>
          <a:bodyPr wrap="square" lIns="0" tIns="0" rIns="0" bIns="0" rtlCol="0" anchor="t"/>
          <a:lstStyle/>
          <a:p>
            <a:pPr indent="0" marL="0">
              <a:buNone/>
            </a:pPr>
            <a:r>
              <a:rPr lang="en-US" sz="1500" b="1" dirty="0">
                <a:solidFill>
                  <a:schemeClr val="tx2"/>
                </a:solidFill>
              </a:rPr>
              <a:t>3 · Signal ready</a:t>
            </a:r>
            <a:endParaRPr lang="en-US" sz="1500" dirty="0"/>
          </a:p>
        </p:txBody>
      </p:sp>
      <p:sp>
        <p:nvSpPr>
          <p:cNvPr id="17" name="text-234"/>
          <p:cNvSpPr txBox="1"/>
          <p:nvPr/>
        </p:nvSpPr>
        <p:spPr>
          <a:xfrm>
            <a:off x="3794760" y="2377440"/>
            <a:ext cx="1554480" cy="1463040"/>
          </a:xfrm>
          <a:prstGeom prst="rect">
            <a:avLst/>
          </a:prstGeom>
          <a:noFill/>
          <a:ln/>
        </p:spPr>
        <p:txBody>
          <a:bodyPr wrap="square" lIns="0" tIns="0" rIns="0" bIns="0" rtlCol="0" anchor="t"/>
          <a:lstStyle/>
          <a:p>
            <a:pPr indent="0" marL="0">
              <a:buNone/>
            </a:pPr>
            <a:r>
              <a:rPr lang="en-US" sz="1400" dirty="0">
                <a:solidFill>
                  <a:schemeClr val="tx1"/>
                </a:solidFill>
              </a:rPr>
              <a:t>Logs to a file, writes the pidfile, then tells the parent it's ready.</a:t>
            </a:r>
            <a:endParaRPr lang="en-US" sz="1400" dirty="0"/>
          </a:p>
        </p:txBody>
      </p:sp>
      <p:sp>
        <p:nvSpPr>
          <p:cNvPr id="18" name="icon-circle-235"/>
          <p:cNvSpPr/>
          <p:nvPr/>
        </p:nvSpPr>
        <p:spPr>
          <a:xfrm>
            <a:off x="5463540" y="1143000"/>
            <a:ext cx="548640" cy="548640"/>
          </a:xfrm>
          <a:prstGeom prst="ellipse">
            <a:avLst/>
          </a:prstGeom>
          <a:solidFill>
            <a:schemeClr val="accent2"/>
          </a:solidFill>
          <a:ln/>
        </p:spPr>
      </p:sp>
      <p:pic>
        <p:nvPicPr>
          <p:cNvPr id="19" name="icon-236" descr="Stream icon">    </p:cNvPr>
          <p:cNvPicPr>
            <a:picLocks noChangeAspect="1"/>
          </p:cNvPicPr>
          <p:nvPr/>
        </p:nvPicPr>
        <p:blipFill>
          <a:blip r:embed="rId4"/>
          <a:stretch>
            <a:fillRect/>
          </a:stretch>
        </p:blipFill>
        <p:spPr>
          <a:xfrm>
            <a:off x="5600700" y="1280160"/>
            <a:ext cx="274320" cy="274320"/>
          </a:xfrm>
          <a:prstGeom prst="rect">
            <a:avLst/>
          </a:prstGeom>
        </p:spPr>
      </p:pic>
      <p:sp>
        <p:nvSpPr>
          <p:cNvPr id="20" name="arrow-237"/>
          <p:cNvSpPr/>
          <p:nvPr/>
        </p:nvSpPr>
        <p:spPr>
          <a:xfrm>
            <a:off x="6085332" y="1417320"/>
            <a:ext cx="978408" cy="0"/>
          </a:xfrm>
          <a:prstGeom prst="line">
            <a:avLst/>
          </a:prstGeom>
          <a:noFill/>
          <a:ln w="15875">
            <a:solidFill>
              <a:schemeClr val="accent5"/>
            </a:solidFill>
            <a:prstDash val="solid"/>
            <a:tailEnd type="triangle"/>
          </a:ln>
        </p:spPr>
      </p:sp>
      <p:sp>
        <p:nvSpPr>
          <p:cNvPr id="21" name="text-238"/>
          <p:cNvSpPr txBox="1"/>
          <p:nvPr/>
        </p:nvSpPr>
        <p:spPr>
          <a:xfrm>
            <a:off x="5463540" y="1828800"/>
            <a:ext cx="1554480" cy="502920"/>
          </a:xfrm>
          <a:prstGeom prst="rect">
            <a:avLst/>
          </a:prstGeom>
          <a:noFill/>
          <a:ln/>
        </p:spPr>
        <p:txBody>
          <a:bodyPr wrap="square" lIns="0" tIns="0" rIns="0" bIns="0" rtlCol="0" anchor="t"/>
          <a:lstStyle/>
          <a:p>
            <a:pPr indent="0" marL="0">
              <a:buNone/>
            </a:pPr>
            <a:r>
              <a:rPr lang="en-US" sz="1500" b="1" dirty="0">
                <a:solidFill>
                  <a:schemeClr val="tx2"/>
                </a:solidFill>
              </a:rPr>
              <a:t>4 · Serve</a:t>
            </a:r>
            <a:endParaRPr lang="en-US" sz="1500" dirty="0"/>
          </a:p>
        </p:txBody>
      </p:sp>
      <p:sp>
        <p:nvSpPr>
          <p:cNvPr id="22" name="text-239"/>
          <p:cNvSpPr txBox="1"/>
          <p:nvPr/>
        </p:nvSpPr>
        <p:spPr>
          <a:xfrm>
            <a:off x="5463540" y="2377440"/>
            <a:ext cx="1554480" cy="1463040"/>
          </a:xfrm>
          <a:prstGeom prst="rect">
            <a:avLst/>
          </a:prstGeom>
          <a:noFill/>
          <a:ln/>
        </p:spPr>
        <p:txBody>
          <a:bodyPr wrap="square" lIns="0" tIns="0" rIns="0" bIns="0" rtlCol="0" anchor="t"/>
          <a:lstStyle/>
          <a:p>
            <a:pPr indent="0" marL="0">
              <a:buNone/>
            </a:pPr>
            <a:r>
              <a:rPr lang="en-US" sz="1400" dirty="0">
                <a:solidFill>
                  <a:schemeClr val="tx1"/>
                </a:solidFill>
              </a:rPr>
              <a:t>poll() on the socket and a wake-up pipe; one thread per connected VP.</a:t>
            </a:r>
            <a:endParaRPr lang="en-US" sz="1400" dirty="0"/>
          </a:p>
        </p:txBody>
      </p:sp>
      <p:sp>
        <p:nvSpPr>
          <p:cNvPr id="23" name="icon-circle-240"/>
          <p:cNvSpPr/>
          <p:nvPr/>
        </p:nvSpPr>
        <p:spPr>
          <a:xfrm>
            <a:off x="7132320" y="1143000"/>
            <a:ext cx="548640" cy="548640"/>
          </a:xfrm>
          <a:prstGeom prst="ellipse">
            <a:avLst/>
          </a:prstGeom>
          <a:solidFill>
            <a:schemeClr val="accent1"/>
          </a:solidFill>
          <a:ln/>
        </p:spPr>
      </p:sp>
      <p:pic>
        <p:nvPicPr>
          <p:cNvPr id="24" name="icon-241" descr="PowerOff icon">    </p:cNvPr>
          <p:cNvPicPr>
            <a:picLocks noChangeAspect="1"/>
          </p:cNvPicPr>
          <p:nvPr/>
        </p:nvPicPr>
        <p:blipFill>
          <a:blip r:embed="rId5"/>
          <a:stretch>
            <a:fillRect/>
          </a:stretch>
        </p:blipFill>
        <p:spPr>
          <a:xfrm>
            <a:off x="7269480" y="1280160"/>
            <a:ext cx="274320" cy="274320"/>
          </a:xfrm>
          <a:prstGeom prst="rect">
            <a:avLst/>
          </a:prstGeom>
        </p:spPr>
      </p:pic>
      <p:sp>
        <p:nvSpPr>
          <p:cNvPr id="25" name="text-242"/>
          <p:cNvSpPr txBox="1"/>
          <p:nvPr/>
        </p:nvSpPr>
        <p:spPr>
          <a:xfrm>
            <a:off x="7132320" y="1828800"/>
            <a:ext cx="1554480" cy="502920"/>
          </a:xfrm>
          <a:prstGeom prst="rect">
            <a:avLst/>
          </a:prstGeom>
          <a:noFill/>
          <a:ln/>
        </p:spPr>
        <p:txBody>
          <a:bodyPr wrap="square" lIns="0" tIns="0" rIns="0" bIns="0" rtlCol="0" anchor="t"/>
          <a:lstStyle/>
          <a:p>
            <a:pPr indent="0" marL="0">
              <a:buNone/>
            </a:pPr>
            <a:r>
              <a:rPr lang="en-US" sz="1500" b="1" dirty="0">
                <a:solidFill>
                  <a:schemeClr val="tx2"/>
                </a:solidFill>
              </a:rPr>
              <a:t>5 · Stop cleanly</a:t>
            </a:r>
            <a:endParaRPr lang="en-US" sz="1500" dirty="0"/>
          </a:p>
        </p:txBody>
      </p:sp>
      <p:sp>
        <p:nvSpPr>
          <p:cNvPr id="26" name="text-243"/>
          <p:cNvSpPr txBox="1"/>
          <p:nvPr/>
        </p:nvSpPr>
        <p:spPr>
          <a:xfrm>
            <a:off x="7132320" y="2377440"/>
            <a:ext cx="1554480" cy="1463040"/>
          </a:xfrm>
          <a:prstGeom prst="rect">
            <a:avLst/>
          </a:prstGeom>
          <a:noFill/>
          <a:ln/>
        </p:spPr>
        <p:txBody>
          <a:bodyPr wrap="square" lIns="0" tIns="0" rIns="0" bIns="0" rtlCol="0" anchor="t"/>
          <a:lstStyle/>
          <a:p>
            <a:pPr indent="0" marL="0">
              <a:buNone/>
            </a:pPr>
            <a:r>
              <a:rPr lang="en-US" sz="1400" dirty="0">
                <a:solidFill>
                  <a:schemeClr val="tx1"/>
                </a:solidFill>
              </a:rPr>
              <a:t>SIGTERM wakes poll(); it removes the socket and pidfile only if they're its own.</a:t>
            </a:r>
            <a:endParaRPr lang="en-US" sz="1400" dirty="0"/>
          </a:p>
        </p:txBody>
      </p:sp>
      <p:sp>
        <p:nvSpPr>
          <p:cNvPr id="27" name="card-244"/>
          <p:cNvSpPr/>
          <p:nvPr/>
        </p:nvSpPr>
        <p:spPr>
          <a:xfrm>
            <a:off x="457200" y="4023360"/>
            <a:ext cx="8229600" cy="548640"/>
          </a:xfrm>
          <a:prstGeom prst="roundRect">
            <a:avLst>
              <a:gd name="adj" fmla="val 13333"/>
            </a:avLst>
          </a:prstGeom>
          <a:solidFill>
            <a:schemeClr val="bg2"/>
          </a:solidFill>
          <a:ln/>
        </p:spPr>
      </p:sp>
      <p:sp>
        <p:nvSpPr>
          <p:cNvPr id="28" name="text-245"/>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400" b="1" dirty="0">
                <a:solidFill>
                  <a:schemeClr val="tx1"/>
                </a:solidFill>
              </a:rPr>
              <a:t>Built-in client: </a:t>
            </a:r>
            <a:pPr indent="0" marL="0">
              <a:buNone/>
            </a:pPr>
            <a:r>
              <a:rPr lang="en-US" sz="1400" b="1" dirty="0">
                <a:solidFill>
                  <a:schemeClr val="tx1"/>
                </a:solidFill>
                <a:latin typeface="Courier New" pitchFamily="34" charset="0"/>
                <a:ea typeface="Courier New" pitchFamily="34" charset="-122"/>
                <a:cs typeface="Courier New" pitchFamily="34" charset="-120"/>
              </a:rPr>
              <a:t>--ping</a:t>
            </a:r>
            <a:pPr indent="0" marL="0">
              <a:buNone/>
            </a:pPr>
            <a:r>
              <a:rPr lang="en-US" sz="1400" dirty="0">
                <a:solidFill>
                  <a:schemeClr val="tx1"/>
                </a:solidFill>
              </a:rPr>
              <a:t> prints its PID and GEMMs served; matmul_daemon.sh relies on it.</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Build and run scripts</a:t>
            </a:r>
            <a:endParaRPr lang="en-US" sz="3000" dirty="0"/>
          </a:p>
        </p:txBody>
      </p:sp>
      <p:sp>
        <p:nvSpPr>
          <p:cNvPr id="3" name="card-246"/>
          <p:cNvSpPr/>
          <p:nvPr/>
        </p:nvSpPr>
        <p:spPr>
          <a:xfrm>
            <a:off x="457200" y="1097280"/>
            <a:ext cx="4023360" cy="1508760"/>
          </a:xfrm>
          <a:prstGeom prst="roundRect">
            <a:avLst>
              <a:gd name="adj" fmla="val 4848"/>
            </a:avLst>
          </a:prstGeom>
          <a:solidFill>
            <a:schemeClr val="bg2"/>
          </a:solidFill>
          <a:ln/>
        </p:spPr>
      </p:sp>
      <p:sp>
        <p:nvSpPr>
          <p:cNvPr id="4" name="icon-circle-247"/>
          <p:cNvSpPr/>
          <p:nvPr/>
        </p:nvSpPr>
        <p:spPr>
          <a:xfrm>
            <a:off x="640080" y="1280160"/>
            <a:ext cx="457200" cy="457200"/>
          </a:xfrm>
          <a:prstGeom prst="ellipse">
            <a:avLst/>
          </a:prstGeom>
          <a:solidFill>
            <a:schemeClr val="accent1"/>
          </a:solidFill>
          <a:ln/>
        </p:spPr>
      </p:sp>
      <p:pic>
        <p:nvPicPr>
          <p:cNvPr id="5" name="icon-248" descr="Wrench icon">    </p:cNvPr>
          <p:cNvPicPr>
            <a:picLocks noChangeAspect="1"/>
          </p:cNvPicPr>
          <p:nvPr/>
        </p:nvPicPr>
        <p:blipFill>
          <a:blip r:embed="rId1"/>
          <a:stretch>
            <a:fillRect/>
          </a:stretch>
        </p:blipFill>
        <p:spPr>
          <a:xfrm>
            <a:off x="754380" y="1394460"/>
            <a:ext cx="228600" cy="228600"/>
          </a:xfrm>
          <a:prstGeom prst="rect">
            <a:avLst/>
          </a:prstGeom>
        </p:spPr>
      </p:pic>
      <p:sp>
        <p:nvSpPr>
          <p:cNvPr id="6" name="text-249"/>
          <p:cNvSpPr txBox="1"/>
          <p:nvPr/>
        </p:nvSpPr>
        <p:spPr>
          <a:xfrm>
            <a:off x="1234440" y="1298448"/>
            <a:ext cx="3108960" cy="41148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build_matmul_plugin.sh</a:t>
            </a:r>
            <a:endParaRPr lang="en-US" sz="1400" dirty="0"/>
          </a:p>
        </p:txBody>
      </p:sp>
      <p:sp>
        <p:nvSpPr>
          <p:cNvPr id="7" name="text-250"/>
          <p:cNvSpPr txBox="1"/>
          <p:nvPr/>
        </p:nvSpPr>
        <p:spPr>
          <a:xfrm>
            <a:off x="640080" y="1847088"/>
            <a:ext cx="3657600" cy="713232"/>
          </a:xfrm>
          <a:prstGeom prst="rect">
            <a:avLst/>
          </a:prstGeom>
          <a:noFill/>
          <a:ln/>
        </p:spPr>
        <p:txBody>
          <a:bodyPr wrap="square" lIns="0" tIns="0" rIns="0" bIns="0" rtlCol="0" anchor="t"/>
          <a:lstStyle/>
          <a:p>
            <a:pPr indent="0" marL="0">
              <a:buNone/>
            </a:pPr>
            <a:r>
              <a:rPr lang="en-US" sz="1400" dirty="0">
                <a:solidFill>
                  <a:schemeClr val="tx1"/>
                </a:solidFill>
              </a:rPr>
              <a:t>Turns on QEMU plugin support once, keeping existing options, builds QEMU incrementally, then runs make.</a:t>
            </a:r>
            <a:endParaRPr lang="en-US" sz="1400" dirty="0"/>
          </a:p>
        </p:txBody>
      </p:sp>
      <p:sp>
        <p:nvSpPr>
          <p:cNvPr id="8" name="card-251"/>
          <p:cNvSpPr/>
          <p:nvPr/>
        </p:nvSpPr>
        <p:spPr>
          <a:xfrm>
            <a:off x="4663440" y="1097280"/>
            <a:ext cx="4023360" cy="1508760"/>
          </a:xfrm>
          <a:prstGeom prst="roundRect">
            <a:avLst>
              <a:gd name="adj" fmla="val 4848"/>
            </a:avLst>
          </a:prstGeom>
          <a:solidFill>
            <a:schemeClr val="bg2"/>
          </a:solidFill>
          <a:ln/>
        </p:spPr>
      </p:sp>
      <p:sp>
        <p:nvSpPr>
          <p:cNvPr id="9" name="icon-circle-252"/>
          <p:cNvSpPr/>
          <p:nvPr/>
        </p:nvSpPr>
        <p:spPr>
          <a:xfrm>
            <a:off x="4846320" y="1280160"/>
            <a:ext cx="457200" cy="457200"/>
          </a:xfrm>
          <a:prstGeom prst="ellipse">
            <a:avLst/>
          </a:prstGeom>
          <a:solidFill>
            <a:schemeClr val="accent1"/>
          </a:solidFill>
          <a:ln/>
        </p:spPr>
      </p:sp>
      <p:pic>
        <p:nvPicPr>
          <p:cNvPr id="10" name="icon-253" descr="Cogs icon">    </p:cNvPr>
          <p:cNvPicPr>
            <a:picLocks noChangeAspect="1"/>
          </p:cNvPicPr>
          <p:nvPr/>
        </p:nvPicPr>
        <p:blipFill>
          <a:blip r:embed="rId2"/>
          <a:stretch>
            <a:fillRect/>
          </a:stretch>
        </p:blipFill>
        <p:spPr>
          <a:xfrm>
            <a:off x="4960620" y="1394460"/>
            <a:ext cx="228600" cy="228600"/>
          </a:xfrm>
          <a:prstGeom prst="rect">
            <a:avLst/>
          </a:prstGeom>
        </p:spPr>
      </p:pic>
      <p:sp>
        <p:nvSpPr>
          <p:cNvPr id="11" name="text-254"/>
          <p:cNvSpPr txBox="1"/>
          <p:nvPr/>
        </p:nvSpPr>
        <p:spPr>
          <a:xfrm>
            <a:off x="5440680" y="1298448"/>
            <a:ext cx="3108960" cy="41148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Makefile</a:t>
            </a:r>
            <a:endParaRPr lang="en-US" sz="1400" dirty="0"/>
          </a:p>
        </p:txBody>
      </p:sp>
      <p:sp>
        <p:nvSpPr>
          <p:cNvPr id="12" name="text-255"/>
          <p:cNvSpPr txBox="1"/>
          <p:nvPr/>
        </p:nvSpPr>
        <p:spPr>
          <a:xfrm>
            <a:off x="4846320" y="1847088"/>
            <a:ext cx="3657600" cy="713232"/>
          </a:xfrm>
          <a:prstGeom prst="rect">
            <a:avLst/>
          </a:prstGeom>
          <a:noFill/>
          <a:ln/>
        </p:spPr>
        <p:txBody>
          <a:bodyPr wrap="square" lIns="0" tIns="0" rIns="0" bIns="0" rtlCol="0" anchor="t"/>
          <a:lstStyle/>
          <a:p>
            <a:pPr indent="0" marL="0">
              <a:buNone/>
            </a:pPr>
            <a:r>
              <a:rPr lang="en-US" sz="1400" dirty="0">
                <a:solidFill>
                  <a:schemeClr val="tx1"/>
                </a:solidFill>
              </a:rPr>
              <a:t>Builds the daemon, both plugin variants, and the firmware. Probes GCC for its RISC-V ISA naming.</a:t>
            </a:r>
            <a:endParaRPr lang="en-US" sz="1400" dirty="0"/>
          </a:p>
        </p:txBody>
      </p:sp>
      <p:sp>
        <p:nvSpPr>
          <p:cNvPr id="13" name="card-256"/>
          <p:cNvSpPr/>
          <p:nvPr/>
        </p:nvSpPr>
        <p:spPr>
          <a:xfrm>
            <a:off x="457200" y="2743200"/>
            <a:ext cx="4023360" cy="1508760"/>
          </a:xfrm>
          <a:prstGeom prst="roundRect">
            <a:avLst>
              <a:gd name="adj" fmla="val 4848"/>
            </a:avLst>
          </a:prstGeom>
          <a:solidFill>
            <a:schemeClr val="bg2"/>
          </a:solidFill>
          <a:ln/>
        </p:spPr>
      </p:sp>
      <p:sp>
        <p:nvSpPr>
          <p:cNvPr id="14" name="icon-circle-257"/>
          <p:cNvSpPr/>
          <p:nvPr/>
        </p:nvSpPr>
        <p:spPr>
          <a:xfrm>
            <a:off x="640080" y="2926080"/>
            <a:ext cx="457200" cy="457200"/>
          </a:xfrm>
          <a:prstGeom prst="ellipse">
            <a:avLst/>
          </a:prstGeom>
          <a:solidFill>
            <a:schemeClr val="accent1"/>
          </a:solidFill>
          <a:ln/>
        </p:spPr>
      </p:sp>
      <p:pic>
        <p:nvPicPr>
          <p:cNvPr id="15" name="icon-258" descr="Server icon">    </p:cNvPr>
          <p:cNvPicPr>
            <a:picLocks noChangeAspect="1"/>
          </p:cNvPicPr>
          <p:nvPr/>
        </p:nvPicPr>
        <p:blipFill>
          <a:blip r:embed="rId3"/>
          <a:stretch>
            <a:fillRect/>
          </a:stretch>
        </p:blipFill>
        <p:spPr>
          <a:xfrm>
            <a:off x="754380" y="3040380"/>
            <a:ext cx="228600" cy="228600"/>
          </a:xfrm>
          <a:prstGeom prst="rect">
            <a:avLst/>
          </a:prstGeom>
        </p:spPr>
      </p:pic>
      <p:sp>
        <p:nvSpPr>
          <p:cNvPr id="16" name="text-259"/>
          <p:cNvSpPr txBox="1"/>
          <p:nvPr/>
        </p:nvSpPr>
        <p:spPr>
          <a:xfrm>
            <a:off x="1234440" y="2944368"/>
            <a:ext cx="3108960" cy="41148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matmul_daemon.sh</a:t>
            </a:r>
            <a:endParaRPr lang="en-US" sz="1400" dirty="0"/>
          </a:p>
        </p:txBody>
      </p:sp>
      <p:sp>
        <p:nvSpPr>
          <p:cNvPr id="17" name="text-260"/>
          <p:cNvSpPr txBox="1"/>
          <p:nvPr/>
        </p:nvSpPr>
        <p:spPr>
          <a:xfrm>
            <a:off x="640080" y="3493008"/>
            <a:ext cx="3657600" cy="713232"/>
          </a:xfrm>
          <a:prstGeom prst="rect">
            <a:avLst/>
          </a:prstGeom>
          <a:noFill/>
          <a:ln/>
        </p:spPr>
        <p:txBody>
          <a:bodyPr wrap="square" lIns="0" tIns="0" rIns="0" bIns="0" rtlCol="0" anchor="t"/>
          <a:lstStyle/>
          <a:p>
            <a:pPr indent="0" marL="0">
              <a:buNone/>
            </a:pPr>
            <a:r>
              <a:rPr lang="en-US" sz="1400" dirty="0">
                <a:solidFill>
                  <a:schemeClr val="tx1"/>
                </a:solidFill>
              </a:rPr>
              <a:t>start, stop, restart, status, log, foreground. stop asks the daemon itself for its PID.</a:t>
            </a:r>
            <a:endParaRPr lang="en-US" sz="1400" dirty="0"/>
          </a:p>
        </p:txBody>
      </p:sp>
      <p:sp>
        <p:nvSpPr>
          <p:cNvPr id="18" name="card-261"/>
          <p:cNvSpPr/>
          <p:nvPr/>
        </p:nvSpPr>
        <p:spPr>
          <a:xfrm>
            <a:off x="4663440" y="2743200"/>
            <a:ext cx="4023360" cy="1508760"/>
          </a:xfrm>
          <a:prstGeom prst="roundRect">
            <a:avLst>
              <a:gd name="adj" fmla="val 4848"/>
            </a:avLst>
          </a:prstGeom>
          <a:solidFill>
            <a:schemeClr val="bg2"/>
          </a:solidFill>
          <a:ln/>
        </p:spPr>
      </p:sp>
      <p:sp>
        <p:nvSpPr>
          <p:cNvPr id="19" name="icon-circle-262"/>
          <p:cNvSpPr/>
          <p:nvPr/>
        </p:nvSpPr>
        <p:spPr>
          <a:xfrm>
            <a:off x="4846320" y="2926080"/>
            <a:ext cx="457200" cy="457200"/>
          </a:xfrm>
          <a:prstGeom prst="ellipse">
            <a:avLst/>
          </a:prstGeom>
          <a:solidFill>
            <a:schemeClr val="accent1"/>
          </a:solidFill>
          <a:ln/>
        </p:spPr>
      </p:sp>
      <p:pic>
        <p:nvPicPr>
          <p:cNvPr id="20" name="icon-263" descr="Play icon">    </p:cNvPr>
          <p:cNvPicPr>
            <a:picLocks noChangeAspect="1"/>
          </p:cNvPicPr>
          <p:nvPr/>
        </p:nvPicPr>
        <p:blipFill>
          <a:blip r:embed="rId4"/>
          <a:stretch>
            <a:fillRect/>
          </a:stretch>
        </p:blipFill>
        <p:spPr>
          <a:xfrm>
            <a:off x="4960620" y="3040380"/>
            <a:ext cx="228600" cy="228600"/>
          </a:xfrm>
          <a:prstGeom prst="rect">
            <a:avLst/>
          </a:prstGeom>
        </p:spPr>
      </p:pic>
      <p:sp>
        <p:nvSpPr>
          <p:cNvPr id="21" name="text-264"/>
          <p:cNvSpPr txBox="1"/>
          <p:nvPr/>
        </p:nvSpPr>
        <p:spPr>
          <a:xfrm>
            <a:off x="5440680" y="2944368"/>
            <a:ext cx="3108960" cy="41148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run_matmul_plugin.sh</a:t>
            </a:r>
            <a:endParaRPr lang="en-US" sz="1400" dirty="0"/>
          </a:p>
        </p:txBody>
      </p:sp>
      <p:sp>
        <p:nvSpPr>
          <p:cNvPr id="22" name="text-265"/>
          <p:cNvSpPr txBox="1"/>
          <p:nvPr/>
        </p:nvSpPr>
        <p:spPr>
          <a:xfrm>
            <a:off x="4846320" y="3493008"/>
            <a:ext cx="3657600" cy="713232"/>
          </a:xfrm>
          <a:prstGeom prst="rect">
            <a:avLst/>
          </a:prstGeom>
          <a:noFill/>
          <a:ln/>
        </p:spPr>
        <p:txBody>
          <a:bodyPr wrap="square" lIns="0" tIns="0" rIns="0" bIns="0" rtlCol="0" anchor="t"/>
          <a:lstStyle/>
          <a:p>
            <a:pPr indent="0" marL="0">
              <a:buNone/>
            </a:pPr>
            <a:r>
              <a:rPr lang="en-US" sz="1400" dirty="0">
                <a:solidFill>
                  <a:schemeClr val="tx1"/>
                </a:solidFill>
              </a:rPr>
              <a:t>Reuses or starts a daemon, runs QEMU, shows the daemon log, cleans up. --gdb pauses for a debugger.</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743200" cy="868680"/>
          </a:xfrm>
          <a:prstGeom prst="rect">
            <a:avLst/>
          </a:prstGeom>
          <a:noFill/>
          <a:ln/>
        </p:spPr>
        <p:txBody>
          <a:bodyPr wrap="square" lIns="0" tIns="0" rIns="0" bIns="0" rtlCol="0" anchor="b"/>
          <a:lstStyle/>
          <a:p>
            <a:pPr indent="0" marL="0">
              <a:buNone/>
            </a:pPr>
            <a:r>
              <a:rPr lang="en-US" sz="4800" b="1" dirty="0">
                <a:solidFill>
                  <a:schemeClr val="accent1"/>
                </a:solidFill>
              </a:rPr>
              <a:t>03</a:t>
            </a:r>
            <a:endParaRPr lang="en-US" sz="4800" dirty="0"/>
          </a:p>
        </p:txBody>
      </p:sp>
      <p:sp>
        <p:nvSpPr>
          <p:cNvPr id="3" name="Text 0"/>
          <p:cNvSpPr/>
          <p:nvPr>
            <p:ph idx="101" type="title" hasCustomPrompt="1"/>
          </p:nvPr>
        </p:nvSpPr>
        <p:spPr>
          <a:xfrm>
            <a:off x="548640" y="2011680"/>
            <a:ext cx="5852160" cy="822960"/>
          </a:xfrm>
          <a:prstGeom prst="rect">
            <a:avLst/>
          </a:prstGeom>
          <a:noFill/>
          <a:ln/>
        </p:spPr>
        <p:txBody>
          <a:bodyPr wrap="square" lIns="0" tIns="0" rIns="0" bIns="0" rtlCol="0" anchor="ctr"/>
          <a:lstStyle/>
          <a:p>
            <a:pPr algn="l" indent="0" marL="0">
              <a:buNone/>
            </a:pPr>
            <a:r>
              <a:rPr lang="en-US" sz="3600" b="1" dirty="0">
                <a:solidFill>
                  <a:schemeClr val="bg1"/>
                </a:solidFill>
              </a:rPr>
              <a:t>Validation</a:t>
            </a:r>
            <a:endParaRPr lang="en-US" sz="3600" dirty="0"/>
          </a:p>
        </p:txBody>
      </p:sp>
      <p:sp>
        <p:nvSpPr>
          <p:cNvPr id="4" name="Text 0"/>
          <p:cNvSpPr/>
          <p:nvPr>
            <p:ph idx="102" type="body" hasCustomPrompt="1"/>
          </p:nvPr>
        </p:nvSpPr>
        <p:spPr>
          <a:xfrm>
            <a:off x="548640" y="2880360"/>
            <a:ext cx="5852160" cy="640080"/>
          </a:xfrm>
          <a:prstGeom prst="rect">
            <a:avLst/>
          </a:prstGeom>
          <a:noFill/>
          <a:ln/>
        </p:spPr>
        <p:txBody>
          <a:bodyPr wrap="square" lIns="0" tIns="0" rIns="0" bIns="0" rtlCol="0" anchor="t"/>
          <a:lstStyle/>
          <a:p>
            <a:pPr indent="0" marL="0">
              <a:buNone/>
            </a:pPr>
            <a:r>
              <a:rPr lang="en-US" sz="1800" dirty="0">
                <a:solidFill>
                  <a:schemeClr val="accent3"/>
                </a:solidFill>
              </a:rPr>
              <a:t>GDB, performance, tests, two platforms</a:t>
            </a:r>
            <a:endParaRPr lang="en-US" sz="1800" dirty="0"/>
          </a:p>
        </p:txBody>
      </p:sp>
      <p:sp>
        <p:nvSpPr>
          <p:cNvPr id="5" name="icon-circle-266"/>
          <p:cNvSpPr/>
          <p:nvPr/>
        </p:nvSpPr>
        <p:spPr>
          <a:xfrm>
            <a:off x="6812280" y="1417320"/>
            <a:ext cx="1600200" cy="1600200"/>
          </a:xfrm>
          <a:prstGeom prst="ellipse">
            <a:avLst/>
          </a:prstGeom>
          <a:solidFill>
            <a:schemeClr val="accent2"/>
          </a:solidFill>
          <a:ln/>
        </p:spPr>
      </p:sp>
      <p:pic>
        <p:nvPicPr>
          <p:cNvPr id="6" name="icon-267" descr="Flask icon">    </p:cNvPr>
          <p:cNvPicPr>
            <a:picLocks noChangeAspect="1"/>
          </p:cNvPicPr>
          <p:nvPr/>
        </p:nvPicPr>
        <p:blipFill>
          <a:blip r:embed="rId1"/>
          <a:stretch>
            <a:fillRect/>
          </a:stretch>
        </p:blipFill>
        <p:spPr>
          <a:xfrm>
            <a:off x="7212330" y="1817370"/>
            <a:ext cx="800100" cy="800100"/>
          </a:xfrm>
          <a:prstGeom prst="rect">
            <a:avLst/>
          </a:prstGeom>
        </p:spPr>
      </p:pic>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GDB works unchanged</a:t>
            </a:r>
            <a:endParaRPr lang="en-US" sz="3000" dirty="0"/>
          </a:p>
        </p:txBody>
      </p:sp>
      <p:sp>
        <p:nvSpPr>
          <p:cNvPr id="3" name="num-268"/>
          <p:cNvSpPr/>
          <p:nvPr/>
        </p:nvSpPr>
        <p:spPr>
          <a:xfrm>
            <a:off x="457200" y="1115568"/>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 name="text-269"/>
          <p:cNvSpPr txBox="1"/>
          <p:nvPr/>
        </p:nvSpPr>
        <p:spPr>
          <a:xfrm>
            <a:off x="914400" y="1097280"/>
            <a:ext cx="3383280" cy="713232"/>
          </a:xfrm>
          <a:prstGeom prst="rect">
            <a:avLst/>
          </a:prstGeom>
          <a:noFill/>
          <a:ln/>
        </p:spPr>
        <p:txBody>
          <a:bodyPr wrap="square" lIns="0" tIns="0" rIns="0" bIns="0" rtlCol="0" anchor="t"/>
          <a:lstStyle/>
          <a:p>
            <a:pPr indent="0" marL="0">
              <a:buNone/>
            </a:pPr>
            <a:r>
              <a:rPr lang="en-US" sz="1400" b="1" dirty="0">
                <a:solidFill>
                  <a:schemeClr val="tx1"/>
                </a:solidFill>
              </a:rPr>
              <a:t>Terminal A</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run_matmul_plugin.sh --gdb</a:t>
            </a:r>
            <a:endParaRPr lang="en-US" sz="1400" dirty="0"/>
          </a:p>
          <a:p>
            <a:pPr indent="0" marL="0">
              <a:buNone/>
            </a:pPr>
            <a:r>
              <a:rPr lang="en-US" sz="1400" dirty="0">
                <a:solidFill>
                  <a:schemeClr val="tx1"/>
                </a:solidFill>
              </a:rPr>
              <a:t>VP paused, GDB server on port 1234</a:t>
            </a:r>
            <a:endParaRPr lang="en-US" sz="1400" dirty="0"/>
          </a:p>
        </p:txBody>
      </p:sp>
      <p:sp>
        <p:nvSpPr>
          <p:cNvPr id="5" name="num-270"/>
          <p:cNvSpPr/>
          <p:nvPr/>
        </p:nvSpPr>
        <p:spPr>
          <a:xfrm>
            <a:off x="457200" y="1892808"/>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6" name="text-271"/>
          <p:cNvSpPr txBox="1"/>
          <p:nvPr/>
        </p:nvSpPr>
        <p:spPr>
          <a:xfrm>
            <a:off x="914400" y="1874520"/>
            <a:ext cx="3383280" cy="713232"/>
          </a:xfrm>
          <a:prstGeom prst="rect">
            <a:avLst/>
          </a:prstGeom>
          <a:noFill/>
          <a:ln/>
        </p:spPr>
        <p:txBody>
          <a:bodyPr wrap="square" lIns="0" tIns="0" rIns="0" bIns="0" rtlCol="0" anchor="t"/>
          <a:lstStyle/>
          <a:p>
            <a:pPr indent="0" marL="0">
              <a:buNone/>
            </a:pPr>
            <a:r>
              <a:rPr lang="en-US" sz="1400" b="1" dirty="0">
                <a:solidFill>
                  <a:schemeClr val="tx1"/>
                </a:solidFill>
              </a:rPr>
              <a:t>Terminal B</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riscv32-unknown-elf-gdb</a:t>
            </a:r>
            <a:endParaRPr lang="en-US" sz="1400" dirty="0"/>
          </a:p>
          <a:p>
            <a:pPr indent="0" marL="0">
              <a:buNone/>
            </a:pPr>
            <a:r>
              <a:rPr lang="en-US" sz="1400" dirty="0">
                <a:solidFill>
                  <a:schemeClr val="tx1"/>
                </a:solidFill>
              </a:rPr>
              <a:t>attached to the firmware ELF</a:t>
            </a:r>
            <a:endParaRPr lang="en-US" sz="1400" dirty="0"/>
          </a:p>
        </p:txBody>
      </p:sp>
      <p:sp>
        <p:nvSpPr>
          <p:cNvPr id="7" name="num-272"/>
          <p:cNvSpPr/>
          <p:nvPr/>
        </p:nvSpPr>
        <p:spPr>
          <a:xfrm>
            <a:off x="457200" y="2670048"/>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8" name="text-273"/>
          <p:cNvSpPr txBox="1"/>
          <p:nvPr/>
        </p:nvSpPr>
        <p:spPr>
          <a:xfrm>
            <a:off x="914400" y="2651760"/>
            <a:ext cx="3383280" cy="713232"/>
          </a:xfrm>
          <a:prstGeom prst="rect">
            <a:avLst/>
          </a:prstGeom>
          <a:noFill/>
          <a:ln/>
        </p:spPr>
        <p:txBody>
          <a:bodyPr wrap="square" lIns="0" tIns="0" rIns="0" bIns="0" rtlCol="0" anchor="t"/>
          <a:lstStyle/>
          <a:p>
            <a:pPr indent="0" marL="0">
              <a:buNone/>
            </a:pPr>
            <a:r>
              <a:rPr lang="en-US" sz="1400" b="1" dirty="0">
                <a:solidFill>
                  <a:schemeClr val="tx1"/>
                </a:solidFill>
              </a:rPr>
              <a:t>Then</a:t>
            </a:r>
            <a:endParaRPr lang="en-US" sz="1400" dirty="0"/>
          </a:p>
          <a:p>
            <a:pPr indent="0" marL="0">
              <a:buNone/>
            </a:pPr>
            <a:r>
              <a:rPr lang="en-US" sz="1400" dirty="0">
                <a:solidFill>
                  <a:schemeClr val="tx1"/>
                </a:solidFill>
              </a:rPr>
              <a:t>break, step, read memory as usual;</a:t>
            </a:r>
            <a:endParaRPr lang="en-US" sz="1400" dirty="0"/>
          </a:p>
          <a:p>
            <a:pPr indent="0" marL="0">
              <a:buNone/>
            </a:pPr>
            <a:r>
              <a:rPr lang="en-US" sz="1400" dirty="0">
                <a:solidFill>
                  <a:schemeClr val="tx1"/>
                </a:solidFill>
              </a:rPr>
              <a:t>the daemon just waits</a:t>
            </a:r>
            <a:endParaRPr lang="en-US" sz="1400" dirty="0"/>
          </a:p>
        </p:txBody>
      </p:sp>
      <p:sp>
        <p:nvSpPr>
          <p:cNvPr id="9" name="card-274"/>
          <p:cNvSpPr/>
          <p:nvPr/>
        </p:nvSpPr>
        <p:spPr>
          <a:xfrm>
            <a:off x="457200" y="3429000"/>
            <a:ext cx="3840480" cy="960120"/>
          </a:xfrm>
          <a:prstGeom prst="roundRect">
            <a:avLst>
              <a:gd name="adj" fmla="val 7619"/>
            </a:avLst>
          </a:prstGeom>
          <a:solidFill>
            <a:schemeClr val="bg2"/>
          </a:solidFill>
          <a:ln/>
        </p:spPr>
      </p:sp>
      <p:sp>
        <p:nvSpPr>
          <p:cNvPr id="10" name="icon-circle-275"/>
          <p:cNvSpPr/>
          <p:nvPr/>
        </p:nvSpPr>
        <p:spPr>
          <a:xfrm>
            <a:off x="621792" y="3630168"/>
            <a:ext cx="457200" cy="457200"/>
          </a:xfrm>
          <a:prstGeom prst="ellipse">
            <a:avLst/>
          </a:prstGeom>
          <a:solidFill>
            <a:schemeClr val="accent1"/>
          </a:solidFill>
          <a:ln/>
        </p:spPr>
      </p:sp>
      <p:pic>
        <p:nvPicPr>
          <p:cNvPr id="11" name="icon-276" descr="Search icon">    </p:cNvPr>
          <p:cNvPicPr>
            <a:picLocks noChangeAspect="1"/>
          </p:cNvPicPr>
          <p:nvPr/>
        </p:nvPicPr>
        <p:blipFill>
          <a:blip r:embed="rId1"/>
          <a:stretch>
            <a:fillRect/>
          </a:stretch>
        </p:blipFill>
        <p:spPr>
          <a:xfrm>
            <a:off x="736092" y="3744468"/>
            <a:ext cx="228600" cy="228600"/>
          </a:xfrm>
          <a:prstGeom prst="rect">
            <a:avLst/>
          </a:prstGeom>
        </p:spPr>
      </p:pic>
      <p:sp>
        <p:nvSpPr>
          <p:cNvPr id="12" name="text-277"/>
          <p:cNvSpPr txBox="1"/>
          <p:nvPr/>
        </p:nvSpPr>
        <p:spPr>
          <a:xfrm>
            <a:off x="1234440" y="3493008"/>
            <a:ext cx="2926080" cy="822960"/>
          </a:xfrm>
          <a:prstGeom prst="rect">
            <a:avLst/>
          </a:prstGeom>
          <a:noFill/>
          <a:ln/>
        </p:spPr>
        <p:txBody>
          <a:bodyPr wrap="square" lIns="0" tIns="0" rIns="0" bIns="0" rtlCol="0" anchor="ctr"/>
          <a:lstStyle/>
          <a:p>
            <a:pPr indent="0" marL="0">
              <a:buNone/>
            </a:pPr>
            <a:r>
              <a:rPr lang="en-US" sz="1400" b="1" dirty="0">
                <a:solidFill>
                  <a:schemeClr val="tx2"/>
                </a:solidFill>
              </a:rPr>
              <a:t>One stepi over the doorbell store moves STATUS from 0 to 1, with C already in memory.</a:t>
            </a:r>
            <a:endParaRPr lang="en-US" sz="1400" dirty="0"/>
          </a:p>
        </p:txBody>
      </p:sp>
      <p:sp>
        <p:nvSpPr>
          <p:cNvPr id="13" name="code-278"/>
          <p:cNvSpPr txBox="1"/>
          <p:nvPr/>
        </p:nvSpPr>
        <p:spPr>
          <a:xfrm>
            <a:off x="4526280" y="1097280"/>
            <a:ext cx="4160520" cy="3291840"/>
          </a:xfrm>
          <a:prstGeom prst="roundRect">
            <a:avLst>
              <a:gd name="adj" fmla="val 2222"/>
            </a:avLst>
          </a:prstGeom>
          <a:solidFill>
            <a:schemeClr val="tx2"/>
          </a:solidFill>
          <a:ln/>
        </p:spPr>
        <p:txBody>
          <a:bodyPr wrap="square" lIns="127000" tIns="177800" rIns="177800" bIns="12700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(gdb) target remote :1234</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(gdb) break kick</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(gdb) continue</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Breakpoint 1, kick (n=4)</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(gdb) p/x *(unsigned*)0x0011C010</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$1 = 0x0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(gdb) finish</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Value returned is $2 = 1</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(gdb) p/x *(unsigned*)0x0011C010</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$3 = 0x1</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(gdb) p c[0]@4</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$4 = {-7852, -7334, 5318, -27399}</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I/O performance: no change</a:t>
            </a:r>
            <a:endParaRPr lang="en-US" sz="3000" dirty="0"/>
          </a:p>
        </p:txBody>
      </p:sp>
      <p:graphicFrame>
        <p:nvGraphicFramePr>
          <p:cNvPr id="3" name="io-chart-279" descr="Bar chart: no plugin 2.034 s, direct 2.075 s, daemon 2.119 s"/>
          <p:cNvGraphicFramePr/>
          <p:nvPr/>
        </p:nvGraphicFramePr>
        <p:xfrm>
          <a:off x="457200" y="1051560"/>
          <a:ext cx="5212080" cy="3337560"/>
        </p:xfrm>
        <a:graphic xmlns:a="http://schemas.openxmlformats.org/drawingml/2006/main">
          <a:graphicData uri="http://schemas.openxmlformats.org/drawingml/2006/chart">
            <c:chart xmlns:c="http://schemas.openxmlformats.org/drawingml/2006/chart" r:id="rId1"/>
          </a:graphicData>
        </a:graphic>
      </p:graphicFrame>
      <p:sp>
        <p:nvSpPr>
          <p:cNvPr id="4" name="text-280"/>
          <p:cNvSpPr txBox="1"/>
          <p:nvPr/>
        </p:nvSpPr>
        <p:spPr>
          <a:xfrm>
            <a:off x="5943600" y="1143000"/>
            <a:ext cx="2743200" cy="731520"/>
          </a:xfrm>
          <a:prstGeom prst="rect">
            <a:avLst/>
          </a:prstGeom>
          <a:noFill/>
          <a:ln/>
        </p:spPr>
        <p:txBody>
          <a:bodyPr wrap="square" lIns="0" tIns="0" rIns="0" bIns="0" rtlCol="0" anchor="t"/>
          <a:lstStyle/>
          <a:p>
            <a:pPr indent="0" marL="0">
              <a:buNone/>
            </a:pPr>
            <a:r>
              <a:rPr lang="en-US" sz="4400" b="1" dirty="0">
                <a:solidFill>
                  <a:schemeClr val="accent1"/>
                </a:solidFill>
              </a:rPr>
              <a:t>+2–4%</a:t>
            </a:r>
            <a:endParaRPr lang="en-US" sz="4400" dirty="0"/>
          </a:p>
        </p:txBody>
      </p:sp>
      <p:sp>
        <p:nvSpPr>
          <p:cNvPr id="5" name="text-281"/>
          <p:cNvSpPr txBox="1"/>
          <p:nvPr/>
        </p:nvSpPr>
        <p:spPr>
          <a:xfrm>
            <a:off x="5943600" y="1874520"/>
            <a:ext cx="2743200" cy="274320"/>
          </a:xfrm>
          <a:prstGeom prst="rect">
            <a:avLst/>
          </a:prstGeom>
          <a:noFill/>
          <a:ln/>
        </p:spPr>
        <p:txBody>
          <a:bodyPr wrap="square" lIns="0" tIns="0" rIns="0" bIns="0" rtlCol="0" anchor="t"/>
          <a:lstStyle/>
          <a:p>
            <a:pPr indent="0" marL="0">
              <a:buNone/>
            </a:pPr>
            <a:r>
              <a:rPr lang="en-US" sz="1400" b="1" dirty="0">
                <a:solidFill>
                  <a:schemeClr val="tx2"/>
                </a:solidFill>
              </a:rPr>
              <a:t>for both plugins, vs no plugin</a:t>
            </a:r>
            <a:endParaRPr lang="en-US" sz="1400" dirty="0"/>
          </a:p>
        </p:txBody>
      </p:sp>
      <p:sp>
        <p:nvSpPr>
          <p:cNvPr id="6" name="text-282"/>
          <p:cNvSpPr txBox="1"/>
          <p:nvPr/>
        </p:nvSpPr>
        <p:spPr>
          <a:xfrm>
            <a:off x="5943600" y="2331720"/>
            <a:ext cx="2743200" cy="868680"/>
          </a:xfrm>
          <a:prstGeom prst="rect">
            <a:avLst/>
          </a:prstGeom>
          <a:noFill/>
          <a:ln/>
        </p:spPr>
        <p:txBody>
          <a:bodyPr wrap="square" lIns="0" tIns="0" rIns="0" bIns="0" rtlCol="0" anchor="t"/>
          <a:lstStyle/>
          <a:p>
            <a:pPr indent="0" marL="0">
              <a:buNone/>
            </a:pPr>
            <a:r>
              <a:rPr lang="en-US" sz="1400" dirty="0">
                <a:solidFill>
                  <a:schemeClr val="tx1"/>
                </a:solidFill>
              </a:rPr>
              <a:t>Which plugin comes out ahead flips from run to run, so the gap between them is noise.</a:t>
            </a:r>
            <a:endParaRPr lang="en-US" sz="1400" dirty="0"/>
          </a:p>
        </p:txBody>
      </p:sp>
      <p:sp>
        <p:nvSpPr>
          <p:cNvPr id="7" name="text-283"/>
          <p:cNvSpPr txBox="1"/>
          <p:nvPr/>
        </p:nvSpPr>
        <p:spPr>
          <a:xfrm>
            <a:off x="5943600" y="3383280"/>
            <a:ext cx="2743200" cy="822960"/>
          </a:xfrm>
          <a:prstGeom prst="rect">
            <a:avLst/>
          </a:prstGeom>
          <a:noFill/>
          <a:ln/>
        </p:spPr>
        <p:txBody>
          <a:bodyPr wrap="square" lIns="0" tIns="0" rIns="0" bIns="0" rtlCol="0" anchor="t"/>
          <a:lstStyle/>
          <a:p>
            <a:pPr indent="0" marL="0">
              <a:buNone/>
            </a:pPr>
            <a:r>
              <a:rPr lang="en-US" sz="1200" dirty="0">
                <a:solidFill>
                  <a:schemeClr val="accent5"/>
                </a:solidFill>
              </a:rPr>
              <a:t>Workload: 2 s of firmware computation and UART output, no NPU requests. Median of 7 runs on an Apple M3 Pro.</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Per request: direct is faster</a:t>
            </a:r>
            <a:endParaRPr lang="en-US" sz="3000" dirty="0"/>
          </a:p>
        </p:txBody>
      </p:sp>
      <p:graphicFrame>
        <p:nvGraphicFramePr>
          <p:cNvPr id="3" name="latency-chart-284" descr="Clustered bars: direct 3.0, 3.0, 3.5, 6.3 µs; daemon 14.1, 14.2, 16.0, 27.0 µs for 4x4 to 32x32"/>
          <p:cNvGraphicFramePr/>
          <p:nvPr/>
        </p:nvGraphicFramePr>
        <p:xfrm>
          <a:off x="457200" y="10515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text-285"/>
          <p:cNvSpPr txBox="1"/>
          <p:nvPr/>
        </p:nvSpPr>
        <p:spPr>
          <a:xfrm>
            <a:off x="457200" y="4297680"/>
            <a:ext cx="5212080" cy="274320"/>
          </a:xfrm>
          <a:prstGeom prst="rect">
            <a:avLst/>
          </a:prstGeom>
          <a:noFill/>
          <a:ln/>
        </p:spPr>
        <p:txBody>
          <a:bodyPr wrap="square" lIns="0" tIns="0" rIns="0" bIns="0" rtlCol="0" anchor="t"/>
          <a:lstStyle/>
          <a:p>
            <a:pPr indent="0" marL="0">
              <a:buNone/>
            </a:pPr>
            <a:r>
              <a:rPr lang="en-US" sz="1200" dirty="0">
                <a:solidFill>
                  <a:schemeClr val="accent5"/>
                </a:solidFill>
              </a:rPr>
              <a:t>Average per request · 2,000 per size · median of 7 runs</a:t>
            </a:r>
            <a:endParaRPr lang="en-US" sz="1200" dirty="0"/>
          </a:p>
        </p:txBody>
      </p:sp>
      <p:sp>
        <p:nvSpPr>
          <p:cNvPr id="5" name="text-286"/>
          <p:cNvSpPr txBox="1"/>
          <p:nvPr/>
        </p:nvSpPr>
        <p:spPr>
          <a:xfrm>
            <a:off x="5943600" y="1097280"/>
            <a:ext cx="2743200" cy="548640"/>
          </a:xfrm>
          <a:prstGeom prst="rect">
            <a:avLst/>
          </a:prstGeom>
          <a:noFill/>
          <a:ln/>
        </p:spPr>
        <p:txBody>
          <a:bodyPr wrap="square" lIns="0" tIns="0" rIns="0" bIns="0" rtlCol="0" anchor="t"/>
          <a:lstStyle/>
          <a:p>
            <a:pPr indent="0" marL="0">
              <a:buNone/>
            </a:pPr>
            <a:r>
              <a:rPr lang="en-US" sz="3200" b="1" dirty="0">
                <a:solidFill>
                  <a:schemeClr val="accent1"/>
                </a:solidFill>
              </a:rPr>
              <a:t>+11–21 µs</a:t>
            </a:r>
            <a:endParaRPr lang="en-US" sz="3200" dirty="0"/>
          </a:p>
        </p:txBody>
      </p:sp>
      <p:sp>
        <p:nvSpPr>
          <p:cNvPr id="6" name="text-287"/>
          <p:cNvSpPr txBox="1"/>
          <p:nvPr/>
        </p:nvSpPr>
        <p:spPr>
          <a:xfrm>
            <a:off x="5943600" y="1645920"/>
            <a:ext cx="2743200" cy="274320"/>
          </a:xfrm>
          <a:prstGeom prst="rect">
            <a:avLst/>
          </a:prstGeom>
          <a:noFill/>
          <a:ln/>
        </p:spPr>
        <p:txBody>
          <a:bodyPr wrap="square" lIns="0" tIns="0" rIns="0" bIns="0" rtlCol="0" anchor="t"/>
          <a:lstStyle/>
          <a:p>
            <a:pPr indent="0" marL="0">
              <a:buNone/>
            </a:pPr>
            <a:r>
              <a:rPr lang="en-US" sz="1400" b="1" dirty="0">
                <a:solidFill>
                  <a:schemeClr val="tx2"/>
                </a:solidFill>
              </a:rPr>
              <a:t>extra per daemon request</a:t>
            </a:r>
            <a:endParaRPr lang="en-US" sz="1400" dirty="0"/>
          </a:p>
        </p:txBody>
      </p:sp>
      <p:sp>
        <p:nvSpPr>
          <p:cNvPr id="7" name="text-288"/>
          <p:cNvSpPr txBox="1"/>
          <p:nvPr/>
        </p:nvSpPr>
        <p:spPr>
          <a:xfrm>
            <a:off x="5943600" y="2057400"/>
            <a:ext cx="2743200" cy="246888"/>
          </a:xfrm>
          <a:prstGeom prst="rect">
            <a:avLst/>
          </a:prstGeom>
          <a:noFill/>
          <a:ln/>
        </p:spPr>
        <p:txBody>
          <a:bodyPr wrap="square" lIns="0" tIns="0" rIns="0" bIns="0" rtlCol="0" anchor="t"/>
          <a:lstStyle/>
          <a:p>
            <a:pPr indent="0" marL="0">
              <a:buNone/>
            </a:pPr>
            <a:r>
              <a:rPr lang="en-US" sz="1400" b="1" dirty="0">
                <a:solidFill>
                  <a:schemeClr val="accent2"/>
                </a:solidFill>
              </a:rPr>
              <a:t>Why</a:t>
            </a:r>
            <a:endParaRPr lang="en-US" sz="1400" dirty="0"/>
          </a:p>
        </p:txBody>
      </p:sp>
      <p:sp>
        <p:nvSpPr>
          <p:cNvPr id="8" name="text-289"/>
          <p:cNvSpPr txBox="1"/>
          <p:nvPr/>
        </p:nvSpPr>
        <p:spPr>
          <a:xfrm>
            <a:off x="5943600" y="2313432"/>
            <a:ext cx="2743200" cy="475488"/>
          </a:xfrm>
          <a:prstGeom prst="rect">
            <a:avLst/>
          </a:prstGeom>
          <a:noFill/>
          <a:ln/>
        </p:spPr>
        <p:txBody>
          <a:bodyPr wrap="square" lIns="0" tIns="0" rIns="0" bIns="0" rtlCol="0" anchor="t"/>
          <a:lstStyle/>
          <a:p>
            <a:pPr indent="0" marL="0">
              <a:buNone/>
            </a:pPr>
            <a:r>
              <a:rPr lang="en-US" sz="1400" dirty="0">
                <a:solidFill>
                  <a:schemeClr val="tx1"/>
                </a:solidFill>
              </a:rPr>
              <a:t>Process switches and data copies; the VP waits each time.</a:t>
            </a:r>
            <a:endParaRPr lang="en-US" sz="1400" dirty="0"/>
          </a:p>
        </p:txBody>
      </p:sp>
      <p:sp>
        <p:nvSpPr>
          <p:cNvPr id="9" name="text-290"/>
          <p:cNvSpPr txBox="1"/>
          <p:nvPr/>
        </p:nvSpPr>
        <p:spPr>
          <a:xfrm>
            <a:off x="5943600" y="2852928"/>
            <a:ext cx="2743200" cy="246888"/>
          </a:xfrm>
          <a:prstGeom prst="rect">
            <a:avLst/>
          </a:prstGeom>
          <a:noFill/>
          <a:ln/>
        </p:spPr>
        <p:txBody>
          <a:bodyPr wrap="square" lIns="0" tIns="0" rIns="0" bIns="0" rtlCol="0" anchor="t"/>
          <a:lstStyle/>
          <a:p>
            <a:pPr indent="0" marL="0">
              <a:buNone/>
            </a:pPr>
            <a:r>
              <a:rPr lang="en-US" sz="1400" b="1" dirty="0">
                <a:solidFill>
                  <a:schemeClr val="accent2"/>
                </a:solidFill>
              </a:rPr>
              <a:t>When the daemon pays off</a:t>
            </a:r>
            <a:endParaRPr lang="en-US" sz="1400" dirty="0"/>
          </a:p>
        </p:txBody>
      </p:sp>
      <p:sp>
        <p:nvSpPr>
          <p:cNvPr id="10" name="text-291"/>
          <p:cNvSpPr txBox="1"/>
          <p:nvPr/>
        </p:nvSpPr>
        <p:spPr>
          <a:xfrm>
            <a:off x="5943600" y="3108960"/>
            <a:ext cx="2743200" cy="475488"/>
          </a:xfrm>
          <a:prstGeom prst="rect">
            <a:avLst/>
          </a:prstGeom>
          <a:noFill/>
          <a:ln/>
        </p:spPr>
        <p:txBody>
          <a:bodyPr wrap="square" lIns="0" tIns="0" rIns="0" bIns="0" rtlCol="0" anchor="t"/>
          <a:lstStyle/>
          <a:p>
            <a:pPr indent="0" marL="0">
              <a:buNone/>
            </a:pPr>
            <a:r>
              <a:rPr lang="en-US" sz="1400" dirty="0">
                <a:solidFill>
                  <a:schemeClr val="tx1"/>
                </a:solidFill>
              </a:rPr>
              <a:t>Heavy or RTL NPU models, shared NPUs, crash isolation.</a:t>
            </a:r>
            <a:endParaRPr lang="en-US" sz="1400" dirty="0"/>
          </a:p>
        </p:txBody>
      </p:sp>
      <p:sp>
        <p:nvSpPr>
          <p:cNvPr id="11" name="text-292"/>
          <p:cNvSpPr txBox="1"/>
          <p:nvPr/>
        </p:nvSpPr>
        <p:spPr>
          <a:xfrm>
            <a:off x="5943600" y="3648456"/>
            <a:ext cx="2743200" cy="246888"/>
          </a:xfrm>
          <a:prstGeom prst="rect">
            <a:avLst/>
          </a:prstGeom>
          <a:noFill/>
          <a:ln/>
        </p:spPr>
        <p:txBody>
          <a:bodyPr wrap="square" lIns="0" tIns="0" rIns="0" bIns="0" rtlCol="0" anchor="t"/>
          <a:lstStyle/>
          <a:p>
            <a:pPr indent="0" marL="0">
              <a:buNone/>
            </a:pPr>
            <a:r>
              <a:rPr lang="en-US" sz="1400" b="1" dirty="0">
                <a:solidFill>
                  <a:schemeClr val="accent2"/>
                </a:solidFill>
              </a:rPr>
              <a:t>To beat direct</a:t>
            </a:r>
            <a:endParaRPr lang="en-US" sz="1400" dirty="0"/>
          </a:p>
        </p:txBody>
      </p:sp>
      <p:sp>
        <p:nvSpPr>
          <p:cNvPr id="12" name="text-293"/>
          <p:cNvSpPr txBox="1"/>
          <p:nvPr/>
        </p:nvSpPr>
        <p:spPr>
          <a:xfrm>
            <a:off x="5943600" y="3904488"/>
            <a:ext cx="2743200" cy="475488"/>
          </a:xfrm>
          <a:prstGeom prst="rect">
            <a:avLst/>
          </a:prstGeom>
          <a:noFill/>
          <a:ln/>
        </p:spPr>
        <p:txBody>
          <a:bodyPr wrap="square" lIns="0" tIns="0" rIns="0" bIns="0" rtlCol="0" anchor="t"/>
          <a:lstStyle/>
          <a:p>
            <a:pPr indent="0" marL="0">
              <a:buNone/>
            </a:pPr>
            <a:r>
              <a:rPr lang="en-US" sz="1400" dirty="0">
                <a:solidFill>
                  <a:schemeClr val="tx1"/>
                </a:solidFill>
              </a:rPr>
              <a:t>Asynchronous requests: the guest runs while the NPU computes.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22 tests in about 5 seconds</a:t>
            </a:r>
            <a:endParaRPr lang="en-US" sz="3000" dirty="0"/>
          </a:p>
        </p:txBody>
      </p:sp>
      <p:sp>
        <p:nvSpPr>
          <p:cNvPr id="3" name="text-294"/>
          <p:cNvSpPr txBox="1"/>
          <p:nvPr/>
        </p:nvSpPr>
        <p:spPr>
          <a:xfrm>
            <a:off x="457200" y="1005840"/>
            <a:ext cx="2194560" cy="1097280"/>
          </a:xfrm>
          <a:prstGeom prst="rect">
            <a:avLst/>
          </a:prstGeom>
          <a:noFill/>
          <a:ln/>
        </p:spPr>
        <p:txBody>
          <a:bodyPr wrap="square" lIns="0" tIns="0" rIns="0" bIns="0" rtlCol="0" anchor="t"/>
          <a:lstStyle/>
          <a:p>
            <a:pPr indent="0" marL="0">
              <a:buNone/>
            </a:pPr>
            <a:r>
              <a:rPr lang="en-US" sz="7200" b="1" dirty="0">
                <a:solidFill>
                  <a:schemeClr val="accent1"/>
                </a:solidFill>
              </a:rPr>
              <a:t>22</a:t>
            </a:r>
            <a:endParaRPr lang="en-US" sz="7200" dirty="0"/>
          </a:p>
        </p:txBody>
      </p:sp>
      <p:sp>
        <p:nvSpPr>
          <p:cNvPr id="4" name="text-295"/>
          <p:cNvSpPr txBox="1"/>
          <p:nvPr/>
        </p:nvSpPr>
        <p:spPr>
          <a:xfrm>
            <a:off x="457200" y="2103120"/>
            <a:ext cx="2194560" cy="320040"/>
          </a:xfrm>
          <a:prstGeom prst="rect">
            <a:avLst/>
          </a:prstGeom>
          <a:noFill/>
          <a:ln/>
        </p:spPr>
        <p:txBody>
          <a:bodyPr wrap="square" lIns="0" tIns="0" rIns="0" bIns="0" rtlCol="0" anchor="t"/>
          <a:lstStyle/>
          <a:p>
            <a:pPr indent="0" marL="0">
              <a:buNone/>
            </a:pPr>
            <a:r>
              <a:rPr lang="en-US" sz="1600" b="1" dirty="0">
                <a:solidFill>
                  <a:schemeClr val="tx2"/>
                </a:solidFill>
              </a:rPr>
              <a:t>automated tests</a:t>
            </a:r>
            <a:endParaRPr lang="en-US" sz="1600" dirty="0"/>
          </a:p>
        </p:txBody>
      </p:sp>
      <p:sp>
        <p:nvSpPr>
          <p:cNvPr id="5" name="card-296"/>
          <p:cNvSpPr/>
          <p:nvPr/>
        </p:nvSpPr>
        <p:spPr>
          <a:xfrm>
            <a:off x="457200" y="2788920"/>
            <a:ext cx="2194560" cy="1600200"/>
          </a:xfrm>
          <a:prstGeom prst="roundRect">
            <a:avLst>
              <a:gd name="adj" fmla="val 4571"/>
            </a:avLst>
          </a:prstGeom>
          <a:solidFill>
            <a:schemeClr val="bg2"/>
          </a:solidFill>
          <a:ln/>
        </p:spPr>
      </p:sp>
      <p:sp>
        <p:nvSpPr>
          <p:cNvPr id="6" name="icon-circle-297"/>
          <p:cNvSpPr/>
          <p:nvPr/>
        </p:nvSpPr>
        <p:spPr>
          <a:xfrm>
            <a:off x="621792" y="2944368"/>
            <a:ext cx="411480" cy="411480"/>
          </a:xfrm>
          <a:prstGeom prst="ellipse">
            <a:avLst/>
          </a:prstGeom>
          <a:solidFill>
            <a:schemeClr val="accent1"/>
          </a:solidFill>
          <a:ln/>
        </p:spPr>
      </p:sp>
      <p:pic>
        <p:nvPicPr>
          <p:cNvPr id="7" name="icon-298" descr="Bug icon">    </p:cNvPr>
          <p:cNvPicPr>
            <a:picLocks noChangeAspect="1"/>
          </p:cNvPicPr>
          <p:nvPr/>
        </p:nvPicPr>
        <p:blipFill>
          <a:blip r:embed="rId1"/>
          <a:stretch>
            <a:fillRect/>
          </a:stretch>
        </p:blipFill>
        <p:spPr>
          <a:xfrm>
            <a:off x="724662" y="3047238"/>
            <a:ext cx="205740" cy="205740"/>
          </a:xfrm>
          <a:prstGeom prst="rect">
            <a:avLst/>
          </a:prstGeom>
        </p:spPr>
      </p:pic>
      <p:sp>
        <p:nvSpPr>
          <p:cNvPr id="8" name="text-299"/>
          <p:cNvSpPr txBox="1"/>
          <p:nvPr/>
        </p:nvSpPr>
        <p:spPr>
          <a:xfrm>
            <a:off x="621792" y="3456432"/>
            <a:ext cx="1874520" cy="868680"/>
          </a:xfrm>
          <a:prstGeom prst="rect">
            <a:avLst/>
          </a:prstGeom>
          <a:noFill/>
          <a:ln/>
        </p:spPr>
        <p:txBody>
          <a:bodyPr wrap="square" lIns="0" tIns="0" rIns="0" bIns="0" rtlCol="0" anchor="t"/>
          <a:lstStyle/>
          <a:p>
            <a:pPr indent="0" marL="0">
              <a:buNone/>
            </a:pPr>
            <a:r>
              <a:rPr lang="en-US" sz="1300" dirty="0">
                <a:solidFill>
                  <a:schemeClr val="tx1"/>
                </a:solidFill>
              </a:rPr>
              <a:t>The hung-daemon test found a real freeze; see “Problems found and fixed”.</a:t>
            </a:r>
            <a:endParaRPr lang="en-US" sz="1300" dirty="0"/>
          </a:p>
        </p:txBody>
      </p:sp>
      <p:sp>
        <p:nvSpPr>
          <p:cNvPr id="9" name="card-300"/>
          <p:cNvSpPr/>
          <p:nvPr/>
        </p:nvSpPr>
        <p:spPr>
          <a:xfrm>
            <a:off x="2926080" y="1097280"/>
            <a:ext cx="1371600" cy="1600200"/>
          </a:xfrm>
          <a:prstGeom prst="roundRect">
            <a:avLst>
              <a:gd name="adj" fmla="val 5333"/>
            </a:avLst>
          </a:prstGeom>
          <a:solidFill>
            <a:schemeClr val="bg2"/>
          </a:solidFill>
          <a:ln/>
        </p:spPr>
      </p:sp>
      <p:sp>
        <p:nvSpPr>
          <p:cNvPr id="10" name="text-301"/>
          <p:cNvSpPr txBox="1"/>
          <p:nvPr/>
        </p:nvSpPr>
        <p:spPr>
          <a:xfrm>
            <a:off x="3063240" y="1188720"/>
            <a:ext cx="1097280" cy="502920"/>
          </a:xfrm>
          <a:prstGeom prst="rect">
            <a:avLst/>
          </a:prstGeom>
          <a:noFill/>
          <a:ln/>
        </p:spPr>
        <p:txBody>
          <a:bodyPr wrap="square" lIns="0" tIns="0" rIns="0" bIns="0" rtlCol="0" anchor="t"/>
          <a:lstStyle/>
          <a:p>
            <a:pPr indent="0" marL="0">
              <a:buNone/>
            </a:pPr>
            <a:r>
              <a:rPr lang="en-US" sz="2800" b="1" dirty="0">
                <a:solidFill>
                  <a:schemeClr val="accent2"/>
                </a:solidFill>
              </a:rPr>
              <a:t>5</a:t>
            </a:r>
            <a:endParaRPr lang="en-US" sz="2800" dirty="0"/>
          </a:p>
        </p:txBody>
      </p:sp>
      <p:sp>
        <p:nvSpPr>
          <p:cNvPr id="11" name="text-302"/>
          <p:cNvSpPr txBox="1"/>
          <p:nvPr/>
        </p:nvSpPr>
        <p:spPr>
          <a:xfrm>
            <a:off x="3063240" y="1719072"/>
            <a:ext cx="1143000" cy="274320"/>
          </a:xfrm>
          <a:prstGeom prst="rect">
            <a:avLst/>
          </a:prstGeom>
          <a:noFill/>
          <a:ln/>
        </p:spPr>
        <p:txBody>
          <a:bodyPr wrap="square" lIns="0" tIns="0" rIns="0" bIns="0" rtlCol="0" anchor="t"/>
          <a:lstStyle/>
          <a:p>
            <a:pPr indent="0" marL="0">
              <a:buNone/>
            </a:pPr>
            <a:r>
              <a:rPr lang="en-US" sz="1400" b="1" dirty="0">
                <a:solidFill>
                  <a:schemeClr val="tx2"/>
                </a:solidFill>
              </a:rPr>
              <a:t>Lifecycle</a:t>
            </a:r>
            <a:endParaRPr lang="en-US" sz="1400" dirty="0"/>
          </a:p>
        </p:txBody>
      </p:sp>
      <p:sp>
        <p:nvSpPr>
          <p:cNvPr id="12" name="text-303"/>
          <p:cNvSpPr txBox="1"/>
          <p:nvPr/>
        </p:nvSpPr>
        <p:spPr>
          <a:xfrm>
            <a:off x="3063240" y="2011680"/>
            <a:ext cx="1143000" cy="621792"/>
          </a:xfrm>
          <a:prstGeom prst="rect">
            <a:avLst/>
          </a:prstGeom>
          <a:noFill/>
          <a:ln/>
        </p:spPr>
        <p:txBody>
          <a:bodyPr wrap="square" lIns="0" tIns="0" rIns="0" bIns="0" rtlCol="0" anchor="t"/>
          <a:lstStyle/>
          <a:p>
            <a:pPr indent="0" marL="0">
              <a:buNone/>
            </a:pPr>
            <a:r>
              <a:rPr lang="en-US" sz="1200" dirty="0">
                <a:solidFill>
                  <a:schemeClr val="accent5"/>
                </a:solidFill>
              </a:rPr>
              <a:t>detach, pidfile, cleanup, stale sockets</a:t>
            </a:r>
            <a:endParaRPr lang="en-US" sz="1200" dirty="0"/>
          </a:p>
        </p:txBody>
      </p:sp>
      <p:sp>
        <p:nvSpPr>
          <p:cNvPr id="13" name="card-304"/>
          <p:cNvSpPr/>
          <p:nvPr/>
        </p:nvSpPr>
        <p:spPr>
          <a:xfrm>
            <a:off x="4389120" y="1097280"/>
            <a:ext cx="1371600" cy="1600200"/>
          </a:xfrm>
          <a:prstGeom prst="roundRect">
            <a:avLst>
              <a:gd name="adj" fmla="val 5333"/>
            </a:avLst>
          </a:prstGeom>
          <a:solidFill>
            <a:schemeClr val="bg2"/>
          </a:solidFill>
          <a:ln/>
        </p:spPr>
      </p:sp>
      <p:sp>
        <p:nvSpPr>
          <p:cNvPr id="14" name="text-305"/>
          <p:cNvSpPr txBox="1"/>
          <p:nvPr/>
        </p:nvSpPr>
        <p:spPr>
          <a:xfrm>
            <a:off x="4526280" y="1188720"/>
            <a:ext cx="1097280" cy="502920"/>
          </a:xfrm>
          <a:prstGeom prst="rect">
            <a:avLst/>
          </a:prstGeom>
          <a:noFill/>
          <a:ln/>
        </p:spPr>
        <p:txBody>
          <a:bodyPr wrap="square" lIns="0" tIns="0" rIns="0" bIns="0" rtlCol="0" anchor="t"/>
          <a:lstStyle/>
          <a:p>
            <a:pPr indent="0" marL="0">
              <a:buNone/>
            </a:pPr>
            <a:r>
              <a:rPr lang="en-US" sz="2800" b="1" dirty="0">
                <a:solidFill>
                  <a:schemeClr val="accent2"/>
                </a:solidFill>
              </a:rPr>
              <a:t>6</a:t>
            </a:r>
            <a:endParaRPr lang="en-US" sz="2800" dirty="0"/>
          </a:p>
        </p:txBody>
      </p:sp>
      <p:sp>
        <p:nvSpPr>
          <p:cNvPr id="15" name="text-306"/>
          <p:cNvSpPr txBox="1"/>
          <p:nvPr/>
        </p:nvSpPr>
        <p:spPr>
          <a:xfrm>
            <a:off x="4526280" y="1719072"/>
            <a:ext cx="1143000" cy="274320"/>
          </a:xfrm>
          <a:prstGeom prst="rect">
            <a:avLst/>
          </a:prstGeom>
          <a:noFill/>
          <a:ln/>
        </p:spPr>
        <p:txBody>
          <a:bodyPr wrap="square" lIns="0" tIns="0" rIns="0" bIns="0" rtlCol="0" anchor="t"/>
          <a:lstStyle/>
          <a:p>
            <a:pPr indent="0" marL="0">
              <a:buNone/>
            </a:pPr>
            <a:r>
              <a:rPr lang="en-US" sz="1400" b="1" dirty="0">
                <a:solidFill>
                  <a:schemeClr val="tx2"/>
                </a:solidFill>
              </a:rPr>
              <a:t>Protocol</a:t>
            </a:r>
            <a:endParaRPr lang="en-US" sz="1400" dirty="0"/>
          </a:p>
        </p:txBody>
      </p:sp>
      <p:sp>
        <p:nvSpPr>
          <p:cNvPr id="16" name="text-307"/>
          <p:cNvSpPr txBox="1"/>
          <p:nvPr/>
        </p:nvSpPr>
        <p:spPr>
          <a:xfrm>
            <a:off x="4526280" y="2011680"/>
            <a:ext cx="1143000" cy="621792"/>
          </a:xfrm>
          <a:prstGeom prst="rect">
            <a:avLst/>
          </a:prstGeom>
          <a:noFill/>
          <a:ln/>
        </p:spPr>
        <p:txBody>
          <a:bodyPr wrap="square" lIns="0" tIns="0" rIns="0" bIns="0" rtlCol="0" anchor="t"/>
          <a:lstStyle/>
          <a:p>
            <a:pPr indent="0" marL="0">
              <a:buNone/>
            </a:pPr>
            <a:r>
              <a:rPr lang="en-US" sz="1200" dirty="0">
                <a:solidFill>
                  <a:schemeClr val="accent5"/>
                </a:solidFill>
              </a:rPr>
              <a:t>N = 1–64 vs a reference, every error</a:t>
            </a:r>
            <a:endParaRPr lang="en-US" sz="1200" dirty="0"/>
          </a:p>
        </p:txBody>
      </p:sp>
      <p:sp>
        <p:nvSpPr>
          <p:cNvPr id="17" name="card-308"/>
          <p:cNvSpPr/>
          <p:nvPr/>
        </p:nvSpPr>
        <p:spPr>
          <a:xfrm>
            <a:off x="5852160" y="1097280"/>
            <a:ext cx="1371600" cy="1600200"/>
          </a:xfrm>
          <a:prstGeom prst="roundRect">
            <a:avLst>
              <a:gd name="adj" fmla="val 5333"/>
            </a:avLst>
          </a:prstGeom>
          <a:solidFill>
            <a:schemeClr val="bg2"/>
          </a:solidFill>
          <a:ln/>
        </p:spPr>
      </p:sp>
      <p:sp>
        <p:nvSpPr>
          <p:cNvPr id="18" name="text-309"/>
          <p:cNvSpPr txBox="1"/>
          <p:nvPr/>
        </p:nvSpPr>
        <p:spPr>
          <a:xfrm>
            <a:off x="5989320" y="1188720"/>
            <a:ext cx="1097280" cy="502920"/>
          </a:xfrm>
          <a:prstGeom prst="rect">
            <a:avLst/>
          </a:prstGeom>
          <a:noFill/>
          <a:ln/>
        </p:spPr>
        <p:txBody>
          <a:bodyPr wrap="square" lIns="0" tIns="0" rIns="0" bIns="0" rtlCol="0" anchor="t"/>
          <a:lstStyle/>
          <a:p>
            <a:pPr indent="0" marL="0">
              <a:buNone/>
            </a:pPr>
            <a:r>
              <a:rPr lang="en-US" sz="2800" b="1" dirty="0">
                <a:solidFill>
                  <a:schemeClr val="accent2"/>
                </a:solidFill>
              </a:rPr>
              <a:t>1</a:t>
            </a:r>
            <a:endParaRPr lang="en-US" sz="2800" dirty="0"/>
          </a:p>
        </p:txBody>
      </p:sp>
      <p:sp>
        <p:nvSpPr>
          <p:cNvPr id="19" name="text-310"/>
          <p:cNvSpPr txBox="1"/>
          <p:nvPr/>
        </p:nvSpPr>
        <p:spPr>
          <a:xfrm>
            <a:off x="5989320" y="1719072"/>
            <a:ext cx="1143000" cy="274320"/>
          </a:xfrm>
          <a:prstGeom prst="rect">
            <a:avLst/>
          </a:prstGeom>
          <a:noFill/>
          <a:ln/>
        </p:spPr>
        <p:txBody>
          <a:bodyPr wrap="square" lIns="0" tIns="0" rIns="0" bIns="0" rtlCol="0" anchor="t"/>
          <a:lstStyle/>
          <a:p>
            <a:pPr indent="0" marL="0">
              <a:buNone/>
            </a:pPr>
            <a:r>
              <a:rPr lang="en-US" sz="1400" b="1" dirty="0">
                <a:solidFill>
                  <a:schemeClr val="tx2"/>
                </a:solidFill>
              </a:rPr>
              <a:t>Parallel</a:t>
            </a:r>
            <a:endParaRPr lang="en-US" sz="1400" dirty="0"/>
          </a:p>
        </p:txBody>
      </p:sp>
      <p:sp>
        <p:nvSpPr>
          <p:cNvPr id="20" name="text-311"/>
          <p:cNvSpPr txBox="1"/>
          <p:nvPr/>
        </p:nvSpPr>
        <p:spPr>
          <a:xfrm>
            <a:off x="5989320" y="2011680"/>
            <a:ext cx="1143000" cy="621792"/>
          </a:xfrm>
          <a:prstGeom prst="rect">
            <a:avLst/>
          </a:prstGeom>
          <a:noFill/>
          <a:ln/>
        </p:spPr>
        <p:txBody>
          <a:bodyPr wrap="square" lIns="0" tIns="0" rIns="0" bIns="0" rtlCol="0" anchor="t"/>
          <a:lstStyle/>
          <a:p>
            <a:pPr indent="0" marL="0">
              <a:buNone/>
            </a:pPr>
            <a:r>
              <a:rPr lang="en-US" sz="1200" dirty="0">
                <a:solidFill>
                  <a:schemeClr val="accent5"/>
                </a:solidFill>
              </a:rPr>
              <a:t>six VPs on one daemon</a:t>
            </a:r>
            <a:endParaRPr lang="en-US" sz="1200" dirty="0"/>
          </a:p>
        </p:txBody>
      </p:sp>
      <p:sp>
        <p:nvSpPr>
          <p:cNvPr id="21" name="card-312"/>
          <p:cNvSpPr/>
          <p:nvPr/>
        </p:nvSpPr>
        <p:spPr>
          <a:xfrm>
            <a:off x="7315200" y="1097280"/>
            <a:ext cx="1371600" cy="1600200"/>
          </a:xfrm>
          <a:prstGeom prst="roundRect">
            <a:avLst>
              <a:gd name="adj" fmla="val 5333"/>
            </a:avLst>
          </a:prstGeom>
          <a:solidFill>
            <a:schemeClr val="bg2"/>
          </a:solidFill>
          <a:ln/>
        </p:spPr>
      </p:sp>
      <p:sp>
        <p:nvSpPr>
          <p:cNvPr id="22" name="text-313"/>
          <p:cNvSpPr txBox="1"/>
          <p:nvPr/>
        </p:nvSpPr>
        <p:spPr>
          <a:xfrm>
            <a:off x="7452360" y="1188720"/>
            <a:ext cx="1097280" cy="502920"/>
          </a:xfrm>
          <a:prstGeom prst="rect">
            <a:avLst/>
          </a:prstGeom>
          <a:noFill/>
          <a:ln/>
        </p:spPr>
        <p:txBody>
          <a:bodyPr wrap="square" lIns="0" tIns="0" rIns="0" bIns="0" rtlCol="0" anchor="t"/>
          <a:lstStyle/>
          <a:p>
            <a:pPr indent="0" marL="0">
              <a:buNone/>
            </a:pPr>
            <a:r>
              <a:rPr lang="en-US" sz="2800" b="1" dirty="0">
                <a:solidFill>
                  <a:schemeClr val="accent2"/>
                </a:solidFill>
              </a:rPr>
              <a:t>3</a:t>
            </a:r>
            <a:endParaRPr lang="en-US" sz="2800" dirty="0"/>
          </a:p>
        </p:txBody>
      </p:sp>
      <p:sp>
        <p:nvSpPr>
          <p:cNvPr id="23" name="text-314"/>
          <p:cNvSpPr txBox="1"/>
          <p:nvPr/>
        </p:nvSpPr>
        <p:spPr>
          <a:xfrm>
            <a:off x="7452360" y="1719072"/>
            <a:ext cx="1143000" cy="274320"/>
          </a:xfrm>
          <a:prstGeom prst="rect">
            <a:avLst/>
          </a:prstGeom>
          <a:noFill/>
          <a:ln/>
        </p:spPr>
        <p:txBody>
          <a:bodyPr wrap="square" lIns="0" tIns="0" rIns="0" bIns="0" rtlCol="0" anchor="t"/>
          <a:lstStyle/>
          <a:p>
            <a:pPr indent="0" marL="0">
              <a:buNone/>
            </a:pPr>
            <a:r>
              <a:rPr lang="en-US" sz="1400" b="1" dirty="0">
                <a:solidFill>
                  <a:schemeClr val="tx2"/>
                </a:solidFill>
              </a:rPr>
              <a:t>End to end</a:t>
            </a:r>
            <a:endParaRPr lang="en-US" sz="1400" dirty="0"/>
          </a:p>
        </p:txBody>
      </p:sp>
      <p:sp>
        <p:nvSpPr>
          <p:cNvPr id="24" name="text-315"/>
          <p:cNvSpPr txBox="1"/>
          <p:nvPr/>
        </p:nvSpPr>
        <p:spPr>
          <a:xfrm>
            <a:off x="7452360" y="2011680"/>
            <a:ext cx="1143000" cy="621792"/>
          </a:xfrm>
          <a:prstGeom prst="rect">
            <a:avLst/>
          </a:prstGeom>
          <a:noFill/>
          <a:ln/>
        </p:spPr>
        <p:txBody>
          <a:bodyPr wrap="square" lIns="0" tIns="0" rIns="0" bIns="0" rtlCol="0" anchor="t"/>
          <a:lstStyle/>
          <a:p>
            <a:pPr indent="0" marL="0">
              <a:buNone/>
            </a:pPr>
            <a:r>
              <a:rPr lang="en-US" sz="1200" dirty="0">
                <a:solidFill>
                  <a:schemeClr val="accent5"/>
                </a:solidFill>
              </a:rPr>
              <a:t>PASS, no daemon, no plugin</a:t>
            </a:r>
            <a:endParaRPr lang="en-US" sz="1200" dirty="0"/>
          </a:p>
        </p:txBody>
      </p:sp>
      <p:sp>
        <p:nvSpPr>
          <p:cNvPr id="25" name="card-316"/>
          <p:cNvSpPr/>
          <p:nvPr/>
        </p:nvSpPr>
        <p:spPr>
          <a:xfrm>
            <a:off x="2926080" y="2788920"/>
            <a:ext cx="1371600" cy="1600200"/>
          </a:xfrm>
          <a:prstGeom prst="roundRect">
            <a:avLst>
              <a:gd name="adj" fmla="val 5333"/>
            </a:avLst>
          </a:prstGeom>
          <a:solidFill>
            <a:schemeClr val="bg2"/>
          </a:solidFill>
          <a:ln/>
        </p:spPr>
      </p:sp>
      <p:sp>
        <p:nvSpPr>
          <p:cNvPr id="26" name="text-317"/>
          <p:cNvSpPr txBox="1"/>
          <p:nvPr/>
        </p:nvSpPr>
        <p:spPr>
          <a:xfrm>
            <a:off x="3063240" y="2880360"/>
            <a:ext cx="1097280" cy="502920"/>
          </a:xfrm>
          <a:prstGeom prst="rect">
            <a:avLst/>
          </a:prstGeom>
          <a:noFill/>
          <a:ln/>
        </p:spPr>
        <p:txBody>
          <a:bodyPr wrap="square" lIns="0" tIns="0" rIns="0" bIns="0" rtlCol="0" anchor="t"/>
          <a:lstStyle/>
          <a:p>
            <a:pPr indent="0" marL="0">
              <a:buNone/>
            </a:pPr>
            <a:r>
              <a:rPr lang="en-US" sz="2800" b="1" dirty="0">
                <a:solidFill>
                  <a:schemeClr val="accent2"/>
                </a:solidFill>
              </a:rPr>
              <a:t>2</a:t>
            </a:r>
            <a:endParaRPr lang="en-US" sz="2800" dirty="0"/>
          </a:p>
        </p:txBody>
      </p:sp>
      <p:sp>
        <p:nvSpPr>
          <p:cNvPr id="27" name="text-318"/>
          <p:cNvSpPr txBox="1"/>
          <p:nvPr/>
        </p:nvSpPr>
        <p:spPr>
          <a:xfrm>
            <a:off x="3063240" y="3410712"/>
            <a:ext cx="1143000" cy="274320"/>
          </a:xfrm>
          <a:prstGeom prst="rect">
            <a:avLst/>
          </a:prstGeom>
          <a:noFill/>
          <a:ln/>
        </p:spPr>
        <p:txBody>
          <a:bodyPr wrap="square" lIns="0" tIns="0" rIns="0" bIns="0" rtlCol="0" anchor="t"/>
          <a:lstStyle/>
          <a:p>
            <a:pPr indent="0" marL="0">
              <a:buNone/>
            </a:pPr>
            <a:r>
              <a:rPr lang="en-US" sz="1400" b="1" dirty="0">
                <a:solidFill>
                  <a:schemeClr val="tx2"/>
                </a:solidFill>
              </a:rPr>
              <a:t>Recovery</a:t>
            </a:r>
            <a:endParaRPr lang="en-US" sz="1400" dirty="0"/>
          </a:p>
        </p:txBody>
      </p:sp>
      <p:sp>
        <p:nvSpPr>
          <p:cNvPr id="28" name="text-319"/>
          <p:cNvSpPr txBox="1"/>
          <p:nvPr/>
        </p:nvSpPr>
        <p:spPr>
          <a:xfrm>
            <a:off x="3063240" y="3703320"/>
            <a:ext cx="1143000" cy="621792"/>
          </a:xfrm>
          <a:prstGeom prst="rect">
            <a:avLst/>
          </a:prstGeom>
          <a:noFill/>
          <a:ln/>
        </p:spPr>
        <p:txBody>
          <a:bodyPr wrap="square" lIns="0" tIns="0" rIns="0" bIns="0" rtlCol="0" anchor="t"/>
          <a:lstStyle/>
          <a:p>
            <a:pPr indent="0" marL="0">
              <a:buNone/>
            </a:pPr>
            <a:r>
              <a:rPr lang="en-US" sz="1200" dirty="0">
                <a:solidFill>
                  <a:schemeClr val="accent5"/>
                </a:solidFill>
              </a:rPr>
              <a:t>daemon restart, hung daemon</a:t>
            </a:r>
            <a:endParaRPr lang="en-US" sz="1200" dirty="0"/>
          </a:p>
        </p:txBody>
      </p:sp>
      <p:sp>
        <p:nvSpPr>
          <p:cNvPr id="29" name="card-320"/>
          <p:cNvSpPr/>
          <p:nvPr/>
        </p:nvSpPr>
        <p:spPr>
          <a:xfrm>
            <a:off x="4389120" y="2788920"/>
            <a:ext cx="1371600" cy="1600200"/>
          </a:xfrm>
          <a:prstGeom prst="roundRect">
            <a:avLst>
              <a:gd name="adj" fmla="val 5333"/>
            </a:avLst>
          </a:prstGeom>
          <a:solidFill>
            <a:schemeClr val="bg2"/>
          </a:solidFill>
          <a:ln/>
        </p:spPr>
      </p:sp>
      <p:sp>
        <p:nvSpPr>
          <p:cNvPr id="30" name="text-321"/>
          <p:cNvSpPr txBox="1"/>
          <p:nvPr/>
        </p:nvSpPr>
        <p:spPr>
          <a:xfrm>
            <a:off x="4526280" y="2880360"/>
            <a:ext cx="1097280" cy="502920"/>
          </a:xfrm>
          <a:prstGeom prst="rect">
            <a:avLst/>
          </a:prstGeom>
          <a:noFill/>
          <a:ln/>
        </p:spPr>
        <p:txBody>
          <a:bodyPr wrap="square" lIns="0" tIns="0" rIns="0" bIns="0" rtlCol="0" anchor="t"/>
          <a:lstStyle/>
          <a:p>
            <a:pPr indent="0" marL="0">
              <a:buNone/>
            </a:pPr>
            <a:r>
              <a:rPr lang="en-US" sz="2800" b="1" dirty="0">
                <a:solidFill>
                  <a:schemeClr val="accent2"/>
                </a:solidFill>
              </a:rPr>
              <a:t>2</a:t>
            </a:r>
            <a:endParaRPr lang="en-US" sz="2800" dirty="0"/>
          </a:p>
        </p:txBody>
      </p:sp>
      <p:sp>
        <p:nvSpPr>
          <p:cNvPr id="31" name="text-322"/>
          <p:cNvSpPr txBox="1"/>
          <p:nvPr/>
        </p:nvSpPr>
        <p:spPr>
          <a:xfrm>
            <a:off x="4526280" y="3410712"/>
            <a:ext cx="1143000" cy="274320"/>
          </a:xfrm>
          <a:prstGeom prst="rect">
            <a:avLst/>
          </a:prstGeom>
          <a:noFill/>
          <a:ln/>
        </p:spPr>
        <p:txBody>
          <a:bodyPr wrap="square" lIns="0" tIns="0" rIns="0" bIns="0" rtlCol="0" anchor="t"/>
          <a:lstStyle/>
          <a:p>
            <a:pPr indent="0" marL="0">
              <a:buNone/>
            </a:pPr>
            <a:r>
              <a:rPr lang="en-US" sz="1400" b="1" dirty="0">
                <a:solidFill>
                  <a:schemeClr val="tx2"/>
                </a:solidFill>
              </a:rPr>
              <a:t>Baseline</a:t>
            </a:r>
            <a:endParaRPr lang="en-US" sz="1400" dirty="0"/>
          </a:p>
        </p:txBody>
      </p:sp>
      <p:sp>
        <p:nvSpPr>
          <p:cNvPr id="32" name="text-323"/>
          <p:cNvSpPr txBox="1"/>
          <p:nvPr/>
        </p:nvSpPr>
        <p:spPr>
          <a:xfrm>
            <a:off x="4526280" y="3703320"/>
            <a:ext cx="1143000" cy="621792"/>
          </a:xfrm>
          <a:prstGeom prst="rect">
            <a:avLst/>
          </a:prstGeom>
          <a:noFill/>
          <a:ln/>
        </p:spPr>
        <p:txBody>
          <a:bodyPr wrap="square" lIns="0" tIns="0" rIns="0" bIns="0" rtlCol="0" anchor="t"/>
          <a:lstStyle/>
          <a:p>
            <a:pPr indent="0" marL="0">
              <a:buNone/>
            </a:pPr>
            <a:r>
              <a:rPr lang="en-US" sz="1200" dirty="0">
                <a:solidFill>
                  <a:schemeClr val="accent5"/>
                </a:solidFill>
              </a:rPr>
              <a:t>direct matches daemon; timing log</a:t>
            </a:r>
            <a:endParaRPr lang="en-US" sz="1200" dirty="0"/>
          </a:p>
        </p:txBody>
      </p:sp>
      <p:sp>
        <p:nvSpPr>
          <p:cNvPr id="33" name="card-324"/>
          <p:cNvSpPr/>
          <p:nvPr/>
        </p:nvSpPr>
        <p:spPr>
          <a:xfrm>
            <a:off x="5852160" y="2788920"/>
            <a:ext cx="1371600" cy="1600200"/>
          </a:xfrm>
          <a:prstGeom prst="roundRect">
            <a:avLst>
              <a:gd name="adj" fmla="val 5333"/>
            </a:avLst>
          </a:prstGeom>
          <a:solidFill>
            <a:schemeClr val="bg2"/>
          </a:solidFill>
          <a:ln/>
        </p:spPr>
      </p:sp>
      <p:sp>
        <p:nvSpPr>
          <p:cNvPr id="34" name="text-325"/>
          <p:cNvSpPr txBox="1"/>
          <p:nvPr/>
        </p:nvSpPr>
        <p:spPr>
          <a:xfrm>
            <a:off x="5989320" y="2880360"/>
            <a:ext cx="1097280" cy="502920"/>
          </a:xfrm>
          <a:prstGeom prst="rect">
            <a:avLst/>
          </a:prstGeom>
          <a:noFill/>
          <a:ln/>
        </p:spPr>
        <p:txBody>
          <a:bodyPr wrap="square" lIns="0" tIns="0" rIns="0" bIns="0" rtlCol="0" anchor="t"/>
          <a:lstStyle/>
          <a:p>
            <a:pPr indent="0" marL="0">
              <a:buNone/>
            </a:pPr>
            <a:r>
              <a:rPr lang="en-US" sz="2800" b="1" dirty="0">
                <a:solidFill>
                  <a:schemeClr val="accent2"/>
                </a:solidFill>
              </a:rPr>
              <a:t>1</a:t>
            </a:r>
            <a:endParaRPr lang="en-US" sz="2800" dirty="0"/>
          </a:p>
        </p:txBody>
      </p:sp>
      <p:sp>
        <p:nvSpPr>
          <p:cNvPr id="35" name="text-326"/>
          <p:cNvSpPr txBox="1"/>
          <p:nvPr/>
        </p:nvSpPr>
        <p:spPr>
          <a:xfrm>
            <a:off x="5989320" y="3410712"/>
            <a:ext cx="1143000" cy="274320"/>
          </a:xfrm>
          <a:prstGeom prst="rect">
            <a:avLst/>
          </a:prstGeom>
          <a:noFill/>
          <a:ln/>
        </p:spPr>
        <p:txBody>
          <a:bodyPr wrap="square" lIns="0" tIns="0" rIns="0" bIns="0" rtlCol="0" anchor="t"/>
          <a:lstStyle/>
          <a:p>
            <a:pPr indent="0" marL="0">
              <a:buNone/>
            </a:pPr>
            <a:r>
              <a:rPr lang="en-US" sz="1400" b="1" dirty="0">
                <a:solidFill>
                  <a:schemeClr val="tx2"/>
                </a:solidFill>
              </a:rPr>
              <a:t>GDB</a:t>
            </a:r>
            <a:endParaRPr lang="en-US" sz="1400" dirty="0"/>
          </a:p>
        </p:txBody>
      </p:sp>
      <p:sp>
        <p:nvSpPr>
          <p:cNvPr id="36" name="text-327"/>
          <p:cNvSpPr txBox="1"/>
          <p:nvPr/>
        </p:nvSpPr>
        <p:spPr>
          <a:xfrm>
            <a:off x="5989320" y="3703320"/>
            <a:ext cx="1143000" cy="621792"/>
          </a:xfrm>
          <a:prstGeom prst="rect">
            <a:avLst/>
          </a:prstGeom>
          <a:noFill/>
          <a:ln/>
        </p:spPr>
        <p:txBody>
          <a:bodyPr wrap="square" lIns="0" tIns="0" rIns="0" bIns="0" rtlCol="0" anchor="t"/>
          <a:lstStyle/>
          <a:p>
            <a:pPr indent="0" marL="0">
              <a:buNone/>
            </a:pPr>
            <a:r>
              <a:rPr lang="en-US" sz="1200" dirty="0">
                <a:solidFill>
                  <a:schemeClr val="accent5"/>
                </a:solidFill>
              </a:rPr>
              <a:t>a real debug session</a:t>
            </a:r>
            <a:endParaRPr lang="en-US" sz="1200" dirty="0"/>
          </a:p>
        </p:txBody>
      </p:sp>
      <p:sp>
        <p:nvSpPr>
          <p:cNvPr id="37" name="card-328"/>
          <p:cNvSpPr/>
          <p:nvPr/>
        </p:nvSpPr>
        <p:spPr>
          <a:xfrm>
            <a:off x="7315200" y="2788920"/>
            <a:ext cx="1371600" cy="1600200"/>
          </a:xfrm>
          <a:prstGeom prst="roundRect">
            <a:avLst>
              <a:gd name="adj" fmla="val 5333"/>
            </a:avLst>
          </a:prstGeom>
          <a:solidFill>
            <a:schemeClr val="bg2"/>
          </a:solidFill>
          <a:ln/>
        </p:spPr>
      </p:sp>
      <p:sp>
        <p:nvSpPr>
          <p:cNvPr id="38" name="text-329"/>
          <p:cNvSpPr txBox="1"/>
          <p:nvPr/>
        </p:nvSpPr>
        <p:spPr>
          <a:xfrm>
            <a:off x="7452360" y="2880360"/>
            <a:ext cx="1097280" cy="502920"/>
          </a:xfrm>
          <a:prstGeom prst="rect">
            <a:avLst/>
          </a:prstGeom>
          <a:noFill/>
          <a:ln/>
        </p:spPr>
        <p:txBody>
          <a:bodyPr wrap="square" lIns="0" tIns="0" rIns="0" bIns="0" rtlCol="0" anchor="t"/>
          <a:lstStyle/>
          <a:p>
            <a:pPr indent="0" marL="0">
              <a:buNone/>
            </a:pPr>
            <a:r>
              <a:rPr lang="en-US" sz="2800" b="1" dirty="0">
                <a:solidFill>
                  <a:schemeClr val="accent2"/>
                </a:solidFill>
              </a:rPr>
              <a:t>2</a:t>
            </a:r>
            <a:endParaRPr lang="en-US" sz="2800" dirty="0"/>
          </a:p>
        </p:txBody>
      </p:sp>
      <p:sp>
        <p:nvSpPr>
          <p:cNvPr id="39" name="text-330"/>
          <p:cNvSpPr txBox="1"/>
          <p:nvPr/>
        </p:nvSpPr>
        <p:spPr>
          <a:xfrm>
            <a:off x="7452360" y="3410712"/>
            <a:ext cx="1143000" cy="274320"/>
          </a:xfrm>
          <a:prstGeom prst="rect">
            <a:avLst/>
          </a:prstGeom>
          <a:noFill/>
          <a:ln/>
        </p:spPr>
        <p:txBody>
          <a:bodyPr wrap="square" lIns="0" tIns="0" rIns="0" bIns="0" rtlCol="0" anchor="t"/>
          <a:lstStyle/>
          <a:p>
            <a:pPr indent="0" marL="0">
              <a:buNone/>
            </a:pPr>
            <a:r>
              <a:rPr lang="en-US" sz="1400" b="1" dirty="0">
                <a:solidFill>
                  <a:schemeClr val="tx2"/>
                </a:solidFill>
              </a:rPr>
              <a:t>Scripts</a:t>
            </a:r>
            <a:endParaRPr lang="en-US" sz="1400" dirty="0"/>
          </a:p>
        </p:txBody>
      </p:sp>
      <p:sp>
        <p:nvSpPr>
          <p:cNvPr id="40" name="text-331"/>
          <p:cNvSpPr txBox="1"/>
          <p:nvPr/>
        </p:nvSpPr>
        <p:spPr>
          <a:xfrm>
            <a:off x="7452360" y="3703320"/>
            <a:ext cx="1143000" cy="621792"/>
          </a:xfrm>
          <a:prstGeom prst="rect">
            <a:avLst/>
          </a:prstGeom>
          <a:noFill/>
          <a:ln/>
        </p:spPr>
        <p:txBody>
          <a:bodyPr wrap="square" lIns="0" tIns="0" rIns="0" bIns="0" rtlCol="0" anchor="t"/>
          <a:lstStyle/>
          <a:p>
            <a:pPr indent="0" marL="0">
              <a:buNone/>
            </a:pPr>
            <a:r>
              <a:rPr lang="en-US" sz="1200" dirty="0">
                <a:solidFill>
                  <a:schemeClr val="accent5"/>
                </a:solidFill>
              </a:rPr>
              <a:t>launcher and control script</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Same results on two platforms</a:t>
            </a:r>
            <a:endParaRPr lang="en-US" sz="3000" dirty="0"/>
          </a:p>
        </p:txBody>
      </p:sp>
      <p:sp>
        <p:nvSpPr>
          <p:cNvPr id="3" name="card-332"/>
          <p:cNvSpPr/>
          <p:nvPr/>
        </p:nvSpPr>
        <p:spPr>
          <a:xfrm>
            <a:off x="457200" y="1097280"/>
            <a:ext cx="3017520" cy="2651760"/>
          </a:xfrm>
          <a:prstGeom prst="roundRect">
            <a:avLst>
              <a:gd name="adj" fmla="val 2759"/>
            </a:avLst>
          </a:prstGeom>
          <a:solidFill>
            <a:schemeClr val="bg2"/>
          </a:solidFill>
          <a:ln/>
        </p:spPr>
      </p:sp>
      <p:sp>
        <p:nvSpPr>
          <p:cNvPr id="4" name="icon-circle-333"/>
          <p:cNvSpPr/>
          <p:nvPr/>
        </p:nvSpPr>
        <p:spPr>
          <a:xfrm>
            <a:off x="640080" y="1234440"/>
            <a:ext cx="502920" cy="502920"/>
          </a:xfrm>
          <a:prstGeom prst="ellipse">
            <a:avLst/>
          </a:prstGeom>
          <a:solidFill>
            <a:schemeClr val="accent1"/>
          </a:solidFill>
          <a:ln/>
        </p:spPr>
      </p:sp>
      <p:pic>
        <p:nvPicPr>
          <p:cNvPr id="5" name="icon-334" descr="Apple icon">    </p:cNvPr>
          <p:cNvPicPr>
            <a:picLocks noChangeAspect="1"/>
          </p:cNvPicPr>
          <p:nvPr/>
        </p:nvPicPr>
        <p:blipFill>
          <a:blip r:embed="rId1"/>
          <a:stretch>
            <a:fillRect/>
          </a:stretch>
        </p:blipFill>
        <p:spPr>
          <a:xfrm>
            <a:off x="765810" y="1360170"/>
            <a:ext cx="251460" cy="251460"/>
          </a:xfrm>
          <a:prstGeom prst="rect">
            <a:avLst/>
          </a:prstGeom>
        </p:spPr>
      </p:pic>
      <p:sp>
        <p:nvSpPr>
          <p:cNvPr id="6" name="text-335"/>
          <p:cNvSpPr txBox="1"/>
          <p:nvPr/>
        </p:nvSpPr>
        <p:spPr>
          <a:xfrm>
            <a:off x="1280160" y="1280160"/>
            <a:ext cx="2011680" cy="411480"/>
          </a:xfrm>
          <a:prstGeom prst="rect">
            <a:avLst/>
          </a:prstGeom>
          <a:noFill/>
          <a:ln/>
        </p:spPr>
        <p:txBody>
          <a:bodyPr wrap="square" lIns="0" tIns="0" rIns="0" bIns="0" rtlCol="0" anchor="ctr"/>
          <a:lstStyle/>
          <a:p>
            <a:pPr indent="0" marL="0">
              <a:buNone/>
            </a:pPr>
            <a:r>
              <a:rPr lang="en-US" sz="1600" b="1" dirty="0">
                <a:solidFill>
                  <a:schemeClr val="tx2"/>
                </a:solidFill>
              </a:rPr>
              <a:t>macOS</a:t>
            </a:r>
            <a:endParaRPr lang="en-US" sz="1600" dirty="0"/>
          </a:p>
        </p:txBody>
      </p:sp>
      <p:sp>
        <p:nvSpPr>
          <p:cNvPr id="7" name="text-336"/>
          <p:cNvSpPr txBox="1"/>
          <p:nvPr/>
        </p:nvSpPr>
        <p:spPr>
          <a:xfrm>
            <a:off x="640080" y="1920240"/>
            <a:ext cx="2697480" cy="16459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Apple M3 Pro, arm64</a:t>
            </a:r>
            <a:endParaRPr lang="en-US" sz="1400" dirty="0"/>
          </a:p>
          <a:p>
            <a:pPr indent="0" marL="0">
              <a:spcAft>
                <a:spcPts val="600"/>
              </a:spcAft>
              <a:buNone/>
            </a:pPr>
            <a:r>
              <a:rPr lang="en-US" sz="1400" dirty="0">
                <a:solidFill>
                  <a:schemeClr val="tx1"/>
                </a:solidFill>
              </a:rPr>
              <a:t>Host compiler: Clang</a:t>
            </a:r>
            <a:endParaRPr lang="en-US" sz="1400" dirty="0"/>
          </a:p>
          <a:p>
            <a:pPr indent="0" marL="0">
              <a:spcAft>
                <a:spcPts val="600"/>
              </a:spcAft>
              <a:buNone/>
            </a:pPr>
            <a:r>
              <a:rPr lang="en-US" sz="1400" dirty="0">
                <a:solidFill>
                  <a:schemeClr val="tx1"/>
                </a:solidFill>
              </a:rPr>
              <a:t>RISC-V: xPack GCC 15</a:t>
            </a:r>
            <a:endParaRPr lang="en-US" sz="1400" dirty="0"/>
          </a:p>
          <a:p>
            <a:pPr indent="0" marL="0">
              <a:spcAft>
                <a:spcPts val="600"/>
              </a:spcAft>
              <a:buNone/>
            </a:pPr>
            <a:r>
              <a:rPr lang="en-US" sz="1400" dirty="0">
                <a:solidFill>
                  <a:schemeClr val="tx1"/>
                </a:solidFill>
              </a:rPr>
              <a:t>ISA: rv32imc_zicsr_zifencei</a:t>
            </a:r>
            <a:endParaRPr lang="en-US" sz="1400" dirty="0"/>
          </a:p>
        </p:txBody>
      </p:sp>
      <p:sp>
        <p:nvSpPr>
          <p:cNvPr id="8" name="card-337"/>
          <p:cNvSpPr/>
          <p:nvPr/>
        </p:nvSpPr>
        <p:spPr>
          <a:xfrm>
            <a:off x="5669280" y="1097280"/>
            <a:ext cx="3017520" cy="2651760"/>
          </a:xfrm>
          <a:prstGeom prst="roundRect">
            <a:avLst>
              <a:gd name="adj" fmla="val 2759"/>
            </a:avLst>
          </a:prstGeom>
          <a:solidFill>
            <a:schemeClr val="bg2"/>
          </a:solidFill>
          <a:ln/>
        </p:spPr>
      </p:sp>
      <p:sp>
        <p:nvSpPr>
          <p:cNvPr id="9" name="icon-circle-338"/>
          <p:cNvSpPr/>
          <p:nvPr/>
        </p:nvSpPr>
        <p:spPr>
          <a:xfrm>
            <a:off x="5852160" y="1234440"/>
            <a:ext cx="502920" cy="502920"/>
          </a:xfrm>
          <a:prstGeom prst="ellipse">
            <a:avLst/>
          </a:prstGeom>
          <a:solidFill>
            <a:schemeClr val="accent1"/>
          </a:solidFill>
          <a:ln/>
        </p:spPr>
      </p:sp>
      <p:pic>
        <p:nvPicPr>
          <p:cNvPr id="10" name="icon-339" descr="Linux icon">    </p:cNvPr>
          <p:cNvPicPr>
            <a:picLocks noChangeAspect="1"/>
          </p:cNvPicPr>
          <p:nvPr/>
        </p:nvPicPr>
        <p:blipFill>
          <a:blip r:embed="rId2"/>
          <a:stretch>
            <a:fillRect/>
          </a:stretch>
        </p:blipFill>
        <p:spPr>
          <a:xfrm>
            <a:off x="5977890" y="1360170"/>
            <a:ext cx="251460" cy="251460"/>
          </a:xfrm>
          <a:prstGeom prst="rect">
            <a:avLst/>
          </a:prstGeom>
        </p:spPr>
      </p:pic>
      <p:sp>
        <p:nvSpPr>
          <p:cNvPr id="11" name="text-340"/>
          <p:cNvSpPr txBox="1"/>
          <p:nvPr/>
        </p:nvSpPr>
        <p:spPr>
          <a:xfrm>
            <a:off x="6492240" y="1280160"/>
            <a:ext cx="2011680" cy="411480"/>
          </a:xfrm>
          <a:prstGeom prst="rect">
            <a:avLst/>
          </a:prstGeom>
          <a:noFill/>
          <a:ln/>
        </p:spPr>
        <p:txBody>
          <a:bodyPr wrap="square" lIns="0" tIns="0" rIns="0" bIns="0" rtlCol="0" anchor="ctr"/>
          <a:lstStyle/>
          <a:p>
            <a:pPr indent="0" marL="0">
              <a:buNone/>
            </a:pPr>
            <a:r>
              <a:rPr lang="en-US" sz="1600" b="1" dirty="0">
                <a:solidFill>
                  <a:schemeClr val="tx2"/>
                </a:solidFill>
              </a:rPr>
              <a:t>Linux</a:t>
            </a:r>
            <a:endParaRPr lang="en-US" sz="1600" dirty="0"/>
          </a:p>
        </p:txBody>
      </p:sp>
      <p:sp>
        <p:nvSpPr>
          <p:cNvPr id="12" name="text-341"/>
          <p:cNvSpPr txBox="1"/>
          <p:nvPr/>
        </p:nvSpPr>
        <p:spPr>
          <a:xfrm>
            <a:off x="5852160" y="1920240"/>
            <a:ext cx="2697480" cy="16459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HP ENVY 17, x86-64</a:t>
            </a:r>
            <a:endParaRPr lang="en-US" sz="1400" dirty="0"/>
          </a:p>
          <a:p>
            <a:pPr indent="0" marL="0">
              <a:spcAft>
                <a:spcPts val="600"/>
              </a:spcAft>
              <a:buNone/>
            </a:pPr>
            <a:r>
              <a:rPr lang="en-US" sz="1400" dirty="0">
                <a:solidFill>
                  <a:schemeClr val="tx1"/>
                </a:solidFill>
              </a:rPr>
              <a:t>Host compiler: GCC</a:t>
            </a:r>
            <a:endParaRPr lang="en-US" sz="1400" dirty="0"/>
          </a:p>
          <a:p>
            <a:pPr indent="0" marL="0">
              <a:spcAft>
                <a:spcPts val="600"/>
              </a:spcAft>
              <a:buNone/>
            </a:pPr>
            <a:r>
              <a:rPr lang="en-US" sz="1400" dirty="0">
                <a:solidFill>
                  <a:schemeClr val="tx1"/>
                </a:solidFill>
              </a:rPr>
              <a:t>RISC-V: older GCC</a:t>
            </a:r>
            <a:endParaRPr lang="en-US" sz="1400" dirty="0"/>
          </a:p>
          <a:p>
            <a:pPr indent="0" marL="0">
              <a:spcAft>
                <a:spcPts val="600"/>
              </a:spcAft>
              <a:buNone/>
            </a:pPr>
            <a:r>
              <a:rPr lang="en-US" sz="1400" dirty="0">
                <a:solidFill>
                  <a:schemeClr val="tx1"/>
                </a:solidFill>
              </a:rPr>
              <a:t>ISA: rv32imc</a:t>
            </a:r>
            <a:endParaRPr lang="en-US" sz="1400" dirty="0"/>
          </a:p>
        </p:txBody>
      </p:sp>
      <p:sp>
        <p:nvSpPr>
          <p:cNvPr id="13" name="card-342"/>
          <p:cNvSpPr/>
          <p:nvPr/>
        </p:nvSpPr>
        <p:spPr>
          <a:xfrm>
            <a:off x="3611880" y="1097280"/>
            <a:ext cx="1920240" cy="2651760"/>
          </a:xfrm>
          <a:prstGeom prst="roundRect">
            <a:avLst>
              <a:gd name="adj" fmla="val 3810"/>
            </a:avLst>
          </a:prstGeom>
          <a:solidFill>
            <a:schemeClr val="tx2"/>
          </a:solidFill>
          <a:ln/>
        </p:spPr>
      </p:sp>
      <p:sp>
        <p:nvSpPr>
          <p:cNvPr id="14" name="text-343"/>
          <p:cNvSpPr txBox="1"/>
          <p:nvPr/>
        </p:nvSpPr>
        <p:spPr>
          <a:xfrm>
            <a:off x="3749040" y="1207008"/>
            <a:ext cx="1645920" cy="320040"/>
          </a:xfrm>
          <a:prstGeom prst="rect">
            <a:avLst/>
          </a:prstGeom>
          <a:noFill/>
          <a:ln/>
        </p:spPr>
        <p:txBody>
          <a:bodyPr wrap="square" lIns="0" tIns="0" rIns="0" bIns="0" rtlCol="0" anchor="t"/>
          <a:lstStyle/>
          <a:p>
            <a:pPr indent="0" marL="0">
              <a:buNone/>
            </a:pPr>
            <a:r>
              <a:rPr lang="en-US" sz="1400" b="1" dirty="0">
                <a:solidFill>
                  <a:schemeClr val="bg1"/>
                </a:solidFill>
              </a:rPr>
              <a:t>Checksums</a:t>
            </a:r>
            <a:endParaRPr lang="en-US" sz="1400" dirty="0"/>
          </a:p>
        </p:txBody>
      </p:sp>
      <p:sp>
        <p:nvSpPr>
          <p:cNvPr id="15" name="text-344"/>
          <p:cNvSpPr txBox="1"/>
          <p:nvPr/>
        </p:nvSpPr>
        <p:spPr>
          <a:xfrm>
            <a:off x="3749040" y="1645920"/>
            <a:ext cx="1691640" cy="1463040"/>
          </a:xfrm>
          <a:prstGeom prst="rect">
            <a:avLst/>
          </a:prstGeom>
          <a:noFill/>
          <a:ln/>
        </p:spPr>
        <p:txBody>
          <a:bodyPr wrap="square" lIns="0" tIns="0" rIns="0" bIns="0" rtlCol="0" anchor="t"/>
          <a:lstStyle/>
          <a:p>
            <a:pPr indent="0" marL="0">
              <a:spcAft>
                <a:spcPts val="800"/>
              </a:spcAft>
              <a:buNone/>
            </a:pPr>
            <a:r>
              <a:rPr lang="en-US" sz="1200" dirty="0">
                <a:solidFill>
                  <a:schemeClr val="accent3"/>
                </a:solidFill>
                <a:latin typeface="Courier New" pitchFamily="34" charset="0"/>
                <a:ea typeface="Courier New" pitchFamily="34" charset="-122"/>
                <a:cs typeface="Courier New" pitchFamily="34" charset="-120"/>
              </a:rPr>
              <a:t>4×4   FFFE8FC9</a:t>
            </a:r>
            <a:endParaRPr lang="en-US" sz="1200" dirty="0"/>
          </a:p>
          <a:p>
            <a:pPr indent="0" marL="0">
              <a:spcAft>
                <a:spcPts val="800"/>
              </a:spcAft>
              <a:buNone/>
            </a:pPr>
            <a:r>
              <a:rPr lang="en-US" sz="1200" dirty="0">
                <a:solidFill>
                  <a:schemeClr val="accent3"/>
                </a:solidFill>
                <a:latin typeface="Courier New" pitchFamily="34" charset="0"/>
                <a:ea typeface="Courier New" pitchFamily="34" charset="-122"/>
                <a:cs typeface="Courier New" pitchFamily="34" charset="-120"/>
              </a:rPr>
              <a:t>8×8   FFFFE360</a:t>
            </a:r>
            <a:endParaRPr lang="en-US" sz="1200" dirty="0"/>
          </a:p>
          <a:p>
            <a:pPr indent="0" marL="0">
              <a:spcAft>
                <a:spcPts val="800"/>
              </a:spcAft>
              <a:buNone/>
            </a:pPr>
            <a:r>
              <a:rPr lang="en-US" sz="1200" dirty="0">
                <a:solidFill>
                  <a:schemeClr val="accent3"/>
                </a:solidFill>
                <a:latin typeface="Courier New" pitchFamily="34" charset="0"/>
                <a:ea typeface="Courier New" pitchFamily="34" charset="-122"/>
                <a:cs typeface="Courier New" pitchFamily="34" charset="-120"/>
              </a:rPr>
              <a:t>16×16 FFFE87A3</a:t>
            </a:r>
            <a:endParaRPr lang="en-US" sz="1200" dirty="0"/>
          </a:p>
          <a:p>
            <a:pPr indent="0" marL="0">
              <a:spcAft>
                <a:spcPts val="800"/>
              </a:spcAft>
              <a:buNone/>
            </a:pPr>
            <a:r>
              <a:rPr lang="en-US" sz="1200" dirty="0">
                <a:solidFill>
                  <a:schemeClr val="accent3"/>
                </a:solidFill>
                <a:latin typeface="Courier New" pitchFamily="34" charset="0"/>
                <a:ea typeface="Courier New" pitchFamily="34" charset="-122"/>
                <a:cs typeface="Courier New" pitchFamily="34" charset="-120"/>
              </a:rPr>
              <a:t>32×32 001F11EC</a:t>
            </a:r>
            <a:endParaRPr lang="en-US" sz="1200" dirty="0"/>
          </a:p>
        </p:txBody>
      </p:sp>
      <p:sp>
        <p:nvSpPr>
          <p:cNvPr id="16" name="text-345"/>
          <p:cNvSpPr txBox="1"/>
          <p:nvPr/>
        </p:nvSpPr>
        <p:spPr>
          <a:xfrm>
            <a:off x="3749040" y="3291840"/>
            <a:ext cx="1645920" cy="274320"/>
          </a:xfrm>
          <a:prstGeom prst="rect">
            <a:avLst/>
          </a:prstGeom>
          <a:noFill/>
          <a:ln/>
        </p:spPr>
        <p:txBody>
          <a:bodyPr wrap="square" lIns="0" tIns="0" rIns="0" bIns="0" rtlCol="0" anchor="t"/>
          <a:lstStyle/>
          <a:p>
            <a:pPr indent="0" marL="0">
              <a:buNone/>
            </a:pPr>
            <a:r>
              <a:rPr lang="en-US" sz="1200" b="1" dirty="0">
                <a:solidFill>
                  <a:schemeClr val="bg1"/>
                </a:solidFill>
              </a:rPr>
              <a:t>identical on both</a:t>
            </a:r>
            <a:endParaRPr lang="en-US" sz="1200" dirty="0"/>
          </a:p>
        </p:txBody>
      </p:sp>
      <p:sp>
        <p:nvSpPr>
          <p:cNvPr id="17" name="text-346"/>
          <p:cNvSpPr txBox="1"/>
          <p:nvPr/>
        </p:nvSpPr>
        <p:spPr>
          <a:xfrm>
            <a:off x="457200" y="3977640"/>
            <a:ext cx="8229600" cy="548640"/>
          </a:xfrm>
          <a:prstGeom prst="rect">
            <a:avLst/>
          </a:prstGeom>
          <a:noFill/>
          <a:ln/>
        </p:spPr>
        <p:txBody>
          <a:bodyPr wrap="square" lIns="0" tIns="0" rIns="0" bIns="0" rtlCol="0" anchor="t"/>
          <a:lstStyle/>
          <a:p>
            <a:pPr indent="0" marL="0">
              <a:buNone/>
            </a:pPr>
            <a:r>
              <a:rPr lang="en-US" sz="1600" b="1" dirty="0">
                <a:solidFill>
                  <a:schemeClr val="tx2"/>
                </a:solidFill>
              </a:rPr>
              <a:t>Different hosts, compilers, and toolchains: results match bit for bit.</a:t>
            </a:r>
            <a:endParaRPr lang="en-US" sz="16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743200" cy="868680"/>
          </a:xfrm>
          <a:prstGeom prst="rect">
            <a:avLst/>
          </a:prstGeom>
          <a:noFill/>
          <a:ln/>
        </p:spPr>
        <p:txBody>
          <a:bodyPr wrap="square" lIns="0" tIns="0" rIns="0" bIns="0" rtlCol="0" anchor="b"/>
          <a:lstStyle/>
          <a:p>
            <a:pPr indent="0" marL="0">
              <a:buNone/>
            </a:pPr>
            <a:r>
              <a:rPr lang="en-US" sz="4800" b="1" dirty="0">
                <a:solidFill>
                  <a:schemeClr val="accent1"/>
                </a:solidFill>
              </a:rPr>
              <a:t>04</a:t>
            </a:r>
            <a:endParaRPr lang="en-US" sz="4800" dirty="0"/>
          </a:p>
        </p:txBody>
      </p:sp>
      <p:sp>
        <p:nvSpPr>
          <p:cNvPr id="3" name="Text 0"/>
          <p:cNvSpPr/>
          <p:nvPr>
            <p:ph idx="101" type="title" hasCustomPrompt="1"/>
          </p:nvPr>
        </p:nvSpPr>
        <p:spPr>
          <a:xfrm>
            <a:off x="548640" y="2011680"/>
            <a:ext cx="5852160" cy="822960"/>
          </a:xfrm>
          <a:prstGeom prst="rect">
            <a:avLst/>
          </a:prstGeom>
          <a:noFill/>
          <a:ln/>
        </p:spPr>
        <p:txBody>
          <a:bodyPr wrap="square" lIns="0" tIns="0" rIns="0" bIns="0" rtlCol="0" anchor="ctr"/>
          <a:lstStyle/>
          <a:p>
            <a:pPr algn="l" indent="0" marL="0">
              <a:buNone/>
            </a:pPr>
            <a:r>
              <a:rPr lang="en-US" sz="3600" b="1" dirty="0">
                <a:solidFill>
                  <a:schemeClr val="bg1"/>
                </a:solidFill>
              </a:rPr>
              <a:t>Lessons and next steps</a:t>
            </a:r>
            <a:endParaRPr lang="en-US" sz="3600" dirty="0"/>
          </a:p>
        </p:txBody>
      </p:sp>
      <p:sp>
        <p:nvSpPr>
          <p:cNvPr id="4" name="Text 0"/>
          <p:cNvSpPr/>
          <p:nvPr>
            <p:ph idx="102" type="body" hasCustomPrompt="1"/>
          </p:nvPr>
        </p:nvSpPr>
        <p:spPr>
          <a:xfrm>
            <a:off x="548640" y="2880360"/>
            <a:ext cx="5852160" cy="640080"/>
          </a:xfrm>
          <a:prstGeom prst="rect">
            <a:avLst/>
          </a:prstGeom>
          <a:noFill/>
          <a:ln/>
        </p:spPr>
        <p:txBody>
          <a:bodyPr wrap="square" lIns="0" tIns="0" rIns="0" bIns="0" rtlCol="0" anchor="t"/>
          <a:lstStyle/>
          <a:p>
            <a:pPr indent="0" marL="0">
              <a:buNone/>
            </a:pPr>
            <a:r>
              <a:rPr lang="en-US" sz="1800" dirty="0">
                <a:solidFill>
                  <a:schemeClr val="accent3"/>
                </a:solidFill>
              </a:rPr>
              <a:t>What broke, how to run it, where to go next</a:t>
            </a:r>
            <a:endParaRPr lang="en-US" sz="1800" dirty="0"/>
          </a:p>
        </p:txBody>
      </p:sp>
      <p:sp>
        <p:nvSpPr>
          <p:cNvPr id="5" name="icon-circle-347"/>
          <p:cNvSpPr/>
          <p:nvPr/>
        </p:nvSpPr>
        <p:spPr>
          <a:xfrm>
            <a:off x="6812280" y="1417320"/>
            <a:ext cx="1600200" cy="1600200"/>
          </a:xfrm>
          <a:prstGeom prst="ellipse">
            <a:avLst/>
          </a:prstGeom>
          <a:solidFill>
            <a:schemeClr val="accent2"/>
          </a:solidFill>
          <a:ln/>
        </p:spPr>
      </p:sp>
      <p:pic>
        <p:nvPicPr>
          <p:cNvPr id="6" name="icon-348" descr="Route icon">    </p:cNvPr>
          <p:cNvPicPr>
            <a:picLocks noChangeAspect="1"/>
          </p:cNvPicPr>
          <p:nvPr/>
        </p:nvPicPr>
        <p:blipFill>
          <a:blip r:embed="rId1"/>
          <a:stretch>
            <a:fillRect/>
          </a:stretch>
        </p:blipFill>
        <p:spPr>
          <a:xfrm>
            <a:off x="7212330" y="1817370"/>
            <a:ext cx="800100" cy="800100"/>
          </a:xfrm>
          <a:prstGeom prst="rect">
            <a:avLst/>
          </a:prstGeom>
        </p:spPr>
      </p:pic>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Problems found and fixed</a:t>
            </a:r>
            <a:endParaRPr lang="en-US" sz="3000" dirty="0"/>
          </a:p>
        </p:txBody>
      </p:sp>
      <p:sp>
        <p:nvSpPr>
          <p:cNvPr id="3" name="card-349"/>
          <p:cNvSpPr/>
          <p:nvPr/>
        </p:nvSpPr>
        <p:spPr>
          <a:xfrm>
            <a:off x="457200" y="1097280"/>
            <a:ext cx="4023360" cy="1051560"/>
          </a:xfrm>
          <a:prstGeom prst="roundRect">
            <a:avLst>
              <a:gd name="adj" fmla="val 6957"/>
            </a:avLst>
          </a:prstGeom>
          <a:solidFill>
            <a:schemeClr val="bg2"/>
          </a:solidFill>
          <a:ln/>
        </p:spPr>
      </p:sp>
      <p:sp>
        <p:nvSpPr>
          <p:cNvPr id="4" name="icon-circle-350"/>
          <p:cNvSpPr/>
          <p:nvPr/>
        </p:nvSpPr>
        <p:spPr>
          <a:xfrm>
            <a:off x="621792" y="1280160"/>
            <a:ext cx="411480" cy="411480"/>
          </a:xfrm>
          <a:prstGeom prst="ellipse">
            <a:avLst/>
          </a:prstGeom>
          <a:solidFill>
            <a:schemeClr val="accent1"/>
          </a:solidFill>
          <a:ln/>
        </p:spPr>
      </p:sp>
      <p:pic>
        <p:nvPicPr>
          <p:cNvPr id="5" name="icon-351" descr="Plug icon">    </p:cNvPr>
          <p:cNvPicPr>
            <a:picLocks noChangeAspect="1"/>
          </p:cNvPicPr>
          <p:nvPr/>
        </p:nvPicPr>
        <p:blipFill>
          <a:blip r:embed="rId1"/>
          <a:stretch>
            <a:fillRect/>
          </a:stretch>
        </p:blipFill>
        <p:spPr>
          <a:xfrm>
            <a:off x="724662" y="1383030"/>
            <a:ext cx="205740" cy="205740"/>
          </a:xfrm>
          <a:prstGeom prst="rect">
            <a:avLst/>
          </a:prstGeom>
        </p:spPr>
      </p:pic>
      <p:sp>
        <p:nvSpPr>
          <p:cNvPr id="6" name="text-352"/>
          <p:cNvSpPr txBox="1"/>
          <p:nvPr/>
        </p:nvSpPr>
        <p:spPr>
          <a:xfrm>
            <a:off x="1188720" y="1207008"/>
            <a:ext cx="3154680" cy="292608"/>
          </a:xfrm>
          <a:prstGeom prst="rect">
            <a:avLst/>
          </a:prstGeom>
          <a:noFill/>
          <a:ln/>
        </p:spPr>
        <p:txBody>
          <a:bodyPr wrap="square" lIns="0" tIns="0" rIns="0" bIns="0" rtlCol="0" anchor="t"/>
          <a:lstStyle/>
          <a:p>
            <a:pPr indent="0" marL="0">
              <a:buNone/>
            </a:pPr>
            <a:r>
              <a:rPr lang="en-US" sz="1400" b="1" dirty="0">
                <a:solidFill>
                  <a:schemeClr val="tx2"/>
                </a:solidFill>
              </a:rPr>
              <a:t>QEMU had no plugin support</a:t>
            </a:r>
            <a:endParaRPr lang="en-US" sz="1400" dirty="0"/>
          </a:p>
        </p:txBody>
      </p:sp>
      <p:sp>
        <p:nvSpPr>
          <p:cNvPr id="7" name="text-353"/>
          <p:cNvSpPr txBox="1"/>
          <p:nvPr/>
        </p:nvSpPr>
        <p:spPr>
          <a:xfrm>
            <a:off x="1188720" y="1508760"/>
            <a:ext cx="3154680" cy="566928"/>
          </a:xfrm>
          <a:prstGeom prst="rect">
            <a:avLst/>
          </a:prstGeom>
          <a:noFill/>
          <a:ln/>
        </p:spPr>
        <p:txBody>
          <a:bodyPr wrap="square" lIns="0" tIns="0" rIns="0" bIns="0" rtlCol="0" anchor="t"/>
          <a:lstStyle/>
          <a:p>
            <a:pPr indent="0" marL="0">
              <a:buNone/>
            </a:pPr>
            <a:r>
              <a:rPr lang="en-US" sz="1400" dirty="0">
                <a:solidFill>
                  <a:schemeClr val="tx1"/>
                </a:solidFill>
              </a:rPr>
              <a:t>Reconfigured in place with config.status --enable-plugins, keeping every option.</a:t>
            </a:r>
            <a:endParaRPr lang="en-US" sz="1400" dirty="0"/>
          </a:p>
        </p:txBody>
      </p:sp>
      <p:sp>
        <p:nvSpPr>
          <p:cNvPr id="8" name="card-354"/>
          <p:cNvSpPr/>
          <p:nvPr/>
        </p:nvSpPr>
        <p:spPr>
          <a:xfrm>
            <a:off x="4663440" y="1097280"/>
            <a:ext cx="4023360" cy="1051560"/>
          </a:xfrm>
          <a:prstGeom prst="roundRect">
            <a:avLst>
              <a:gd name="adj" fmla="val 6957"/>
            </a:avLst>
          </a:prstGeom>
          <a:solidFill>
            <a:schemeClr val="bg2"/>
          </a:solidFill>
          <a:ln/>
        </p:spPr>
      </p:sp>
      <p:sp>
        <p:nvSpPr>
          <p:cNvPr id="9" name="icon-circle-355"/>
          <p:cNvSpPr/>
          <p:nvPr/>
        </p:nvSpPr>
        <p:spPr>
          <a:xfrm>
            <a:off x="4828032" y="1280160"/>
            <a:ext cx="411480" cy="411480"/>
          </a:xfrm>
          <a:prstGeom prst="ellipse">
            <a:avLst/>
          </a:prstGeom>
          <a:solidFill>
            <a:schemeClr val="accent6"/>
          </a:solidFill>
          <a:ln/>
        </p:spPr>
      </p:sp>
      <p:pic>
        <p:nvPicPr>
          <p:cNvPr id="10" name="icon-356" descr="HourglassHalf icon">    </p:cNvPr>
          <p:cNvPicPr>
            <a:picLocks noChangeAspect="1"/>
          </p:cNvPicPr>
          <p:nvPr/>
        </p:nvPicPr>
        <p:blipFill>
          <a:blip r:embed="rId2"/>
          <a:stretch>
            <a:fillRect/>
          </a:stretch>
        </p:blipFill>
        <p:spPr>
          <a:xfrm>
            <a:off x="4930902" y="1383030"/>
            <a:ext cx="205740" cy="205740"/>
          </a:xfrm>
          <a:prstGeom prst="rect">
            <a:avLst/>
          </a:prstGeom>
        </p:spPr>
      </p:pic>
      <p:sp>
        <p:nvSpPr>
          <p:cNvPr id="11" name="text-357"/>
          <p:cNvSpPr txBox="1"/>
          <p:nvPr/>
        </p:nvSpPr>
        <p:spPr>
          <a:xfrm>
            <a:off x="5394960" y="1207008"/>
            <a:ext cx="3154680" cy="292608"/>
          </a:xfrm>
          <a:prstGeom prst="rect">
            <a:avLst/>
          </a:prstGeom>
          <a:noFill/>
          <a:ln/>
        </p:spPr>
        <p:txBody>
          <a:bodyPr wrap="square" lIns="0" tIns="0" rIns="0" bIns="0" rtlCol="0" anchor="t"/>
          <a:lstStyle/>
          <a:p>
            <a:pPr indent="0" marL="0">
              <a:buNone/>
            </a:pPr>
            <a:r>
              <a:rPr lang="en-US" sz="1400" b="1" dirty="0">
                <a:solidFill>
                  <a:schemeClr val="tx2"/>
                </a:solidFill>
              </a:rPr>
              <a:t>QEMU froze if the daemon stalled</a:t>
            </a:r>
            <a:endParaRPr lang="en-US" sz="1400" dirty="0"/>
          </a:p>
        </p:txBody>
      </p:sp>
      <p:sp>
        <p:nvSpPr>
          <p:cNvPr id="12" name="text-358"/>
          <p:cNvSpPr txBox="1"/>
          <p:nvPr/>
        </p:nvSpPr>
        <p:spPr>
          <a:xfrm>
            <a:off x="5394960" y="1508760"/>
            <a:ext cx="3154680" cy="566928"/>
          </a:xfrm>
          <a:prstGeom prst="rect">
            <a:avLst/>
          </a:prstGeom>
          <a:noFill/>
          <a:ln/>
        </p:spPr>
        <p:txBody>
          <a:bodyPr wrap="square" lIns="0" tIns="0" rIns="0" bIns="0" rtlCol="0" anchor="t"/>
          <a:lstStyle/>
          <a:p>
            <a:pPr indent="0" marL="0">
              <a:buNone/>
            </a:pPr>
            <a:r>
              <a:rPr lang="en-US" sz="1400" dirty="0">
                <a:solidFill>
                  <a:schemeClr val="tx1"/>
                </a:solidFill>
              </a:rPr>
              <a:t>A test caught it. Fix: non-blocking socket, deadlines on every send.</a:t>
            </a:r>
            <a:endParaRPr lang="en-US" sz="1400" dirty="0"/>
          </a:p>
        </p:txBody>
      </p:sp>
      <p:sp>
        <p:nvSpPr>
          <p:cNvPr id="13" name="card-359"/>
          <p:cNvSpPr/>
          <p:nvPr/>
        </p:nvSpPr>
        <p:spPr>
          <a:xfrm>
            <a:off x="457200" y="2240280"/>
            <a:ext cx="4023360" cy="1051560"/>
          </a:xfrm>
          <a:prstGeom prst="roundRect">
            <a:avLst>
              <a:gd name="adj" fmla="val 6957"/>
            </a:avLst>
          </a:prstGeom>
          <a:solidFill>
            <a:schemeClr val="bg2"/>
          </a:solidFill>
          <a:ln/>
        </p:spPr>
      </p:sp>
      <p:sp>
        <p:nvSpPr>
          <p:cNvPr id="14" name="icon-circle-360"/>
          <p:cNvSpPr/>
          <p:nvPr/>
        </p:nvSpPr>
        <p:spPr>
          <a:xfrm>
            <a:off x="621792" y="2423160"/>
            <a:ext cx="411480" cy="411480"/>
          </a:xfrm>
          <a:prstGeom prst="ellipse">
            <a:avLst/>
          </a:prstGeom>
          <a:solidFill>
            <a:schemeClr val="accent1"/>
          </a:solidFill>
          <a:ln/>
        </p:spPr>
      </p:sp>
      <p:pic>
        <p:nvPicPr>
          <p:cNvPr id="15" name="icon-361" descr="ShieldAlt icon">    </p:cNvPr>
          <p:cNvPicPr>
            <a:picLocks noChangeAspect="1"/>
          </p:cNvPicPr>
          <p:nvPr/>
        </p:nvPicPr>
        <p:blipFill>
          <a:blip r:embed="rId3"/>
          <a:stretch>
            <a:fillRect/>
          </a:stretch>
        </p:blipFill>
        <p:spPr>
          <a:xfrm>
            <a:off x="724662" y="2526030"/>
            <a:ext cx="205740" cy="205740"/>
          </a:xfrm>
          <a:prstGeom prst="rect">
            <a:avLst/>
          </a:prstGeom>
        </p:spPr>
      </p:pic>
      <p:sp>
        <p:nvSpPr>
          <p:cNvPr id="16" name="text-362"/>
          <p:cNvSpPr txBox="1"/>
          <p:nvPr/>
        </p:nvSpPr>
        <p:spPr>
          <a:xfrm>
            <a:off x="1188720" y="2350008"/>
            <a:ext cx="3154680" cy="292608"/>
          </a:xfrm>
          <a:prstGeom prst="rect">
            <a:avLst/>
          </a:prstGeom>
          <a:noFill/>
          <a:ln/>
        </p:spPr>
        <p:txBody>
          <a:bodyPr wrap="square" lIns="0" tIns="0" rIns="0" bIns="0" rtlCol="0" anchor="t"/>
          <a:lstStyle/>
          <a:p>
            <a:pPr indent="0" marL="0">
              <a:buNone/>
            </a:pPr>
            <a:r>
              <a:rPr lang="en-US" sz="1400" b="1" dirty="0">
                <a:solidFill>
                  <a:schemeClr val="tx2"/>
                </a:solidFill>
              </a:rPr>
              <a:t>Pidfile could name a reused PID</a:t>
            </a:r>
            <a:endParaRPr lang="en-US" sz="1400" dirty="0"/>
          </a:p>
        </p:txBody>
      </p:sp>
      <p:sp>
        <p:nvSpPr>
          <p:cNvPr id="17" name="text-363"/>
          <p:cNvSpPr txBox="1"/>
          <p:nvPr/>
        </p:nvSpPr>
        <p:spPr>
          <a:xfrm>
            <a:off x="1188720" y="2651760"/>
            <a:ext cx="3154680" cy="566928"/>
          </a:xfrm>
          <a:prstGeom prst="rect">
            <a:avLst/>
          </a:prstGeom>
          <a:noFill/>
          <a:ln/>
        </p:spPr>
        <p:txBody>
          <a:bodyPr wrap="square" lIns="0" tIns="0" rIns="0" bIns="0" rtlCol="0" anchor="t"/>
          <a:lstStyle/>
          <a:p>
            <a:pPr indent="0" marL="0">
              <a:buNone/>
            </a:pPr>
            <a:r>
              <a:rPr lang="en-US" sz="1400" dirty="0">
                <a:solidFill>
                  <a:schemeClr val="tx1"/>
                </a:solidFill>
              </a:rPr>
              <a:t>stop now asks the daemon for its PID over the socket.</a:t>
            </a:r>
            <a:endParaRPr lang="en-US" sz="1400" dirty="0"/>
          </a:p>
        </p:txBody>
      </p:sp>
      <p:sp>
        <p:nvSpPr>
          <p:cNvPr id="18" name="card-364"/>
          <p:cNvSpPr/>
          <p:nvPr/>
        </p:nvSpPr>
        <p:spPr>
          <a:xfrm>
            <a:off x="4663440" y="2240280"/>
            <a:ext cx="4023360" cy="1051560"/>
          </a:xfrm>
          <a:prstGeom prst="roundRect">
            <a:avLst>
              <a:gd name="adj" fmla="val 6957"/>
            </a:avLst>
          </a:prstGeom>
          <a:solidFill>
            <a:schemeClr val="bg2"/>
          </a:solidFill>
          <a:ln/>
        </p:spPr>
      </p:sp>
      <p:sp>
        <p:nvSpPr>
          <p:cNvPr id="19" name="icon-circle-365"/>
          <p:cNvSpPr/>
          <p:nvPr/>
        </p:nvSpPr>
        <p:spPr>
          <a:xfrm>
            <a:off x="4828032" y="2423160"/>
            <a:ext cx="411480" cy="411480"/>
          </a:xfrm>
          <a:prstGeom prst="ellipse">
            <a:avLst/>
          </a:prstGeom>
          <a:solidFill>
            <a:schemeClr val="accent1"/>
          </a:solidFill>
          <a:ln/>
        </p:spPr>
      </p:sp>
      <p:pic>
        <p:nvPicPr>
          <p:cNvPr id="20" name="icon-366" descr="Linux icon">    </p:cNvPr>
          <p:cNvPicPr>
            <a:picLocks noChangeAspect="1"/>
          </p:cNvPicPr>
          <p:nvPr/>
        </p:nvPicPr>
        <p:blipFill>
          <a:blip r:embed="rId4"/>
          <a:stretch>
            <a:fillRect/>
          </a:stretch>
        </p:blipFill>
        <p:spPr>
          <a:xfrm>
            <a:off x="4930902" y="2526030"/>
            <a:ext cx="205740" cy="205740"/>
          </a:xfrm>
          <a:prstGeom prst="rect">
            <a:avLst/>
          </a:prstGeom>
        </p:spPr>
      </p:pic>
      <p:sp>
        <p:nvSpPr>
          <p:cNvPr id="21" name="text-367"/>
          <p:cNvSpPr txBox="1"/>
          <p:nvPr/>
        </p:nvSpPr>
        <p:spPr>
          <a:xfrm>
            <a:off x="5394960" y="2350008"/>
            <a:ext cx="3154680" cy="292608"/>
          </a:xfrm>
          <a:prstGeom prst="rect">
            <a:avLst/>
          </a:prstGeom>
          <a:noFill/>
          <a:ln/>
        </p:spPr>
        <p:txBody>
          <a:bodyPr wrap="square" lIns="0" tIns="0" rIns="0" bIns="0" rtlCol="0" anchor="t"/>
          <a:lstStyle/>
          <a:p>
            <a:pPr indent="0" marL="0">
              <a:buNone/>
            </a:pPr>
            <a:r>
              <a:rPr lang="en-US" sz="1400" b="1" dirty="0">
                <a:solidFill>
                  <a:schemeClr val="tx2"/>
                </a:solidFill>
              </a:rPr>
              <a:t>Linux build: unknown “zifencei”</a:t>
            </a:r>
            <a:endParaRPr lang="en-US" sz="1400" dirty="0"/>
          </a:p>
        </p:txBody>
      </p:sp>
      <p:sp>
        <p:nvSpPr>
          <p:cNvPr id="22" name="text-368"/>
          <p:cNvSpPr txBox="1"/>
          <p:nvPr/>
        </p:nvSpPr>
        <p:spPr>
          <a:xfrm>
            <a:off x="5394960" y="2651760"/>
            <a:ext cx="3154680" cy="566928"/>
          </a:xfrm>
          <a:prstGeom prst="rect">
            <a:avLst/>
          </a:prstGeom>
          <a:noFill/>
          <a:ln/>
        </p:spPr>
        <p:txBody>
          <a:bodyPr wrap="square" lIns="0" tIns="0" rIns="0" bIns="0" rtlCol="0" anchor="t"/>
          <a:lstStyle/>
          <a:p>
            <a:pPr indent="0" marL="0">
              <a:buNone/>
            </a:pPr>
            <a:r>
              <a:rPr lang="en-US" sz="1400" dirty="0">
                <a:solidFill>
                  <a:schemeClr val="tx1"/>
                </a:solidFill>
              </a:rPr>
              <a:t>The Makefile now probes the toolchain for its ISA naming.</a:t>
            </a:r>
            <a:endParaRPr lang="en-US" sz="1400" dirty="0"/>
          </a:p>
        </p:txBody>
      </p:sp>
      <p:sp>
        <p:nvSpPr>
          <p:cNvPr id="23" name="card-369"/>
          <p:cNvSpPr/>
          <p:nvPr/>
        </p:nvSpPr>
        <p:spPr>
          <a:xfrm>
            <a:off x="457200" y="3383280"/>
            <a:ext cx="4023360" cy="1051560"/>
          </a:xfrm>
          <a:prstGeom prst="roundRect">
            <a:avLst>
              <a:gd name="adj" fmla="val 6957"/>
            </a:avLst>
          </a:prstGeom>
          <a:solidFill>
            <a:schemeClr val="bg2"/>
          </a:solidFill>
          <a:ln/>
        </p:spPr>
      </p:sp>
      <p:sp>
        <p:nvSpPr>
          <p:cNvPr id="24" name="icon-circle-370"/>
          <p:cNvSpPr/>
          <p:nvPr/>
        </p:nvSpPr>
        <p:spPr>
          <a:xfrm>
            <a:off x="621792" y="3566160"/>
            <a:ext cx="411480" cy="411480"/>
          </a:xfrm>
          <a:prstGeom prst="ellipse">
            <a:avLst/>
          </a:prstGeom>
          <a:solidFill>
            <a:schemeClr val="accent1"/>
          </a:solidFill>
          <a:ln/>
        </p:spPr>
      </p:sp>
      <p:pic>
        <p:nvPicPr>
          <p:cNvPr id="25" name="icon-371" descr="Stopwatch icon">    </p:cNvPr>
          <p:cNvPicPr>
            <a:picLocks noChangeAspect="1"/>
          </p:cNvPicPr>
          <p:nvPr/>
        </p:nvPicPr>
        <p:blipFill>
          <a:blip r:embed="rId5"/>
          <a:stretch>
            <a:fillRect/>
          </a:stretch>
        </p:blipFill>
        <p:spPr>
          <a:xfrm>
            <a:off x="724662" y="3669030"/>
            <a:ext cx="205740" cy="205740"/>
          </a:xfrm>
          <a:prstGeom prst="rect">
            <a:avLst/>
          </a:prstGeom>
        </p:spPr>
      </p:pic>
      <p:sp>
        <p:nvSpPr>
          <p:cNvPr id="26" name="text-372"/>
          <p:cNvSpPr txBox="1"/>
          <p:nvPr/>
        </p:nvSpPr>
        <p:spPr>
          <a:xfrm>
            <a:off x="1188720" y="3493008"/>
            <a:ext cx="3154680" cy="292608"/>
          </a:xfrm>
          <a:prstGeom prst="rect">
            <a:avLst/>
          </a:prstGeom>
          <a:noFill/>
          <a:ln/>
        </p:spPr>
        <p:txBody>
          <a:bodyPr wrap="square" lIns="0" tIns="0" rIns="0" bIns="0" rtlCol="0" anchor="t"/>
          <a:lstStyle/>
          <a:p>
            <a:pPr indent="0" marL="0">
              <a:buNone/>
            </a:pPr>
            <a:r>
              <a:rPr lang="en-US" sz="1400" b="1" dirty="0">
                <a:solidFill>
                  <a:schemeClr val="tx2"/>
                </a:solidFill>
              </a:rPr>
              <a:t>macOS timings showed 0 ns</a:t>
            </a:r>
            <a:endParaRPr lang="en-US" sz="1400" dirty="0"/>
          </a:p>
        </p:txBody>
      </p:sp>
      <p:sp>
        <p:nvSpPr>
          <p:cNvPr id="27" name="text-373"/>
          <p:cNvSpPr txBox="1"/>
          <p:nvPr/>
        </p:nvSpPr>
        <p:spPr>
          <a:xfrm>
            <a:off x="1188720" y="3794760"/>
            <a:ext cx="3154680" cy="566928"/>
          </a:xfrm>
          <a:prstGeom prst="rect">
            <a:avLst/>
          </a:prstGeom>
          <a:noFill/>
          <a:ln/>
        </p:spPr>
        <p:txBody>
          <a:bodyPr wrap="square" lIns="0" tIns="0" rIns="0" bIns="0" rtlCol="0" anchor="t"/>
          <a:lstStyle/>
          <a:p>
            <a:pPr indent="0" marL="0">
              <a:buNone/>
            </a:pPr>
            <a:r>
              <a:rPr lang="en-US" sz="1400" dirty="0">
                <a:solidFill>
                  <a:schemeClr val="tx1"/>
                </a:solidFill>
              </a:rPr>
              <a:t>Switched to a nanosecond clock (CLOCK_UPTIME_RAW).</a:t>
            </a:r>
            <a:endParaRPr lang="en-US" sz="1400" dirty="0"/>
          </a:p>
        </p:txBody>
      </p:sp>
      <p:sp>
        <p:nvSpPr>
          <p:cNvPr id="28" name="card-374"/>
          <p:cNvSpPr/>
          <p:nvPr/>
        </p:nvSpPr>
        <p:spPr>
          <a:xfrm>
            <a:off x="4663440" y="3383280"/>
            <a:ext cx="4023360" cy="1051560"/>
          </a:xfrm>
          <a:prstGeom prst="roundRect">
            <a:avLst>
              <a:gd name="adj" fmla="val 6957"/>
            </a:avLst>
          </a:prstGeom>
          <a:solidFill>
            <a:schemeClr val="bg2"/>
          </a:solidFill>
          <a:ln/>
        </p:spPr>
      </p:sp>
      <p:sp>
        <p:nvSpPr>
          <p:cNvPr id="29" name="icon-circle-375"/>
          <p:cNvSpPr/>
          <p:nvPr/>
        </p:nvSpPr>
        <p:spPr>
          <a:xfrm>
            <a:off x="4828032" y="3566160"/>
            <a:ext cx="411480" cy="411480"/>
          </a:xfrm>
          <a:prstGeom prst="ellipse">
            <a:avLst/>
          </a:prstGeom>
          <a:solidFill>
            <a:schemeClr val="accent1"/>
          </a:solidFill>
          <a:ln/>
        </p:spPr>
      </p:sp>
      <p:pic>
        <p:nvPicPr>
          <p:cNvPr id="30" name="icon-376" descr="TachometerAlt icon">    </p:cNvPr>
          <p:cNvPicPr>
            <a:picLocks noChangeAspect="1"/>
          </p:cNvPicPr>
          <p:nvPr/>
        </p:nvPicPr>
        <p:blipFill>
          <a:blip r:embed="rId6"/>
          <a:stretch>
            <a:fillRect/>
          </a:stretch>
        </p:blipFill>
        <p:spPr>
          <a:xfrm>
            <a:off x="4930902" y="3669030"/>
            <a:ext cx="205740" cy="205740"/>
          </a:xfrm>
          <a:prstGeom prst="rect">
            <a:avLst/>
          </a:prstGeom>
        </p:spPr>
      </p:pic>
      <p:sp>
        <p:nvSpPr>
          <p:cNvPr id="31" name="text-377"/>
          <p:cNvSpPr txBox="1"/>
          <p:nvPr/>
        </p:nvSpPr>
        <p:spPr>
          <a:xfrm>
            <a:off x="5394960" y="3493008"/>
            <a:ext cx="3154680" cy="292608"/>
          </a:xfrm>
          <a:prstGeom prst="rect">
            <a:avLst/>
          </a:prstGeom>
          <a:noFill/>
          <a:ln/>
        </p:spPr>
        <p:txBody>
          <a:bodyPr wrap="square" lIns="0" tIns="0" rIns="0" bIns="0" rtlCol="0" anchor="t"/>
          <a:lstStyle/>
          <a:p>
            <a:pPr indent="0" marL="0">
              <a:buNone/>
            </a:pPr>
            <a:r>
              <a:rPr lang="en-US" sz="1400" b="1" dirty="0">
                <a:solidFill>
                  <a:schemeClr val="tx2"/>
                </a:solidFill>
              </a:rPr>
              <a:t>Expected speedup didn't hold</a:t>
            </a:r>
            <a:endParaRPr lang="en-US" sz="1400" dirty="0"/>
          </a:p>
        </p:txBody>
      </p:sp>
      <p:sp>
        <p:nvSpPr>
          <p:cNvPr id="32" name="text-378"/>
          <p:cNvSpPr txBox="1"/>
          <p:nvPr/>
        </p:nvSpPr>
        <p:spPr>
          <a:xfrm>
            <a:off x="5394960" y="3794760"/>
            <a:ext cx="3154680" cy="566928"/>
          </a:xfrm>
          <a:prstGeom prst="rect">
            <a:avLst/>
          </a:prstGeom>
          <a:noFill/>
          <a:ln/>
        </p:spPr>
        <p:txBody>
          <a:bodyPr wrap="square" lIns="0" tIns="0" rIns="0" bIns="0" rtlCol="0" anchor="t"/>
          <a:lstStyle/>
          <a:p>
            <a:pPr indent="0" marL="0">
              <a:buNone/>
            </a:pPr>
            <a:r>
              <a:rPr lang="en-US" sz="1400" dirty="0">
                <a:solidFill>
                  <a:schemeClr val="tx1"/>
                </a:solidFill>
              </a:rPr>
              <a:t>Measured against a direct baseline and documented the real numbers.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How to run it</a:t>
            </a:r>
            <a:endParaRPr lang="en-US" sz="3000" dirty="0"/>
          </a:p>
        </p:txBody>
      </p:sp>
      <p:sp>
        <p:nvSpPr>
          <p:cNvPr id="3" name="code-379"/>
          <p:cNvSpPr txBox="1"/>
          <p:nvPr/>
        </p:nvSpPr>
        <p:spPr>
          <a:xfrm>
            <a:off x="457200" y="1097280"/>
            <a:ext cx="5486400" cy="3291840"/>
          </a:xfrm>
          <a:prstGeom prst="roundRect">
            <a:avLst>
              <a:gd name="adj" fmla="val 2222"/>
            </a:avLst>
          </a:prstGeom>
          <a:solidFill>
            <a:schemeClr val="tx2"/>
          </a:solidFill>
          <a:ln/>
        </p:spPr>
        <p:txBody>
          <a:bodyPr wrap="square" lIns="127000" tIns="177800" rIns="177800" bIns="127000" rtlCol="0" anchor="t"/>
          <a:lstStyle/>
          <a:p>
            <a:pPr indent="0" marL="0">
              <a:buNone/>
            </a:pPr>
            <a:r>
              <a:rPr lang="en-US" sz="1200" dirty="0">
                <a:solidFill>
                  <a:schemeClr val="accent3"/>
                </a:solidFill>
                <a:latin typeface="Courier New" pitchFamily="34" charset="0"/>
                <a:ea typeface="Courier New" pitchFamily="34" charset="-122"/>
                <a:cs typeface="Courier New" pitchFamily="34" charset="-120"/>
              </a:rPr>
              <a:t># in every new terminal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cd ~/Ibex_verilator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source ./env.sh</a:t>
            </a:r>
            <a:endParaRPr lang="en-US" sz="1200" dirty="0"/>
          </a:p>
          <a:p>
            <a:pPr indent="0" marL="0">
              <a:buNone/>
            </a:pPr>
            <a:r>
              <a:rPr lang="en-US" sz="1200" dirty="0">
                <a:solidFill>
                  <a:schemeClr val="accent3"/>
                </a:solidFill>
                <a:latin typeface="Courier New" pitchFamily="34" charset="0"/>
                <a:ea typeface="Courier New" pitchFamily="34" charset="-122"/>
                <a:cs typeface="Courier New" pitchFamily="34" charset="-120"/>
              </a:rPr>
              <a:t># one command: daemon + VP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./ibex-vp-cosim/run_matmul_plugin.sh</a:t>
            </a:r>
            <a:endParaRPr lang="en-US" sz="1200" dirty="0"/>
          </a:p>
          <a:p>
            <a:pPr indent="0" marL="0">
              <a:buNone/>
            </a:pPr>
            <a:r>
              <a:rPr lang="en-US" sz="1200" dirty="0">
                <a:solidFill>
                  <a:schemeClr val="accent3"/>
                </a:solidFill>
                <a:latin typeface="Courier New" pitchFamily="34" charset="0"/>
                <a:ea typeface="Courier New" pitchFamily="34" charset="-122"/>
                <a:cs typeface="Courier New" pitchFamily="34" charset="-120"/>
              </a:rPr>
              <a:t># two terminals: live daemon, then VP runs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./ibex-vp-cosim/matmul_daemon.sh foreground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./ibex-vp-cosim/run_matmul_plugin.sh</a:t>
            </a:r>
            <a:endParaRPr lang="en-US" sz="1200" dirty="0"/>
          </a:p>
          <a:p>
            <a:pPr indent="0" marL="0">
              <a:buNone/>
            </a:pPr>
            <a:r>
              <a:rPr lang="en-US" sz="1200" dirty="0">
                <a:solidFill>
                  <a:schemeClr val="accent3"/>
                </a:solidFill>
                <a:latin typeface="Courier New" pitchFamily="34" charset="0"/>
                <a:ea typeface="Courier New" pitchFamily="34" charset="-122"/>
                <a:cs typeface="Courier New" pitchFamily="34" charset="-120"/>
              </a:rPr>
              <a:t># debug: VP waits for GDB on port 1234</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./ibex-vp-cosim/run_matmul_plugin.sh --gdb</a:t>
            </a:r>
            <a:endParaRPr lang="en-US" sz="1200" dirty="0"/>
          </a:p>
          <a:p>
            <a:pPr indent="0" marL="0">
              <a:buNone/>
            </a:pPr>
            <a:r>
              <a:rPr lang="en-US" sz="1200" dirty="0">
                <a:solidFill>
                  <a:schemeClr val="accent3"/>
                </a:solidFill>
                <a:latin typeface="Courier New" pitchFamily="34" charset="0"/>
                <a:ea typeface="Courier New" pitchFamily="34" charset="-122"/>
                <a:cs typeface="Courier New" pitchFamily="34" charset="-120"/>
              </a:rPr>
              <a:t># tests and benchmark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python3 ibex-vp-cosim/scripts/test_matmul_daemon.py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python3 ibex-vp-cosim/scripts/bench_npu.py</a:t>
            </a:r>
            <a:endParaRPr lang="en-US" sz="1200" dirty="0"/>
          </a:p>
        </p:txBody>
      </p:sp>
      <p:sp>
        <p:nvSpPr>
          <p:cNvPr id="4" name="card-380"/>
          <p:cNvSpPr/>
          <p:nvPr/>
        </p:nvSpPr>
        <p:spPr>
          <a:xfrm>
            <a:off x="6172200" y="1097280"/>
            <a:ext cx="2514600" cy="1554480"/>
          </a:xfrm>
          <a:prstGeom prst="roundRect">
            <a:avLst>
              <a:gd name="adj" fmla="val 4706"/>
            </a:avLst>
          </a:prstGeom>
          <a:solidFill>
            <a:schemeClr val="bg2"/>
          </a:solidFill>
          <a:ln/>
        </p:spPr>
      </p:sp>
      <p:sp>
        <p:nvSpPr>
          <p:cNvPr id="5" name="icon-circle-381"/>
          <p:cNvSpPr/>
          <p:nvPr/>
        </p:nvSpPr>
        <p:spPr>
          <a:xfrm>
            <a:off x="6327648" y="1234440"/>
            <a:ext cx="411480" cy="411480"/>
          </a:xfrm>
          <a:prstGeom prst="ellipse">
            <a:avLst/>
          </a:prstGeom>
          <a:solidFill>
            <a:schemeClr val="accent1"/>
          </a:solidFill>
          <a:ln/>
        </p:spPr>
      </p:sp>
      <p:pic>
        <p:nvPicPr>
          <p:cNvPr id="6" name="icon-382" descr="CheckCircle icon">    </p:cNvPr>
          <p:cNvPicPr>
            <a:picLocks noChangeAspect="1"/>
          </p:cNvPicPr>
          <p:nvPr/>
        </p:nvPicPr>
        <p:blipFill>
          <a:blip r:embed="rId1"/>
          <a:stretch>
            <a:fillRect/>
          </a:stretch>
        </p:blipFill>
        <p:spPr>
          <a:xfrm>
            <a:off x="6430518" y="1337310"/>
            <a:ext cx="205740" cy="205740"/>
          </a:xfrm>
          <a:prstGeom prst="rect">
            <a:avLst/>
          </a:prstGeom>
        </p:spPr>
      </p:pic>
      <p:sp>
        <p:nvSpPr>
          <p:cNvPr id="7" name="text-383"/>
          <p:cNvSpPr txBox="1"/>
          <p:nvPr/>
        </p:nvSpPr>
        <p:spPr>
          <a:xfrm>
            <a:off x="6858000" y="1252728"/>
            <a:ext cx="1737360" cy="365760"/>
          </a:xfrm>
          <a:prstGeom prst="rect">
            <a:avLst/>
          </a:prstGeom>
          <a:noFill/>
          <a:ln/>
        </p:spPr>
        <p:txBody>
          <a:bodyPr wrap="square" lIns="0" tIns="0" rIns="0" bIns="0" rtlCol="0" anchor="ctr"/>
          <a:lstStyle/>
          <a:p>
            <a:pPr indent="0" marL="0">
              <a:buNone/>
            </a:pPr>
            <a:r>
              <a:rPr lang="en-US" sz="1500" b="1" dirty="0">
                <a:solidFill>
                  <a:schemeClr val="tx2"/>
                </a:solidFill>
              </a:rPr>
              <a:t>What you'll see</a:t>
            </a:r>
            <a:endParaRPr lang="en-US" sz="1500" dirty="0"/>
          </a:p>
        </p:txBody>
      </p:sp>
      <p:sp>
        <p:nvSpPr>
          <p:cNvPr id="8" name="text-384"/>
          <p:cNvSpPr txBox="1"/>
          <p:nvPr/>
        </p:nvSpPr>
        <p:spPr>
          <a:xfrm>
            <a:off x="6327648" y="1737360"/>
            <a:ext cx="2240280" cy="868680"/>
          </a:xfrm>
          <a:prstGeom prst="rect">
            <a:avLst/>
          </a:prstGeom>
          <a:noFill/>
          <a:ln/>
        </p:spPr>
        <p:txBody>
          <a:bodyPr wrap="square" lIns="0" tIns="0" rIns="0" bIns="0" rtlCol="0" anchor="t"/>
          <a:lstStyle/>
          <a:p>
            <a:pPr indent="0" marL="0">
              <a:buNone/>
            </a:pPr>
            <a:r>
              <a:rPr lang="en-US" sz="1300" dirty="0">
                <a:solidFill>
                  <a:schemeClr val="tx1"/>
                </a:solidFill>
              </a:rPr>
              <a:t>Four checksums, a rejected request, the daemon's log, then Result: PASS.</a:t>
            </a:r>
            <a:endParaRPr lang="en-US" sz="1300" dirty="0"/>
          </a:p>
        </p:txBody>
      </p:sp>
      <p:sp>
        <p:nvSpPr>
          <p:cNvPr id="9" name="card-385"/>
          <p:cNvSpPr/>
          <p:nvPr/>
        </p:nvSpPr>
        <p:spPr>
          <a:xfrm>
            <a:off x="6172200" y="2834640"/>
            <a:ext cx="2514600" cy="1554480"/>
          </a:xfrm>
          <a:prstGeom prst="roundRect">
            <a:avLst>
              <a:gd name="adj" fmla="val 4706"/>
            </a:avLst>
          </a:prstGeom>
          <a:solidFill>
            <a:schemeClr val="bg2"/>
          </a:solidFill>
          <a:ln/>
        </p:spPr>
      </p:sp>
      <p:sp>
        <p:nvSpPr>
          <p:cNvPr id="10" name="icon-circle-386"/>
          <p:cNvSpPr/>
          <p:nvPr/>
        </p:nvSpPr>
        <p:spPr>
          <a:xfrm>
            <a:off x="6327648" y="2971800"/>
            <a:ext cx="411480" cy="411480"/>
          </a:xfrm>
          <a:prstGeom prst="ellipse">
            <a:avLst/>
          </a:prstGeom>
          <a:solidFill>
            <a:schemeClr val="accent1"/>
          </a:solidFill>
          <a:ln/>
        </p:spPr>
      </p:sp>
      <p:pic>
        <p:nvPicPr>
          <p:cNvPr id="11" name="icon-387" descr="Bug icon">    </p:cNvPr>
          <p:cNvPicPr>
            <a:picLocks noChangeAspect="1"/>
          </p:cNvPicPr>
          <p:nvPr/>
        </p:nvPicPr>
        <p:blipFill>
          <a:blip r:embed="rId2"/>
          <a:stretch>
            <a:fillRect/>
          </a:stretch>
        </p:blipFill>
        <p:spPr>
          <a:xfrm>
            <a:off x="6430518" y="3074670"/>
            <a:ext cx="205740" cy="205740"/>
          </a:xfrm>
          <a:prstGeom prst="rect">
            <a:avLst/>
          </a:prstGeom>
        </p:spPr>
      </p:pic>
      <p:sp>
        <p:nvSpPr>
          <p:cNvPr id="12" name="text-388"/>
          <p:cNvSpPr txBox="1"/>
          <p:nvPr/>
        </p:nvSpPr>
        <p:spPr>
          <a:xfrm>
            <a:off x="6858000" y="2990088"/>
            <a:ext cx="1737360" cy="365760"/>
          </a:xfrm>
          <a:prstGeom prst="rect">
            <a:avLst/>
          </a:prstGeom>
          <a:noFill/>
          <a:ln/>
        </p:spPr>
        <p:txBody>
          <a:bodyPr wrap="square" lIns="0" tIns="0" rIns="0" bIns="0" rtlCol="0" anchor="ctr"/>
          <a:lstStyle/>
          <a:p>
            <a:pPr indent="0" marL="0">
              <a:buNone/>
            </a:pPr>
            <a:r>
              <a:rPr lang="en-US" sz="1500" b="1" dirty="0">
                <a:solidFill>
                  <a:schemeClr val="tx2"/>
                </a:solidFill>
              </a:rPr>
              <a:t>Attach GDB</a:t>
            </a:r>
            <a:endParaRPr lang="en-US" sz="1500" dirty="0"/>
          </a:p>
        </p:txBody>
      </p:sp>
      <p:sp>
        <p:nvSpPr>
          <p:cNvPr id="13" name="text-389"/>
          <p:cNvSpPr txBox="1"/>
          <p:nvPr/>
        </p:nvSpPr>
        <p:spPr>
          <a:xfrm>
            <a:off x="6327648" y="3474720"/>
            <a:ext cx="2240280" cy="868680"/>
          </a:xfrm>
          <a:prstGeom prst="rect">
            <a:avLst/>
          </a:prstGeom>
          <a:noFill/>
          <a:ln/>
        </p:spPr>
        <p:txBody>
          <a:bodyPr wrap="square" lIns="0" tIns="0" rIns="0" bIns="0" rtlCol="0" anchor="t"/>
          <a:lstStyle/>
          <a:p>
            <a:pPr indent="0" marL="0">
              <a:buNone/>
            </a:pPr>
            <a:r>
              <a:rPr lang="en-US" sz="1300" dirty="0">
                <a:solidFill>
                  <a:schemeClr val="tx1"/>
                </a:solidFill>
              </a:rPr>
              <a:t>In terminal B, run</a:t>
            </a:r>
            <a:endParaRPr lang="en-US" sz="1300" dirty="0"/>
          </a:p>
          <a:p>
            <a:pPr indent="0" marL="0">
              <a:buNone/>
            </a:pPr>
            <a:r>
              <a:rPr lang="en-US" sz="1200" dirty="0">
                <a:solidFill>
                  <a:schemeClr val="tx1"/>
                </a:solidFill>
                <a:latin typeface="Courier New" pitchFamily="34" charset="0"/>
                <a:ea typeface="Courier New" pitchFamily="34" charset="-122"/>
                <a:cs typeface="Courier New" pitchFamily="34" charset="-120"/>
              </a:rPr>
              <a:t>riscv32-unknown-elf-gdb</a:t>
            </a:r>
            <a:endParaRPr lang="en-US" sz="1300" dirty="0"/>
          </a:p>
          <a:p>
            <a:pPr indent="0" marL="0">
              <a:buNone/>
            </a:pPr>
            <a:r>
              <a:rPr lang="en-US" sz="1300" dirty="0">
                <a:solidFill>
                  <a:schemeClr val="tx1"/>
                </a:solidFill>
              </a:rPr>
              <a:t>on the firmware ELF, then target remote :1234.</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Limits and next steps</a:t>
            </a:r>
            <a:endParaRPr lang="en-US" sz="3000" dirty="0"/>
          </a:p>
        </p:txBody>
      </p:sp>
      <p:sp>
        <p:nvSpPr>
          <p:cNvPr id="3" name="card-390"/>
          <p:cNvSpPr/>
          <p:nvPr/>
        </p:nvSpPr>
        <p:spPr>
          <a:xfrm>
            <a:off x="457200" y="1097280"/>
            <a:ext cx="4023360" cy="2880360"/>
          </a:xfrm>
          <a:prstGeom prst="roundRect">
            <a:avLst>
              <a:gd name="adj" fmla="val 2540"/>
            </a:avLst>
          </a:prstGeom>
          <a:solidFill>
            <a:schemeClr val="bg2"/>
          </a:solidFill>
          <a:ln/>
        </p:spPr>
      </p:sp>
      <p:sp>
        <p:nvSpPr>
          <p:cNvPr id="4" name="icon-circle-391"/>
          <p:cNvSpPr/>
          <p:nvPr/>
        </p:nvSpPr>
        <p:spPr>
          <a:xfrm>
            <a:off x="640080" y="1234440"/>
            <a:ext cx="457200" cy="457200"/>
          </a:xfrm>
          <a:prstGeom prst="ellipse">
            <a:avLst/>
          </a:prstGeom>
          <a:solidFill>
            <a:schemeClr val="accent5"/>
          </a:solidFill>
          <a:ln/>
        </p:spPr>
      </p:sp>
      <p:pic>
        <p:nvPicPr>
          <p:cNvPr id="5" name="icon-392" descr="InfoCircle icon">    </p:cNvPr>
          <p:cNvPicPr>
            <a:picLocks noChangeAspect="1"/>
          </p:cNvPicPr>
          <p:nvPr/>
        </p:nvPicPr>
        <p:blipFill>
          <a:blip r:embed="rId1"/>
          <a:stretch>
            <a:fillRect/>
          </a:stretch>
        </p:blipFill>
        <p:spPr>
          <a:xfrm>
            <a:off x="754380" y="1348740"/>
            <a:ext cx="228600" cy="228600"/>
          </a:xfrm>
          <a:prstGeom prst="rect">
            <a:avLst/>
          </a:prstGeom>
        </p:spPr>
      </p:pic>
      <p:sp>
        <p:nvSpPr>
          <p:cNvPr id="6" name="text-393"/>
          <p:cNvSpPr txBox="1"/>
          <p:nvPr/>
        </p:nvSpPr>
        <p:spPr>
          <a:xfrm>
            <a:off x="1234440" y="1261872"/>
            <a:ext cx="3017520" cy="411480"/>
          </a:xfrm>
          <a:prstGeom prst="rect">
            <a:avLst/>
          </a:prstGeom>
          <a:noFill/>
          <a:ln/>
        </p:spPr>
        <p:txBody>
          <a:bodyPr wrap="square" lIns="0" tIns="0" rIns="0" bIns="0" rtlCol="0" anchor="ctr"/>
          <a:lstStyle/>
          <a:p>
            <a:pPr indent="0" marL="0">
              <a:buNone/>
            </a:pPr>
            <a:r>
              <a:rPr lang="en-US" sz="1600" b="1" dirty="0">
                <a:solidFill>
                  <a:schemeClr val="tx2"/>
                </a:solidFill>
              </a:rPr>
              <a:t>Today</a:t>
            </a:r>
            <a:endParaRPr lang="en-US" sz="1600" dirty="0"/>
          </a:p>
        </p:txBody>
      </p:sp>
      <p:sp>
        <p:nvSpPr>
          <p:cNvPr id="7" name="text-394"/>
          <p:cNvSpPr txBox="1"/>
          <p:nvPr/>
        </p:nvSpPr>
        <p:spPr>
          <a:xfrm>
            <a:off x="685800" y="1828800"/>
            <a:ext cx="3611880" cy="205740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Functional only: no NPU timing model</a:t>
            </a:r>
            <a:endParaRPr lang="en-US" sz="1400" dirty="0"/>
          </a:p>
          <a:p>
            <a:pPr marL="203200" indent="-203200">
              <a:spcAft>
                <a:spcPts val="1000"/>
              </a:spcAft>
              <a:buSzPct val="100000"/>
              <a:buChar char="•"/>
            </a:pPr>
            <a:r>
              <a:rPr lang="en-US" sz="1400" dirty="0">
                <a:solidFill>
                  <a:schemeClr val="tx1"/>
                </a:solidFill>
              </a:rPr>
              <a:t>Synchronous: the VP waits for every request</a:t>
            </a:r>
            <a:endParaRPr lang="en-US" sz="1400" dirty="0"/>
          </a:p>
          <a:p>
            <a:pPr marL="203200" indent="-203200">
              <a:spcAft>
                <a:spcPts val="1000"/>
              </a:spcAft>
              <a:buSzPct val="100000"/>
              <a:buChar char="•"/>
            </a:pPr>
            <a:r>
              <a:rPr lang="en-US" sz="1400" dirty="0">
                <a:solidFill>
                  <a:schemeClr val="tx1"/>
                </a:solidFill>
              </a:rPr>
              <a:t>Guest addresses treated as physical (no MMU)</a:t>
            </a:r>
            <a:endParaRPr lang="en-US" sz="1400" dirty="0"/>
          </a:p>
          <a:p>
            <a:pPr marL="203200" indent="-203200">
              <a:spcAft>
                <a:spcPts val="1000"/>
              </a:spcAft>
              <a:buSzPct val="100000"/>
              <a:buChar char="•"/>
            </a:pPr>
            <a:r>
              <a:rPr lang="en-US" sz="1400" dirty="0">
                <a:solidFill>
                  <a:schemeClr val="tx1"/>
                </a:solidFill>
              </a:rPr>
              <a:t>Same machine only (Unix socket)</a:t>
            </a:r>
            <a:endParaRPr lang="en-US" sz="1400" dirty="0"/>
          </a:p>
        </p:txBody>
      </p:sp>
      <p:sp>
        <p:nvSpPr>
          <p:cNvPr id="8" name="card-395"/>
          <p:cNvSpPr/>
          <p:nvPr/>
        </p:nvSpPr>
        <p:spPr>
          <a:xfrm>
            <a:off x="4663440" y="1097280"/>
            <a:ext cx="4023360" cy="2880360"/>
          </a:xfrm>
          <a:prstGeom prst="roundRect">
            <a:avLst>
              <a:gd name="adj" fmla="val 2540"/>
            </a:avLst>
          </a:prstGeom>
          <a:solidFill>
            <a:schemeClr val="bg2"/>
          </a:solidFill>
          <a:ln/>
        </p:spPr>
      </p:sp>
      <p:sp>
        <p:nvSpPr>
          <p:cNvPr id="9" name="icon-circle-396"/>
          <p:cNvSpPr/>
          <p:nvPr/>
        </p:nvSpPr>
        <p:spPr>
          <a:xfrm>
            <a:off x="4846320" y="1234440"/>
            <a:ext cx="457200" cy="457200"/>
          </a:xfrm>
          <a:prstGeom prst="ellipse">
            <a:avLst/>
          </a:prstGeom>
          <a:solidFill>
            <a:schemeClr val="accent1"/>
          </a:solidFill>
          <a:ln/>
        </p:spPr>
      </p:sp>
      <p:pic>
        <p:nvPicPr>
          <p:cNvPr id="10" name="icon-397" descr="Rocket icon">    </p:cNvPr>
          <p:cNvPicPr>
            <a:picLocks noChangeAspect="1"/>
          </p:cNvPicPr>
          <p:nvPr/>
        </p:nvPicPr>
        <p:blipFill>
          <a:blip r:embed="rId2"/>
          <a:stretch>
            <a:fillRect/>
          </a:stretch>
        </p:blipFill>
        <p:spPr>
          <a:xfrm>
            <a:off x="4960620" y="1348740"/>
            <a:ext cx="228600" cy="228600"/>
          </a:xfrm>
          <a:prstGeom prst="rect">
            <a:avLst/>
          </a:prstGeom>
        </p:spPr>
      </p:pic>
      <p:sp>
        <p:nvSpPr>
          <p:cNvPr id="11" name="text-398"/>
          <p:cNvSpPr txBox="1"/>
          <p:nvPr/>
        </p:nvSpPr>
        <p:spPr>
          <a:xfrm>
            <a:off x="5440680" y="1261872"/>
            <a:ext cx="3017520" cy="411480"/>
          </a:xfrm>
          <a:prstGeom prst="rect">
            <a:avLst/>
          </a:prstGeom>
          <a:noFill/>
          <a:ln/>
        </p:spPr>
        <p:txBody>
          <a:bodyPr wrap="square" lIns="0" tIns="0" rIns="0" bIns="0" rtlCol="0" anchor="ctr"/>
          <a:lstStyle/>
          <a:p>
            <a:pPr indent="0" marL="0">
              <a:buNone/>
            </a:pPr>
            <a:r>
              <a:rPr lang="en-US" sz="1600" b="1" dirty="0">
                <a:solidFill>
                  <a:schemeClr val="tx2"/>
                </a:solidFill>
              </a:rPr>
              <a:t>Next</a:t>
            </a:r>
            <a:endParaRPr lang="en-US" sz="1600" dirty="0"/>
          </a:p>
        </p:txBody>
      </p:sp>
      <p:sp>
        <p:nvSpPr>
          <p:cNvPr id="12" name="text-399"/>
          <p:cNvSpPr txBox="1"/>
          <p:nvPr/>
        </p:nvSpPr>
        <p:spPr>
          <a:xfrm>
            <a:off x="4892040" y="1828800"/>
            <a:ext cx="3611880" cy="205740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Asynchronous requests, so the guest and NPU overlap</a:t>
            </a:r>
            <a:endParaRPr lang="en-US" sz="1400" dirty="0"/>
          </a:p>
          <a:p>
            <a:pPr marL="203200" indent="-203200">
              <a:spcAft>
                <a:spcPts val="1000"/>
              </a:spcAft>
              <a:buSzPct val="100000"/>
              <a:buChar char="•"/>
            </a:pPr>
            <a:r>
              <a:rPr lang="en-US" sz="1400" dirty="0">
                <a:solidFill>
                  <a:schemeClr val="tx1"/>
                </a:solidFill>
              </a:rPr>
              <a:t>A Verilator RTL NPU behind the same protocol</a:t>
            </a:r>
            <a:endParaRPr lang="en-US" sz="1400" dirty="0"/>
          </a:p>
          <a:p>
            <a:pPr marL="203200" indent="-203200">
              <a:spcAft>
                <a:spcPts val="1000"/>
              </a:spcAft>
              <a:buSzPct val="100000"/>
              <a:buChar char="•"/>
            </a:pPr>
            <a:r>
              <a:rPr lang="en-US" sz="1400" dirty="0">
                <a:solidFill>
                  <a:schemeClr val="tx1"/>
                </a:solidFill>
              </a:rPr>
              <a:t>A faster kernel on Linux (-O3, vectorized)</a:t>
            </a:r>
            <a:endParaRPr lang="en-US" sz="1400" dirty="0"/>
          </a:p>
          <a:p>
            <a:pPr marL="203200" indent="-203200">
              <a:spcAft>
                <a:spcPts val="1000"/>
              </a:spcAft>
              <a:buSzPct val="100000"/>
              <a:buChar char="•"/>
            </a:pPr>
            <a:r>
              <a:rPr lang="en-US" sz="1400" dirty="0">
                <a:solidFill>
                  <a:schemeClr val="tx1"/>
                </a:solidFill>
              </a:rPr>
              <a:t>Shared memory or TCP for bigger or remote NPUs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Key takeaways</a:t>
            </a:r>
            <a:endParaRPr lang="en-US" sz="3000" dirty="0"/>
          </a:p>
        </p:txBody>
      </p:sp>
      <p:sp>
        <p:nvSpPr>
          <p:cNvPr id="3" name="card-400"/>
          <p:cNvSpPr/>
          <p:nvPr/>
        </p:nvSpPr>
        <p:spPr>
          <a:xfrm>
            <a:off x="457200" y="1097280"/>
            <a:ext cx="4023360" cy="1371600"/>
          </a:xfrm>
          <a:prstGeom prst="roundRect">
            <a:avLst>
              <a:gd name="adj" fmla="val 5333"/>
            </a:avLst>
          </a:prstGeom>
          <a:solidFill>
            <a:schemeClr val="accent2"/>
          </a:solidFill>
          <a:ln/>
        </p:spPr>
      </p:sp>
      <p:sp>
        <p:nvSpPr>
          <p:cNvPr id="4" name="text-401"/>
          <p:cNvSpPr txBox="1"/>
          <p:nvPr/>
        </p:nvSpPr>
        <p:spPr>
          <a:xfrm>
            <a:off x="685800" y="1280160"/>
            <a:ext cx="548640" cy="594360"/>
          </a:xfrm>
          <a:prstGeom prst="rect">
            <a:avLst/>
          </a:prstGeom>
          <a:noFill/>
          <a:ln/>
        </p:spPr>
        <p:txBody>
          <a:bodyPr wrap="square" lIns="0" tIns="0" rIns="0" bIns="0" rtlCol="0" anchor="t"/>
          <a:lstStyle/>
          <a:p>
            <a:pPr indent="0" marL="0">
              <a:buNone/>
            </a:pPr>
            <a:r>
              <a:rPr lang="en-US" sz="3200" b="1" dirty="0">
                <a:solidFill>
                  <a:schemeClr val="accent4"/>
                </a:solidFill>
              </a:rPr>
              <a:t>1</a:t>
            </a:r>
            <a:endParaRPr lang="en-US" sz="3200" dirty="0"/>
          </a:p>
        </p:txBody>
      </p:sp>
      <p:sp>
        <p:nvSpPr>
          <p:cNvPr id="5" name="text-402"/>
          <p:cNvSpPr txBox="1"/>
          <p:nvPr/>
        </p:nvSpPr>
        <p:spPr>
          <a:xfrm>
            <a:off x="1325880" y="1325880"/>
            <a:ext cx="2971800" cy="960120"/>
          </a:xfrm>
          <a:prstGeom prst="rect">
            <a:avLst/>
          </a:prstGeom>
          <a:noFill/>
          <a:ln/>
        </p:spPr>
        <p:txBody>
          <a:bodyPr wrap="square" lIns="0" tIns="0" rIns="0" bIns="0" rtlCol="0" anchor="t"/>
          <a:lstStyle/>
          <a:p>
            <a:pPr indent="0" marL="0">
              <a:buNone/>
            </a:pPr>
            <a:r>
              <a:rPr lang="en-US" sz="1500" dirty="0">
                <a:solidFill>
                  <a:schemeClr val="bg1"/>
                </a:solidFill>
              </a:rPr>
              <a:t>The NPU is its own process, connected to QEMU by a TCG plugin, with no QEMU patch.</a:t>
            </a:r>
            <a:endParaRPr lang="en-US" sz="1500" dirty="0"/>
          </a:p>
        </p:txBody>
      </p:sp>
      <p:sp>
        <p:nvSpPr>
          <p:cNvPr id="6" name="card-403"/>
          <p:cNvSpPr/>
          <p:nvPr/>
        </p:nvSpPr>
        <p:spPr>
          <a:xfrm>
            <a:off x="4663440" y="1097280"/>
            <a:ext cx="4023360" cy="1371600"/>
          </a:xfrm>
          <a:prstGeom prst="roundRect">
            <a:avLst>
              <a:gd name="adj" fmla="val 5333"/>
            </a:avLst>
          </a:prstGeom>
          <a:solidFill>
            <a:schemeClr val="accent2"/>
          </a:solidFill>
          <a:ln/>
        </p:spPr>
      </p:sp>
      <p:sp>
        <p:nvSpPr>
          <p:cNvPr id="7" name="text-404"/>
          <p:cNvSpPr txBox="1"/>
          <p:nvPr/>
        </p:nvSpPr>
        <p:spPr>
          <a:xfrm>
            <a:off x="4892040" y="1280160"/>
            <a:ext cx="548640" cy="594360"/>
          </a:xfrm>
          <a:prstGeom prst="rect">
            <a:avLst/>
          </a:prstGeom>
          <a:noFill/>
          <a:ln/>
        </p:spPr>
        <p:txBody>
          <a:bodyPr wrap="square" lIns="0" tIns="0" rIns="0" bIns="0" rtlCol="0" anchor="t"/>
          <a:lstStyle/>
          <a:p>
            <a:pPr indent="0" marL="0">
              <a:buNone/>
            </a:pPr>
            <a:r>
              <a:rPr lang="en-US" sz="3200" b="1" dirty="0">
                <a:solidFill>
                  <a:schemeClr val="accent4"/>
                </a:solidFill>
              </a:rPr>
              <a:t>2</a:t>
            </a:r>
            <a:endParaRPr lang="en-US" sz="3200" dirty="0"/>
          </a:p>
        </p:txBody>
      </p:sp>
      <p:sp>
        <p:nvSpPr>
          <p:cNvPr id="8" name="text-405"/>
          <p:cNvSpPr txBox="1"/>
          <p:nvPr/>
        </p:nvSpPr>
        <p:spPr>
          <a:xfrm>
            <a:off x="5532120" y="1325880"/>
            <a:ext cx="2971800" cy="960120"/>
          </a:xfrm>
          <a:prstGeom prst="rect">
            <a:avLst/>
          </a:prstGeom>
          <a:noFill/>
          <a:ln/>
        </p:spPr>
        <p:txBody>
          <a:bodyPr wrap="square" lIns="0" tIns="0" rIns="0" bIns="0" rtlCol="0" anchor="t"/>
          <a:lstStyle/>
          <a:p>
            <a:pPr indent="0" marL="0">
              <a:buNone/>
            </a:pPr>
            <a:r>
              <a:rPr lang="en-US" sz="1500" dirty="0">
                <a:solidFill>
                  <a:schemeClr val="bg1"/>
                </a:solidFill>
              </a:rPr>
              <a:t>The guest waits at the doorbell, so results are deterministic and exact to the bit.</a:t>
            </a:r>
            <a:endParaRPr lang="en-US" sz="1500" dirty="0"/>
          </a:p>
        </p:txBody>
      </p:sp>
      <p:sp>
        <p:nvSpPr>
          <p:cNvPr id="9" name="card-406"/>
          <p:cNvSpPr/>
          <p:nvPr/>
        </p:nvSpPr>
        <p:spPr>
          <a:xfrm>
            <a:off x="457200" y="2651760"/>
            <a:ext cx="4023360" cy="1371600"/>
          </a:xfrm>
          <a:prstGeom prst="roundRect">
            <a:avLst>
              <a:gd name="adj" fmla="val 5333"/>
            </a:avLst>
          </a:prstGeom>
          <a:solidFill>
            <a:schemeClr val="accent2"/>
          </a:solidFill>
          <a:ln/>
        </p:spPr>
      </p:sp>
      <p:sp>
        <p:nvSpPr>
          <p:cNvPr id="10" name="text-407"/>
          <p:cNvSpPr txBox="1"/>
          <p:nvPr/>
        </p:nvSpPr>
        <p:spPr>
          <a:xfrm>
            <a:off x="685800" y="2834640"/>
            <a:ext cx="548640" cy="594360"/>
          </a:xfrm>
          <a:prstGeom prst="rect">
            <a:avLst/>
          </a:prstGeom>
          <a:noFill/>
          <a:ln/>
        </p:spPr>
        <p:txBody>
          <a:bodyPr wrap="square" lIns="0" tIns="0" rIns="0" bIns="0" rtlCol="0" anchor="t"/>
          <a:lstStyle/>
          <a:p>
            <a:pPr indent="0" marL="0">
              <a:buNone/>
            </a:pPr>
            <a:r>
              <a:rPr lang="en-US" sz="3200" b="1" dirty="0">
                <a:solidFill>
                  <a:schemeClr val="accent4"/>
                </a:solidFill>
              </a:rPr>
              <a:t>3</a:t>
            </a:r>
            <a:endParaRPr lang="en-US" sz="3200" dirty="0"/>
          </a:p>
        </p:txBody>
      </p:sp>
      <p:sp>
        <p:nvSpPr>
          <p:cNvPr id="11" name="text-408"/>
          <p:cNvSpPr txBox="1"/>
          <p:nvPr/>
        </p:nvSpPr>
        <p:spPr>
          <a:xfrm>
            <a:off x="1325880" y="2880360"/>
            <a:ext cx="2971800" cy="960120"/>
          </a:xfrm>
          <a:prstGeom prst="rect">
            <a:avLst/>
          </a:prstGeom>
          <a:noFill/>
          <a:ln/>
        </p:spPr>
        <p:txBody>
          <a:bodyPr wrap="square" lIns="0" tIns="0" rIns="0" bIns="0" rtlCol="0" anchor="t"/>
          <a:lstStyle/>
          <a:p>
            <a:pPr indent="0" marL="0">
              <a:buNone/>
            </a:pPr>
            <a:r>
              <a:rPr lang="en-US" sz="1500" dirty="0">
                <a:solidFill>
                  <a:schemeClr val="bg1"/>
                </a:solidFill>
              </a:rPr>
              <a:t>I/O performance and GDB are unchanged; each daemon request adds 11–21 µs.</a:t>
            </a:r>
            <a:endParaRPr lang="en-US" sz="1500" dirty="0"/>
          </a:p>
        </p:txBody>
      </p:sp>
      <p:sp>
        <p:nvSpPr>
          <p:cNvPr id="12" name="card-409"/>
          <p:cNvSpPr/>
          <p:nvPr/>
        </p:nvSpPr>
        <p:spPr>
          <a:xfrm>
            <a:off x="4663440" y="2651760"/>
            <a:ext cx="4023360" cy="1371600"/>
          </a:xfrm>
          <a:prstGeom prst="roundRect">
            <a:avLst>
              <a:gd name="adj" fmla="val 5333"/>
            </a:avLst>
          </a:prstGeom>
          <a:solidFill>
            <a:schemeClr val="accent2"/>
          </a:solidFill>
          <a:ln/>
        </p:spPr>
      </p:sp>
      <p:sp>
        <p:nvSpPr>
          <p:cNvPr id="13" name="text-410"/>
          <p:cNvSpPr txBox="1"/>
          <p:nvPr/>
        </p:nvSpPr>
        <p:spPr>
          <a:xfrm>
            <a:off x="4892040" y="2834640"/>
            <a:ext cx="548640" cy="594360"/>
          </a:xfrm>
          <a:prstGeom prst="rect">
            <a:avLst/>
          </a:prstGeom>
          <a:noFill/>
          <a:ln/>
        </p:spPr>
        <p:txBody>
          <a:bodyPr wrap="square" lIns="0" tIns="0" rIns="0" bIns="0" rtlCol="0" anchor="t"/>
          <a:lstStyle/>
          <a:p>
            <a:pPr indent="0" marL="0">
              <a:buNone/>
            </a:pPr>
            <a:r>
              <a:rPr lang="en-US" sz="3200" b="1" dirty="0">
                <a:solidFill>
                  <a:schemeClr val="accent4"/>
                </a:solidFill>
              </a:rPr>
              <a:t>4</a:t>
            </a:r>
            <a:endParaRPr lang="en-US" sz="3200" dirty="0"/>
          </a:p>
        </p:txBody>
      </p:sp>
      <p:sp>
        <p:nvSpPr>
          <p:cNvPr id="14" name="text-411"/>
          <p:cNvSpPr txBox="1"/>
          <p:nvPr/>
        </p:nvSpPr>
        <p:spPr>
          <a:xfrm>
            <a:off x="5532120" y="2880360"/>
            <a:ext cx="2971800" cy="960120"/>
          </a:xfrm>
          <a:prstGeom prst="rect">
            <a:avLst/>
          </a:prstGeom>
          <a:noFill/>
          <a:ln/>
        </p:spPr>
        <p:txBody>
          <a:bodyPr wrap="square" lIns="0" tIns="0" rIns="0" bIns="0" rtlCol="0" anchor="t"/>
          <a:lstStyle/>
          <a:p>
            <a:pPr indent="0" marL="0">
              <a:buNone/>
            </a:pPr>
            <a:r>
              <a:rPr lang="en-US" sz="1500" dirty="0">
                <a:solidFill>
                  <a:schemeClr val="bg1"/>
                </a:solidFill>
              </a:rPr>
              <a:t>22 tests and two platforms back every claim in this deck.</a:t>
            </a:r>
            <a:endParaRPr lang="en-US" sz="1500" dirty="0"/>
          </a:p>
        </p:txBody>
      </p:sp>
      <p:sp>
        <p:nvSpPr>
          <p:cNvPr id="15" name="text-412"/>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200" dirty="0">
                <a:solidFill>
                  <a:schemeClr val="accent3"/>
                </a:solidFill>
              </a:rPr>
              <a:t>Read more: README.md · docs/MATMUL_DAEMON.md · docs/MATMUL_DEEP_DIVE.md</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Solder Mask">
  <a:themeElements>
    <a:clrScheme name="Solder Mask">
      <a:dk1>
        <a:srgbClr val="16231E"/>
      </a:dk1>
      <a:lt1>
        <a:srgbClr val="FFFFFF"/>
      </a:lt1>
      <a:dk2>
        <a:srgbClr val="0F3B2F"/>
      </a:dk2>
      <a:lt2>
        <a:srgbClr val="EDF3F0"/>
      </a:lt2>
      <a:accent1>
        <a:srgbClr val="C77A2E"/>
      </a:accent1>
      <a:accent2>
        <a:srgbClr val="1E7A5B"/>
      </a:accent2>
      <a:accent3>
        <a:srgbClr val="7FC3A9"/>
      </a:accent3>
      <a:accent4>
        <a:srgbClr val="E2B33C"/>
      </a:accent4>
      <a:accent5>
        <a:srgbClr val="5E7068"/>
      </a:accent5>
      <a:accent6>
        <a:srgbClr val="B2462E"/>
      </a:accent6>
      <a:hlink>
        <a:srgbClr val="1E7A5B"/>
      </a:hlink>
      <a:folHlink>
        <a:srgbClr val="5E7068"/>
      </a:folHlink>
    </a:clrScheme>
    <a:fontScheme name="Solder Mas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Ibex VP with a Daemon-Based NPU</dc:title>
  <dc:subject>How a QEMU TCG plugin connects an Ibex VP to an out-of-process NPU</dc:subject>
  <dc:creator>Rosh2403</dc:creator>
  <cp:lastModifiedBy>Rosh2403</cp:lastModifiedBy>
  <cp:revision>1</cp:revision>
  <dcterms:created xsi:type="dcterms:W3CDTF">2026-10-28T23:51:32Z</dcterms:created>
  <dcterms:modified xsi:type="dcterms:W3CDTF">2026-10-28T23:51:32Z</dcterms:modified>
</cp:coreProperties>
</file>